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6858000" cy="6858000"/>
  <p:notesSz cx="6858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4980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結局、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5943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どれ</a:t>
            </a:r>
            <a:endParaRPr lang="en-US" sz="7600" dirty="0"/>
          </a:p>
        </p:txBody>
      </p:sp>
      <p:sp>
        <p:nvSpPr>
          <p:cNvPr id="4" name="Text 2"/>
          <p:cNvSpPr/>
          <p:nvPr/>
        </p:nvSpPr>
        <p:spPr>
          <a:xfrm>
            <a:off x="457200" y="2395728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を買えばいい？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1417320" y="3246120"/>
            <a:ext cx="4023360" cy="4937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3246120"/>
            <a:ext cx="4023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1417320" y="3822192"/>
            <a:ext cx="4023360" cy="493776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3822192"/>
            <a:ext cx="4023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S&amp;P500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417320" y="4398264"/>
            <a:ext cx="4023360" cy="4937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4398264"/>
            <a:ext cx="4023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NASDAQ100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1417320" y="4974336"/>
            <a:ext cx="4023360" cy="4937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1417320" y="4974336"/>
            <a:ext cx="4023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FANG+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417320" y="5550408"/>
            <a:ext cx="4023360" cy="49377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1417320" y="5550408"/>
            <a:ext cx="4023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57200" y="61722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未来を </a:t>
            </a:r>
            <a:pPr algn="ctr" indent="0" marL="0">
              <a:buNone/>
            </a:pPr>
            <a:r>
              <a:rPr lang="en-US" sz="30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15万回</a:t>
            </a:r>
            <a:pPr algn="ctr" indent="0" marL="0">
              <a:buNone/>
            </a:pPr>
            <a:r>
              <a:rPr lang="en-US" sz="2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 計算しました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悪い未来では </a:t>
            </a:r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D7263D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460万円の差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2408834"/>
            <a:ext cx="2011680" cy="280324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84190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1,082万円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143000" y="5349240"/>
            <a:ext cx="1554480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53492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931920" y="3605784"/>
            <a:ext cx="2011680" cy="160629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3611880" y="30388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620万円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160520" y="5349240"/>
            <a:ext cx="1554480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4160520" y="53492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FANG+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同じ20年・毎月5万円でも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下位10%地点 ※当チャンネル試算（15万回）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知らないと、こうなる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731520" cy="73152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×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169164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「一番増えた」で選んで大損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457200" y="2990088"/>
            <a:ext cx="5943600" cy="0"/>
          </a:xfrm>
          <a:prstGeom prst="line">
            <a:avLst/>
          </a:prstGeom>
          <a:noFill/>
          <a:ln w="12700">
            <a:solidFill>
              <a:srgbClr val="C9D4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337560"/>
            <a:ext cx="731520" cy="73152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337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×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554480" y="31089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全部買い＝同じ会社の重ね買い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457200" y="4407408"/>
            <a:ext cx="5943600" cy="0"/>
          </a:xfrm>
          <a:prstGeom prst="line">
            <a:avLst/>
          </a:prstGeom>
          <a:noFill/>
          <a:ln w="12700">
            <a:solidFill>
              <a:srgbClr val="C9D4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4754880"/>
            <a:ext cx="731520" cy="73152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754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×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554480" y="452628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暴落の日、底値で売る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この動画を見終わると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731520" cy="731520"/>
          </a:xfrm>
          <a:prstGeom prst="ellipse">
            <a:avLst/>
          </a:prstGeom>
          <a:solidFill>
            <a:srgbClr val="0E7A4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○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160020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5本の中身が全部わかる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731520" cy="731520"/>
          </a:xfrm>
          <a:prstGeom prst="ellipse">
            <a:avLst/>
          </a:prstGeom>
          <a:solidFill>
            <a:srgbClr val="0E7A4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017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○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54480" y="28346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自分の比率を数字で決められる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48640" y="4251960"/>
            <a:ext cx="731520" cy="731520"/>
          </a:xfrm>
          <a:prstGeom prst="ellipse">
            <a:avLst/>
          </a:prstGeom>
          <a:solidFill>
            <a:srgbClr val="0E7A4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○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554480" y="406908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暴落の日に売らずにいられる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57200" y="55778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7325A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迷いは今日で終わり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選び方の「思想」が違う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554480"/>
            <a:ext cx="1828800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514600" y="155448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世界を丸ごと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1828800" cy="56692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514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S&amp;P500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14600" y="251460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米国の選抜500社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1828800" cy="5669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47472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NASDAQ100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514600" y="347472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成長テック100社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" y="4434840"/>
            <a:ext cx="1828800" cy="56692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434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FANG+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14600" y="443484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巨大テック10社に集中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57200" y="5394960"/>
            <a:ext cx="1828800" cy="5669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53949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日本株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514600" y="539496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日本を幅広く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2331720" y="384048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中身は？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737360"/>
            <a:ext cx="3291840" cy="3291840"/>
          </a:xfrm>
          <a:prstGeom prst="pie">
            <a:avLst>
              <a:gd name="adj1" fmla="val 16200000"/>
              <a:gd name="adj2" fmla="val 8340000"/>
            </a:avLst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737360"/>
            <a:ext cx="3291840" cy="3291840"/>
          </a:xfrm>
          <a:prstGeom prst="pie">
            <a:avLst>
              <a:gd name="adj1" fmla="val 8340000"/>
              <a:gd name="adj2" fmla="val 16200000"/>
            </a:avLst>
          </a:prstGeom>
          <a:solidFill>
            <a:srgbClr val="D8E2F2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9748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米国
</a:t>
            </a:r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63.6%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16052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その他の国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36.4%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" y="53492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7325A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実は6割アメリカ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457200" y="6089904"/>
            <a:ext cx="5943600" cy="38404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608990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MSCI「ACWI Index Factsheet」2026年6月末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2331720" y="384048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10年前に買っていたら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年率 約12.8%（配当込み・ドル）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100万円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10800000">
            <a:off x="3154680" y="3310128"/>
            <a:ext cx="548640" cy="457200"/>
          </a:xfrm>
          <a:prstGeom prst="triangle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388620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333万円</a:t>
            </a:r>
            <a:endParaRPr lang="en-US" sz="66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公表年率からの単純換算。前提は指数ごとに異なる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2331720" y="384048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上位はこの顔ぶれ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536192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361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NVIDIA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572000" y="1463040"/>
            <a:ext cx="1828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4.6%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2340864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408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34440" y="2267712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Apple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0" y="2267712"/>
            <a:ext cx="1828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4.2%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57200" y="3145536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1455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3072384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Microsoft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572000" y="3072384"/>
            <a:ext cx="1828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2.6%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57200" y="3950208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950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34440" y="3877056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Amazon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572000" y="3877056"/>
            <a:ext cx="1828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2.3%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457200" y="4754880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754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234440" y="4681728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Alphabet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572000" y="4681728"/>
            <a:ext cx="1828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2.1%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7200" y="562356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上位10社で </a:t>
            </a:r>
            <a:pPr algn="ctr" indent="0" marL="0">
              <a:buNone/>
            </a:pPr>
            <a:r>
              <a:rPr lang="en-US" sz="26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23.3%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2026年6月末時点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S&amp;P500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2331720" y="384048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入るのに審査がある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658368" cy="658368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60934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371600" y="15544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米国企業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2596896"/>
            <a:ext cx="658368" cy="658368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5968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371600" y="2542032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時価総額 約200億ドル以上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7200" y="3584448"/>
            <a:ext cx="658368" cy="658368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5844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71600" y="3529584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浮動株が十分ある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57200" y="4572000"/>
            <a:ext cx="658368" cy="658368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5720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371600" y="4517136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黒字であること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7200" y="56235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25A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赤字では入れない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200" y="6089904"/>
            <a:ext cx="5943600" cy="38404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08990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S&amp;P ダウ・ジョーンズ・インデックス 指数メソドロジー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S&amp;P500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2331720" y="384048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10年前に買っていたら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年率 約13.6%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100万円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10800000">
            <a:off x="3154680" y="3310128"/>
            <a:ext cx="548640" cy="457200"/>
          </a:xfrm>
          <a:prstGeom prst="triangle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388620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E67E2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358万円</a:t>
            </a:r>
            <a:endParaRPr lang="en-US" sz="6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上位は</a:t>
            </a:r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7325A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同じ顔ぶれ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2286000" cy="5029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40480" y="1463040"/>
            <a:ext cx="2286000" cy="5029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1463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S&amp;P500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2286000" cy="56692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488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NVIDIA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840480" y="2148840"/>
            <a:ext cx="2286000" cy="56692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10" name="Text 8"/>
          <p:cNvSpPr/>
          <p:nvPr/>
        </p:nvSpPr>
        <p:spPr>
          <a:xfrm>
            <a:off x="3840480" y="21488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NVIDIA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17520" y="214884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1520" y="2862072"/>
            <a:ext cx="2286000" cy="56692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86207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Apple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3840480" y="2862072"/>
            <a:ext cx="2286000" cy="56692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15" name="Text 13"/>
          <p:cNvSpPr/>
          <p:nvPr/>
        </p:nvSpPr>
        <p:spPr>
          <a:xfrm>
            <a:off x="3840480" y="286207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Apple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017520" y="28620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＝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31520" y="3575304"/>
            <a:ext cx="2286000" cy="56692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7530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Microsoft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3840480" y="3575304"/>
            <a:ext cx="2286000" cy="56692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20" name="Text 18"/>
          <p:cNvSpPr/>
          <p:nvPr/>
        </p:nvSpPr>
        <p:spPr>
          <a:xfrm>
            <a:off x="3840480" y="357530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Microsoft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017520" y="357530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＝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1520" y="4288536"/>
            <a:ext cx="2286000" cy="56692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28853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Amazon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3840480" y="4288536"/>
            <a:ext cx="2286000" cy="56692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25" name="Text 23"/>
          <p:cNvSpPr/>
          <p:nvPr/>
        </p:nvSpPr>
        <p:spPr>
          <a:xfrm>
            <a:off x="3840480" y="428853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Amazon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3017520" y="428853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＝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731520" y="5001768"/>
            <a:ext cx="2286000" cy="56692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00176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Alphabet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3840480" y="5001768"/>
            <a:ext cx="2286000" cy="56692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30" name="Text 28"/>
          <p:cNvSpPr/>
          <p:nvPr/>
        </p:nvSpPr>
        <p:spPr>
          <a:xfrm>
            <a:off x="3840480" y="500176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Alphabet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3017520" y="500176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＝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57200" y="58978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中身は、かなり重なっている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NASDAQ100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2331720" y="384048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金融ぬきの成長特化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1645920"/>
            <a:ext cx="3291840" cy="3291840"/>
          </a:xfrm>
          <a:prstGeom prst="pie">
            <a:avLst>
              <a:gd name="adj1" fmla="val 16200000"/>
              <a:gd name="adj2" fmla="val 9420000"/>
            </a:avLst>
          </a:prstGeom>
          <a:solidFill>
            <a:srgbClr val="7C3AED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645920"/>
            <a:ext cx="3291840" cy="3291840"/>
          </a:xfrm>
          <a:prstGeom prst="pie">
            <a:avLst>
              <a:gd name="adj1" fmla="val 9420000"/>
              <a:gd name="adj2" fmla="val 16200000"/>
            </a:avLst>
          </a:prstGeom>
          <a:solidFill>
            <a:srgbClr val="E4DBF7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テック
</a:t>
            </a:r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68.5%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251960" y="23774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半導体・AI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クラウドの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「濃縮版」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52578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銀行・保険は </a:t>
            </a:r>
            <a:pPr algn="ctr" indent="0" marL="0">
              <a:buNone/>
            </a:pPr>
            <a:r>
              <a:rPr lang="en-US" sz="28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0社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457200" y="6089904"/>
            <a:ext cx="5943600" cy="38404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608990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Nasdaq「Nasdaq-100 Factsheet」2026年6月末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NASDAQ100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2331720" y="384048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10年前に買っていたら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年率 約21.2%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100万円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10800000">
            <a:off x="3154680" y="3310128"/>
            <a:ext cx="548640" cy="457200"/>
          </a:xfrm>
          <a:prstGeom prst="triangle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388620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7C3AE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684万円</a:t>
            </a:r>
            <a:endParaRPr lang="en-US" sz="6600" dirty="0"/>
          </a:p>
        </p:txBody>
      </p:sp>
      <p:sp>
        <p:nvSpPr>
          <p:cNvPr id="9" name="Text 7"/>
          <p:cNvSpPr/>
          <p:nvPr/>
        </p:nvSpPr>
        <p:spPr>
          <a:xfrm>
            <a:off x="457200" y="52578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ただし2022年は −33%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7325A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黒字になる前から</a:t>
            </a:r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持てる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Amazon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914400" y="2423160"/>
            <a:ext cx="5029200" cy="0"/>
          </a:xfrm>
          <a:prstGeom prst="line">
            <a:avLst/>
          </a:prstGeom>
          <a:noFill/>
          <a:ln w="38100">
            <a:solidFill>
              <a:srgbClr val="C9D4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2295144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C3AE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NASDAQ100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C3AE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1998年（赤字）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92624" y="2295144"/>
            <a:ext cx="256032" cy="25603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8" name="Text 6"/>
          <p:cNvSpPr/>
          <p:nvPr/>
        </p:nvSpPr>
        <p:spPr>
          <a:xfrm>
            <a:off x="4160520" y="26334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67E2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S&amp;P500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67E2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2005年（黒字後）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Tesla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914400" y="4389120"/>
            <a:ext cx="5029200" cy="0"/>
          </a:xfrm>
          <a:prstGeom prst="line">
            <a:avLst/>
          </a:prstGeom>
          <a:noFill/>
          <a:ln w="38100">
            <a:solidFill>
              <a:srgbClr val="C9D4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9424" y="4261104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1417320" y="388620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C3AE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NASDAQ100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C3AE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2013年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92624" y="4261104"/>
            <a:ext cx="256032" cy="25603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4" name="Text 12"/>
          <p:cNvSpPr/>
          <p:nvPr/>
        </p:nvSpPr>
        <p:spPr>
          <a:xfrm>
            <a:off x="4160520" y="45994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67E2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S&amp;P500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67E2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2020年（黒字後）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" y="54864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その間に株価は </a:t>
            </a:r>
            <a:pPr algn="ctr" indent="0" marL="0">
              <a:buNone/>
            </a:pPr>
            <a:r>
              <a:rPr lang="en-US" sz="30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数十倍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採用年は収録前に一次情報で確認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全部買い＝</a:t>
            </a:r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D7263D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重ね買い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645920"/>
            <a:ext cx="1691640" cy="6400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6459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527048" y="2286000"/>
            <a:ext cx="3044952" cy="91440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60320" y="1645920"/>
            <a:ext cx="1691640" cy="64008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6459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S&amp;P500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401568" y="2286000"/>
            <a:ext cx="1170432" cy="91440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434840" y="1645920"/>
            <a:ext cx="1691640" cy="640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4434840" y="16459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NASDAQ100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276088" y="2286000"/>
            <a:ext cx="-704088" cy="91440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508760" y="3383280"/>
            <a:ext cx="3840480" cy="1554480"/>
          </a:xfrm>
          <a:prstGeom prst="rect">
            <a:avLst/>
          </a:prstGeom>
          <a:solidFill>
            <a:srgbClr val="F1F5FB"/>
          </a:solidFill>
          <a:ln w="31750">
            <a:solidFill>
              <a:srgbClr val="D72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338328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NVIDIA・Apple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Microsoft・Amazon…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53492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行き先は、同じ会社</a:t>
            </a:r>
            <a:endParaRPr lang="en-US" sz="2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FANG+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2331720" y="384048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たった10社に集中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2697480" cy="6949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508760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Meta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74720" y="1508760"/>
            <a:ext cx="2697480" cy="6949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508760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Apple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2350008"/>
            <a:ext cx="2697480" cy="6949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350008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Amazon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74720" y="2350008"/>
            <a:ext cx="2697480" cy="6949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2350008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Netflix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94360" y="3191256"/>
            <a:ext cx="2697480" cy="6949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191256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Microsoft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474720" y="3191256"/>
            <a:ext cx="2697480" cy="6949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3474720" y="3191256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Alphabet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94360" y="4032504"/>
            <a:ext cx="2697480" cy="694944"/>
          </a:xfrm>
          <a:prstGeom prst="rect">
            <a:avLst/>
          </a:prstGeom>
          <a:solidFill>
            <a:srgbClr val="F5A6B0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032504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22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Micron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474720" y="4032504"/>
            <a:ext cx="2697480" cy="694944"/>
          </a:xfrm>
          <a:prstGeom prst="rect">
            <a:avLst/>
          </a:prstGeom>
          <a:solidFill>
            <a:srgbClr val="F5A6B0"/>
          </a:solidFill>
          <a:ln/>
        </p:spPr>
      </p:sp>
      <p:sp>
        <p:nvSpPr>
          <p:cNvPr id="20" name="Text 18"/>
          <p:cNvSpPr/>
          <p:nvPr/>
        </p:nvSpPr>
        <p:spPr>
          <a:xfrm>
            <a:off x="3474720" y="4032504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22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NVIDIA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94360" y="4873752"/>
            <a:ext cx="2697480" cy="694944"/>
          </a:xfrm>
          <a:prstGeom prst="rect">
            <a:avLst/>
          </a:prstGeom>
          <a:solidFill>
            <a:srgbClr val="F5A6B0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4873752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22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Palantir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474720" y="4873752"/>
            <a:ext cx="2697480" cy="694944"/>
          </a:xfrm>
          <a:prstGeom prst="rect">
            <a:avLst/>
          </a:prstGeom>
          <a:solidFill>
            <a:srgbClr val="F5A6B0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0" y="4873752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22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Broadcom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57200" y="58064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各10%ずつ　</a:t>
            </a:r>
            <a:pPr algn="ctr" indent="0" marL="0">
              <a:buNone/>
            </a:pPr>
            <a:r>
              <a:rPr lang="en-US" sz="17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濃い6社＋入替4社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57200" y="6263640"/>
            <a:ext cx="5943600" cy="38404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626364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ICE「NYSE FANG+ Index」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FANG+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2331720" y="384048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10年当てはめると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年率 約27.4%（2014年〜）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100万円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10800000">
            <a:off x="3154680" y="3310128"/>
            <a:ext cx="548640" cy="457200"/>
          </a:xfrm>
          <a:prstGeom prst="triangle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388620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C262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1,126万円</a:t>
            </a:r>
            <a:endParaRPr lang="en-US" sz="6600" dirty="0"/>
          </a:p>
        </p:txBody>
      </p:sp>
      <p:sp>
        <p:nvSpPr>
          <p:cNvPr id="9" name="Shape 7"/>
          <p:cNvSpPr/>
          <p:nvPr/>
        </p:nvSpPr>
        <p:spPr>
          <a:xfrm>
            <a:off x="685800" y="5120640"/>
            <a:ext cx="5486400" cy="914400"/>
          </a:xfrm>
          <a:prstGeom prst="rect">
            <a:avLst/>
          </a:prstGeom>
          <a:solidFill>
            <a:srgbClr val="FBE9EC"/>
          </a:solidFill>
          <a:ln w="25400">
            <a:solidFill>
              <a:srgbClr val="D72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1206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注意　</a:t>
            </a:r>
            <a:pPr indent="0" marL="0">
              <a:buNone/>
            </a:pPr>
            <a:r>
              <a:rPr lang="en-US" sz="18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2017年以前は「後づけ」の数字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ところが今年は</a:t>
            </a:r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D7263D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最下位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655064"/>
            <a:ext cx="1645920" cy="47548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55064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NASDAQ100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1655064"/>
            <a:ext cx="3017520" cy="47548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5413248" y="161848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+20.3%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523744"/>
            <a:ext cx="1645920" cy="47548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23744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日本株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86000" y="2523744"/>
            <a:ext cx="2764821" cy="47548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5160549" y="248716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+18.6%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7200" y="3392424"/>
            <a:ext cx="1645920" cy="47548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392424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S&amp;P500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286000" y="3392424"/>
            <a:ext cx="2259424" cy="47548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4" name="Text 12"/>
          <p:cNvSpPr/>
          <p:nvPr/>
        </p:nvSpPr>
        <p:spPr>
          <a:xfrm>
            <a:off x="4655152" y="335584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+15.2%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57200" y="4261104"/>
            <a:ext cx="1645920" cy="47548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261104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286000" y="4261104"/>
            <a:ext cx="1679703" cy="47548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4075431" y="422452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+11.3%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57200" y="5129784"/>
            <a:ext cx="1645920" cy="47548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5129784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FANG+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286000" y="5129784"/>
            <a:ext cx="356751" cy="47548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2752479" y="509320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+2.4%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2026年上半期の騰落率（6月末時点）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【クイズ】10年でより増えたのは？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94360" y="1828800"/>
            <a:ext cx="2697480" cy="2743200"/>
          </a:xfrm>
          <a:prstGeom prst="rect">
            <a:avLst/>
          </a:prstGeom>
          <a:solidFill>
            <a:srgbClr val="F1F5FB"/>
          </a:solidFill>
          <a:ln w="38100">
            <a:solidFill>
              <a:srgbClr val="E67E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210312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67E2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94360" y="32004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S&amp;P500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3566160" y="1828800"/>
            <a:ext cx="2697480" cy="2743200"/>
          </a:xfrm>
          <a:prstGeom prst="rect">
            <a:avLst/>
          </a:prstGeom>
          <a:solidFill>
            <a:srgbClr val="F1F5FB"/>
          </a:solidFill>
          <a:ln w="381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66160" y="210312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596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B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566160" y="32004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日本株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51206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え、そんなの決まってる…？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正解は </a:t>
            </a:r>
            <a:pPr algn="l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0E7A46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日本株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100万円が…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1005840" y="2286000"/>
            <a:ext cx="1828800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86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017520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7A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405万円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1005840" y="3566160"/>
            <a:ext cx="1828800" cy="54864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66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S&amp;P500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017520" y="3474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358万円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49377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「日本株は増えない」は10年前の話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5852160"/>
            <a:ext cx="5943600" cy="38404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585216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JPX「TOPIX Factsheet」配当込み・円 2026年6月末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日本株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2331720" y="384048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2026年10月から変わる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577840" cy="1143000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37360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いま：上場していれば入る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 rot="10800000">
            <a:off x="3154680" y="3063240"/>
            <a:ext cx="548640" cy="457200"/>
          </a:xfrm>
          <a:prstGeom prst="triangle">
            <a:avLst/>
          </a:prstGeom>
          <a:solidFill>
            <a:srgbClr val="17325A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3703320"/>
            <a:ext cx="5577840" cy="1325880"/>
          </a:xfrm>
          <a:prstGeom prst="rect">
            <a:avLst/>
          </a:prstGeom>
          <a:solidFill>
            <a:srgbClr val="E7F5EE"/>
          </a:solidFill>
          <a:ln w="31750">
            <a:solidFill>
              <a:srgbClr val="0E7A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70332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A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これから：</a:t>
            </a:r>
            <a:pPr indent="0" marL="0">
              <a:buNone/>
            </a:pPr>
            <a:r>
              <a:rPr lang="en-US" sz="23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選ばれた企業だけ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53492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売買の少ない企業は段階的に除外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5989320"/>
            <a:ext cx="5943600" cy="38404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598932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JPX「次世代TOPIXへの移行について」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100円を10年入れたら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600200"/>
            <a:ext cx="1645920" cy="502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002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FANG+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1600200"/>
            <a:ext cx="3017520" cy="502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21214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1,126円</a:t>
            </a:r>
            <a:pPr indent="0" marL="0">
              <a:buNone/>
            </a:pPr>
            <a:r>
              <a:rPr lang="en-US" sz="11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 ※後づけ込み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496312"/>
            <a:ext cx="164592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49631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NASDAQ100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86000" y="2496312"/>
            <a:ext cx="1833023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2286000" y="3017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684円</a:t>
            </a:r>
            <a:pPr indent="0" marL="0">
              <a:buNone/>
            </a:pP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7200" y="3392424"/>
            <a:ext cx="164592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39242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286000" y="3392424"/>
            <a:ext cx="1085342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2286000" y="39136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405円</a:t>
            </a:r>
            <a:pPr indent="0" marL="0">
              <a:buNone/>
            </a:pP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57200" y="4288536"/>
            <a:ext cx="1645920" cy="5029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288536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S&amp;P500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286000" y="4288536"/>
            <a:ext cx="959389" cy="5029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8" name="Text 16"/>
          <p:cNvSpPr/>
          <p:nvPr/>
        </p:nvSpPr>
        <p:spPr>
          <a:xfrm>
            <a:off x="2286000" y="48097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358円</a:t>
            </a:r>
            <a:pPr indent="0" marL="0">
              <a:buNone/>
            </a:pP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57200" y="5184648"/>
            <a:ext cx="1645920" cy="5029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51846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286000" y="5184648"/>
            <a:ext cx="892393" cy="5029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2286000" y="570585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333円</a:t>
            </a:r>
            <a:pPr indent="0" marL="0">
              <a:buNone/>
            </a:pP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各指数の公表年率から単純換算。通貨・配当の前提は指数ごとに異なる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プロの10年予測は「逆」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J.P.モルガン 超長期市場予測 2026（円ベース）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039112"/>
            <a:ext cx="1645920" cy="5669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03911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日本株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286000" y="2039112"/>
            <a:ext cx="3108960" cy="5669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7" name="Text 5"/>
          <p:cNvSpPr/>
          <p:nvPr/>
        </p:nvSpPr>
        <p:spPr>
          <a:xfrm>
            <a:off x="5504688" y="1965960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7A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7.0%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457200" y="3090672"/>
            <a:ext cx="1645920" cy="56692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09067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全世界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286000" y="3090672"/>
            <a:ext cx="2309513" cy="56692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1" name="Text 9"/>
          <p:cNvSpPr/>
          <p:nvPr/>
        </p:nvSpPr>
        <p:spPr>
          <a:xfrm>
            <a:off x="4705241" y="3017520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5.2%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457200" y="4142232"/>
            <a:ext cx="1645920" cy="566928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4223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米国大型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286000" y="4142232"/>
            <a:ext cx="2176272" cy="566928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4069080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4.9%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457200" y="52578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25A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日本株が1位。米国は最下位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57200" y="5989320"/>
            <a:ext cx="5943600" cy="384048"/>
          </a:xfrm>
          <a:prstGeom prst="rect">
            <a:avLst/>
          </a:prstGeom>
          <a:solidFill>
            <a:srgbClr val="F1F5FB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598932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J.P.モルガン・アセット・マネジメント LTCMA 2026 日本円版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未来を15万回つくる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たとえるなら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7325A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天気予報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明日の空を何千回も再現して</a:t>
            </a:r>
            <a:endParaRPr lang="en-US" sz="20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雨の回数を数える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これの「資産運用版」をやります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毎月5万円×20年（元本1,200万円）・15万回 ※当チャンネル試算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20年後の「幅」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29844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悪い未来 ←→ 良い未来（●は真ん中）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892808"/>
            <a:ext cx="1645920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928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79133" y="1984248"/>
            <a:ext cx="2346306" cy="274320"/>
          </a:xfrm>
          <a:prstGeom prst="roundRect">
            <a:avLst>
              <a:gd name="adj" fmla="val 50000"/>
            </a:avLst>
          </a:prstGeom>
          <a:solidFill>
            <a:srgbClr val="2563EB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591073" y="2011680"/>
            <a:ext cx="219456" cy="21945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2293333" y="19659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1082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71159" y="196596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4395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34056"/>
            <a:ext cx="1645920" cy="4572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734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S&amp;P500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49388" y="2825496"/>
            <a:ext cx="2308770" cy="274320"/>
          </a:xfrm>
          <a:prstGeom prst="roundRect">
            <a:avLst>
              <a:gd name="adj" fmla="val 50000"/>
            </a:avLst>
          </a:prstGeom>
          <a:solidFill>
            <a:srgbClr val="E67E22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540790" y="2852928"/>
            <a:ext cx="219456" cy="219456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4" name="Text 12"/>
          <p:cNvSpPr/>
          <p:nvPr/>
        </p:nvSpPr>
        <p:spPr>
          <a:xfrm>
            <a:off x="2263588" y="28072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1040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879" y="280720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4300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575304"/>
            <a:ext cx="1645920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575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NASDAQ100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836074" y="3666744"/>
            <a:ext cx="2606219" cy="274320"/>
          </a:xfrm>
          <a:prstGeom prst="roundRect">
            <a:avLst>
              <a:gd name="adj" fmla="val 50000"/>
            </a:avLst>
          </a:prstGeom>
          <a:solidFill>
            <a:srgbClr val="7C3AED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448722" y="3694176"/>
            <a:ext cx="219456" cy="21945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2150274" y="36484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880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8014" y="364845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4560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416552"/>
            <a:ext cx="1645920" cy="4572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4165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日本株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176016" y="4507992"/>
            <a:ext cx="2620384" cy="274320"/>
          </a:xfrm>
          <a:prstGeom prst="roundRect">
            <a:avLst>
              <a:gd name="adj" fmla="val 50000"/>
            </a:avLst>
          </a:prstGeom>
          <a:solidFill>
            <a:srgbClr val="059669">
              <a:alpha val="4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909060" y="4535424"/>
            <a:ext cx="219456" cy="219456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6" name="Text 24"/>
          <p:cNvSpPr/>
          <p:nvPr/>
        </p:nvSpPr>
        <p:spPr>
          <a:xfrm>
            <a:off x="2490216" y="448970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1360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842120" y="4489704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5060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257800"/>
            <a:ext cx="1645920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5257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FANG+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651939" y="5349240"/>
            <a:ext cx="3073639" cy="274320"/>
          </a:xfrm>
          <a:prstGeom prst="roundRect">
            <a:avLst>
              <a:gd name="adj" fmla="val 50000"/>
            </a:avLst>
          </a:prstGeom>
          <a:solidFill>
            <a:srgbClr val="DC2626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236259" y="5376672"/>
            <a:ext cx="219456" cy="219456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1966139" y="533095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620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71298" y="533095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4960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05332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325A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集中するほど、幅が広がる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52881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単位：万円 ※当チャンネル試算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FANG+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2331720" y="384048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夢と、現実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94360" y="1645920"/>
            <a:ext cx="2697480" cy="3017520"/>
          </a:xfrm>
          <a:prstGeom prst="rect">
            <a:avLst/>
          </a:prstGeom>
          <a:solidFill>
            <a:srgbClr val="E7F5EE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9202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7A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良い未来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26060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7A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約5,000万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66160" y="1645920"/>
            <a:ext cx="2697480" cy="3017520"/>
          </a:xfrm>
          <a:prstGeom prst="rect">
            <a:avLst/>
          </a:prstGeom>
          <a:solidFill>
            <a:srgbClr val="FBE9EC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9202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悪い未来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3566160" y="26060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620万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56616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元本割れ 約28%→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07492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元本1,200万円が </a:t>
            </a:r>
            <a:pPr algn="ctr" indent="0" marL="0">
              <a:buNone/>
            </a:pPr>
            <a:r>
              <a:rPr lang="en-US" sz="2800" b="1" dirty="0">
                <a:solidFill>
                  <a:srgbClr val="D7263D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半分</a:t>
            </a:r>
            <a:pPr algn="ctr" indent="0" marL="0">
              <a:buNone/>
            </a:pPr>
            <a:r>
              <a:rPr lang="en-US" sz="2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 になる未来も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※当チャンネル試算。元本割れ確率はFANG+単独で約22〜28%（前提により変動）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混ぜても、</a:t>
            </a:r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D7263D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増えなかった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真ん中の未来（中央値）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965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オルカン100%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514600" y="1965960"/>
            <a:ext cx="3840480" cy="502920"/>
          </a:xfrm>
          <a:prstGeom prst="rect">
            <a:avLst/>
          </a:prstGeom>
          <a:solidFill>
            <a:srgbClr val="0E7A46"/>
          </a:solidFill>
          <a:ln/>
        </p:spPr>
      </p:sp>
      <p:sp>
        <p:nvSpPr>
          <p:cNvPr id="6" name="Text 4"/>
          <p:cNvSpPr/>
          <p:nvPr/>
        </p:nvSpPr>
        <p:spPr>
          <a:xfrm>
            <a:off x="2606040" y="196596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2,101万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90:10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514600" y="2926080"/>
            <a:ext cx="3747444" cy="502920"/>
          </a:xfrm>
          <a:prstGeom prst="rect">
            <a:avLst/>
          </a:prstGeom>
          <a:solidFill>
            <a:srgbClr val="17325A"/>
          </a:solidFill>
          <a:ln/>
        </p:spPr>
      </p:sp>
      <p:sp>
        <p:nvSpPr>
          <p:cNvPr id="9" name="Text 7"/>
          <p:cNvSpPr/>
          <p:nvPr/>
        </p:nvSpPr>
        <p:spPr>
          <a:xfrm>
            <a:off x="2606040" y="2926080"/>
            <a:ext cx="3610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2,089万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80:20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514600" y="3886200"/>
            <a:ext cx="3638902" cy="502920"/>
          </a:xfrm>
          <a:prstGeom prst="rect">
            <a:avLst/>
          </a:prstGeom>
          <a:solidFill>
            <a:srgbClr val="17325A"/>
          </a:solidFill>
          <a:ln/>
        </p:spPr>
      </p:sp>
      <p:sp>
        <p:nvSpPr>
          <p:cNvPr id="12" name="Text 10"/>
          <p:cNvSpPr/>
          <p:nvPr/>
        </p:nvSpPr>
        <p:spPr>
          <a:xfrm>
            <a:off x="2606040" y="3886200"/>
            <a:ext cx="3501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2,075万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NASDAQ100だけ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4600" y="4846320"/>
            <a:ext cx="2282123" cy="502920"/>
          </a:xfrm>
          <a:prstGeom prst="rect">
            <a:avLst/>
          </a:prstGeom>
          <a:solidFill>
            <a:srgbClr val="D7263D"/>
          </a:solidFill>
          <a:ln/>
        </p:spPr>
      </p:sp>
      <p:sp>
        <p:nvSpPr>
          <p:cNvPr id="15" name="Text 13"/>
          <p:cNvSpPr/>
          <p:nvPr/>
        </p:nvSpPr>
        <p:spPr>
          <a:xfrm>
            <a:off x="2606040" y="4846320"/>
            <a:ext cx="21449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1,900万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" y="58978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A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1位はオルカン100%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年1回リバランス・15万回 ※当チャンネル試算（軸は1,700万〜）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結論：あなたはどれ？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554480"/>
            <a:ext cx="5943600" cy="987552"/>
          </a:xfrm>
          <a:prstGeom prst="rect">
            <a:avLst/>
          </a:prstGeom>
          <a:solidFill>
            <a:srgbClr val="F1F5FB"/>
          </a:solidFill>
          <a:ln w="12700">
            <a:solidFill>
              <a:srgbClr val="C9D4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645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迷う人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1956816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7A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オルカン100%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2724912"/>
            <a:ext cx="5943600" cy="987552"/>
          </a:xfrm>
          <a:prstGeom prst="rect">
            <a:avLst/>
          </a:prstGeom>
          <a:solidFill>
            <a:srgbClr val="FFF7DC"/>
          </a:solidFill>
          <a:ln w="31750">
            <a:solidFill>
              <a:srgbClr val="E0A8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8163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基本形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3127248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オルカン90：NAS10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457200" y="3895344"/>
            <a:ext cx="5943600" cy="987552"/>
          </a:xfrm>
          <a:prstGeom prst="rect">
            <a:avLst/>
          </a:prstGeom>
          <a:solidFill>
            <a:srgbClr val="F1F5FB"/>
          </a:solidFill>
          <a:ln w="12700">
            <a:solidFill>
              <a:srgbClr val="C9D4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98678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積極派の上限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4297680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オルカン80：NAS20</a:t>
            </a:r>
            <a:endParaRPr lang="en-US" sz="2500" dirty="0"/>
          </a:p>
        </p:txBody>
      </p:sp>
      <p:sp>
        <p:nvSpPr>
          <p:cNvPr id="12" name="Shape 10"/>
          <p:cNvSpPr/>
          <p:nvPr/>
        </p:nvSpPr>
        <p:spPr>
          <a:xfrm>
            <a:off x="457200" y="5065776"/>
            <a:ext cx="5943600" cy="987552"/>
          </a:xfrm>
          <a:prstGeom prst="rect">
            <a:avLst/>
          </a:prstGeom>
          <a:solidFill>
            <a:srgbClr val="F1F5FB"/>
          </a:solidFill>
          <a:ln w="12700">
            <a:solidFill>
              <a:srgbClr val="C9D4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15721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やらないこと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5468112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これ以上の集中</a:t>
            </a:r>
            <a:endParaRPr lang="en-US" sz="2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それは分散でなく</a:t>
            </a:r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D7263D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増量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5212080" cy="2926080"/>
          </a:xfrm>
          <a:prstGeom prst="rect">
            <a:avLst/>
          </a:prstGeom>
          <a:solidFill>
            <a:srgbClr val="FFFFFF"/>
          </a:solidFill>
          <a:ln w="38100">
            <a:solidFill>
              <a:srgbClr val="17325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373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幕の内弁当（オルカン）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51560" y="2240280"/>
            <a:ext cx="1481328" cy="914400"/>
          </a:xfrm>
          <a:prstGeom prst="rect">
            <a:avLst/>
          </a:prstGeom>
          <a:solidFill>
            <a:srgbClr val="E8E4D8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2402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ごはん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79192" y="2240280"/>
            <a:ext cx="1481328" cy="914400"/>
          </a:xfrm>
          <a:prstGeom prst="rect">
            <a:avLst/>
          </a:prstGeom>
          <a:solidFill>
            <a:srgbClr val="D9C9A3"/>
          </a:solidFill>
          <a:ln/>
        </p:spPr>
      </p:sp>
      <p:sp>
        <p:nvSpPr>
          <p:cNvPr id="8" name="Text 6"/>
          <p:cNvSpPr/>
          <p:nvPr/>
        </p:nvSpPr>
        <p:spPr>
          <a:xfrm>
            <a:off x="2679192" y="22402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焼き魚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06824" y="2240280"/>
            <a:ext cx="1481328" cy="914400"/>
          </a:xfrm>
          <a:prstGeom prst="rect">
            <a:avLst/>
          </a:prstGeom>
          <a:solidFill>
            <a:srgbClr val="F5D67B"/>
          </a:solidFill>
          <a:ln/>
        </p:spPr>
      </p:sp>
      <p:sp>
        <p:nvSpPr>
          <p:cNvPr id="10" name="Text 8"/>
          <p:cNvSpPr/>
          <p:nvPr/>
        </p:nvSpPr>
        <p:spPr>
          <a:xfrm>
            <a:off x="4306824" y="22402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卵焼き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51560" y="3291840"/>
            <a:ext cx="1481328" cy="914400"/>
          </a:xfrm>
          <a:prstGeom prst="rect">
            <a:avLst/>
          </a:prstGeom>
          <a:solidFill>
            <a:srgbClr val="C87B3B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29184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から揚げ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679192" y="3291840"/>
            <a:ext cx="1481328" cy="914400"/>
          </a:xfrm>
          <a:prstGeom prst="rect">
            <a:avLst/>
          </a:prstGeom>
          <a:solidFill>
            <a:srgbClr val="B7CE9E"/>
          </a:solidFill>
          <a:ln/>
        </p:spPr>
      </p:sp>
      <p:sp>
        <p:nvSpPr>
          <p:cNvPr id="14" name="Text 12"/>
          <p:cNvSpPr/>
          <p:nvPr/>
        </p:nvSpPr>
        <p:spPr>
          <a:xfrm>
            <a:off x="2679192" y="329184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漬物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306824" y="3291840"/>
            <a:ext cx="1481328" cy="914400"/>
          </a:xfrm>
          <a:prstGeom prst="rect">
            <a:avLst/>
          </a:prstGeom>
          <a:solidFill>
            <a:srgbClr val="C87B3B"/>
          </a:solidFill>
          <a:ln/>
        </p:spPr>
      </p:sp>
      <p:sp>
        <p:nvSpPr>
          <p:cNvPr id="16" name="Text 14"/>
          <p:cNvSpPr/>
          <p:nvPr/>
        </p:nvSpPr>
        <p:spPr>
          <a:xfrm>
            <a:off x="4306824" y="329184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から揚げ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8920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NASDAQ100を足す ＝ </a:t>
            </a:r>
            <a:pPr algn="ctr" indent="0" marL="0">
              <a:buNone/>
            </a:pPr>
            <a:r>
              <a:rPr lang="en-US" sz="2400" b="1" dirty="0">
                <a:solidFill>
                  <a:srgbClr val="D7263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から揚げ増量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55321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新しいおかずは、増えていない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一番大事なのは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325A"/>
                </a:solidFill>
                <a:highlight>
                  <a:srgbClr val="FFE45C"/>
                </a:highlight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20年、やめないこと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25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あなたの比率と、その理由は？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371600" y="4160520"/>
            <a:ext cx="4114800" cy="868680"/>
          </a:xfrm>
          <a:prstGeom prst="rect">
            <a:avLst/>
          </a:prstGeom>
          <a:solidFill>
            <a:srgbClr val="D7263D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41605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コメントで教えてください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57200" y="53492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高評価・チャンネル登録もお願いします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2026-07-28T22:47:21Z</dcterms:created>
  <dcterms:modified xsi:type="dcterms:W3CDTF">2026-07-28T22:47:21Z</dcterms:modified>
</cp:coreProperties>
</file>