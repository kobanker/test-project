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6858000" cy="6858000"/>
  <p:notesSz cx="6858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このスライドは出典カード。収録時にMSCI公式PDFのスクリーンショットに差し替えるとより説得力が出る。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収録時はS&amp;P DJI公式ページのスクリーンショットに差し替え可。時価総額基準は随時引き上げのため最新値を確認。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収録時はNasdaq公式factsheetのスクリーンショットに差し替え可。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収録時はICE公式ページのスクリーンショットに差し替え可。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収録時はJPX公式factsheetのスクリーンショットに差し替え可。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収録時はJPモルガンの円マトリックスPDF画面に差し替え可。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7772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6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正直銀行員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11480" y="128016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結局、どれを買えばいい？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484632" y="2331720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1B2A4A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C9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38728" y="2331720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1B2A4A"/>
          </a:solidFill>
          <a:ln w="19050">
            <a:solidFill>
              <a:srgbClr val="F2C1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38728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4632" y="2898648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1B2A4A"/>
          </a:solidFill>
          <a:ln w="19050">
            <a:solidFill>
              <a:srgbClr val="9B5D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2898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B5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38728" y="2898648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1B2A4A"/>
          </a:solidFill>
          <a:ln w="19050">
            <a:solidFill>
              <a:srgbClr val="EF47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28986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7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11680" y="3465576"/>
            <a:ext cx="2834640" cy="457200"/>
          </a:xfrm>
          <a:prstGeom prst="roundRect">
            <a:avLst>
              <a:gd name="adj" fmla="val 20000"/>
            </a:avLst>
          </a:prstGeom>
          <a:solidFill>
            <a:srgbClr val="1B2A4A"/>
          </a:solidFill>
          <a:ln w="19050">
            <a:solidFill>
              <a:srgbClr val="06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1680" y="346557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D6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60120" y="461772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F2C14E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617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未来を 15万回 シミュレーション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11480" y="58064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本気で比較して、答えを出します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同じ20年・毎月5万円の積立でも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悪い未来では、こんなに違う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2555748"/>
            <a:ext cx="1920240" cy="2473452"/>
          </a:xfrm>
          <a:prstGeom prst="roundRect">
            <a:avLst>
              <a:gd name="adj" fmla="val 3810"/>
            </a:avLst>
          </a:prstGeom>
          <a:solidFill>
            <a:srgbClr val="4CC9F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985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約1,082万円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34440" y="5175504"/>
            <a:ext cx="1280160" cy="365760"/>
          </a:xfrm>
          <a:prstGeom prst="roundRect">
            <a:avLst>
              <a:gd name="adj" fmla="val 42500"/>
            </a:avLst>
          </a:prstGeom>
          <a:solidFill>
            <a:srgbClr val="4CC9F0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51755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023360" y="361188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EF476F"/>
          </a:solidFill>
          <a:ln/>
        </p:spPr>
      </p:sp>
      <p:sp>
        <p:nvSpPr>
          <p:cNvPr id="9" name="Text 7"/>
          <p:cNvSpPr/>
          <p:nvPr/>
        </p:nvSpPr>
        <p:spPr>
          <a:xfrm>
            <a:off x="3749040" y="3154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約620万円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43400" y="5175504"/>
            <a:ext cx="1280160" cy="365760"/>
          </a:xfrm>
          <a:prstGeom prst="roundRect">
            <a:avLst>
              <a:gd name="adj" fmla="val 42500"/>
            </a:avLst>
          </a:prstGeom>
          <a:solidFill>
            <a:srgbClr val="EF476F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51755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25880" y="1737360"/>
            <a:ext cx="4206240" cy="658368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17373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その差、約460万円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下位10%地点の試算値 ※当チャンネル試算（15万回モンテカルロ）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知らないまま選ぶと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691640"/>
            <a:ext cx="6035040" cy="1188720"/>
          </a:xfrm>
          <a:prstGeom prst="roundRect">
            <a:avLst>
              <a:gd name="adj" fmla="val 7692"/>
            </a:avLst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2029968"/>
            <a:ext cx="512064" cy="51206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83794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「一番増えたから」で選ぶ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29514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悪い未来では 約460万円 少ない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" y="3108960"/>
            <a:ext cx="6035040" cy="1188720"/>
          </a:xfrm>
          <a:prstGeom prst="roundRect">
            <a:avLst>
              <a:gd name="adj" fmla="val 7692"/>
            </a:avLst>
          </a:prstGeom>
          <a:solidFill>
            <a:srgbClr val="1B2A4A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" y="3447288"/>
            <a:ext cx="512064" cy="51206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3447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25526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「全部買えば分散」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71600" y="371246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実は 同じ会社の重ね買い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11480" y="4526280"/>
            <a:ext cx="6035040" cy="1188720"/>
          </a:xfrm>
          <a:prstGeom prst="roundRect">
            <a:avLst>
              <a:gd name="adj" fmla="val 7692"/>
            </a:avLst>
          </a:prstGeom>
          <a:solidFill>
            <a:srgbClr val="1B2A4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4864608"/>
            <a:ext cx="512064" cy="51206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4864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467258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暴落の日、理由を言えない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512978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一番安いところで 売ってしまう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※金額は当チャンネル試算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この動画を見終わると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691640"/>
            <a:ext cx="6035040" cy="100584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938528"/>
            <a:ext cx="512064" cy="512064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938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6916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5本の中身と「選ばれ方」</a:t>
            </a:r>
            <a:pPr indent="0" marL="0">
              <a:buNone/>
            </a:pPr>
            <a:r>
              <a:rPr lang="en-US" sz="1550" b="1" dirty="0">
                <a:solidFill>
                  <a:srgbClr val="3DDC9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が分かる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11480" y="2898648"/>
            <a:ext cx="6035040" cy="100584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3145536"/>
            <a:ext cx="512064" cy="512064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31455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289864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自分の比率を</a:t>
            </a:r>
            <a:pPr indent="0" marL="0">
              <a:buNone/>
            </a:pPr>
            <a:r>
              <a:rPr lang="en-US" sz="1550" b="1" dirty="0">
                <a:solidFill>
                  <a:srgbClr val="3DDC9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数字で決められる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411480" y="4105656"/>
            <a:ext cx="6035040" cy="100584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4352544"/>
            <a:ext cx="512064" cy="512064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4352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71600" y="4105656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暴落の日に売らない理由を</a:t>
            </a:r>
            <a:pPr indent="0" marL="0">
              <a:buNone/>
            </a:pPr>
            <a:r>
              <a:rPr lang="en-US" sz="1550" b="1" dirty="0">
                <a:solidFill>
                  <a:srgbClr val="3DDC9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自分の言葉で説明できる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11480" y="56235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商品選びの迷いが、今日で終わります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第1章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5本は「企業を選ぶ思想」が違う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1645920"/>
            <a:ext cx="6035040" cy="73152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837944"/>
            <a:ext cx="1417320" cy="347472"/>
          </a:xfrm>
          <a:prstGeom prst="roundRect">
            <a:avLst>
              <a:gd name="adj" fmla="val 44737"/>
            </a:avLst>
          </a:prstGeom>
          <a:solidFill>
            <a:srgbClr val="4CC9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83794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94560" y="164592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世界の株式市場を丸ごと買う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11480" y="2542032"/>
            <a:ext cx="6035040" cy="73152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2734056"/>
            <a:ext cx="1417320" cy="347472"/>
          </a:xfrm>
          <a:prstGeom prst="roundRect">
            <a:avLst>
              <a:gd name="adj" fmla="val 44737"/>
            </a:avLst>
          </a:prstGeom>
          <a:solidFill>
            <a:srgbClr val="F2C14E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7340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94560" y="254203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米国大型企業を委員会が選ぶ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411480" y="3438144"/>
            <a:ext cx="6035040" cy="73152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3630168"/>
            <a:ext cx="1417320" cy="347472"/>
          </a:xfrm>
          <a:prstGeom prst="roundRect">
            <a:avLst>
              <a:gd name="adj" fmla="val 44737"/>
            </a:avLst>
          </a:prstGeom>
          <a:solidFill>
            <a:srgbClr val="9B5DE5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63016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94560" y="3438144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NASDAQ非金融の大型100社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411480" y="4334256"/>
            <a:ext cx="6035040" cy="73152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360" y="4526280"/>
            <a:ext cx="1417320" cy="347472"/>
          </a:xfrm>
          <a:prstGeom prst="roundRect">
            <a:avLst>
              <a:gd name="adj" fmla="val 44737"/>
            </a:avLst>
          </a:prstGeom>
          <a:solidFill>
            <a:srgbClr val="EF476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5262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4560" y="4334256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巨大テック10社に集中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411480" y="5230368"/>
            <a:ext cx="6035040" cy="73152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5422392"/>
            <a:ext cx="1417320" cy="347472"/>
          </a:xfrm>
          <a:prstGeom prst="roundRect">
            <a:avLst>
              <a:gd name="adj" fmla="val 44737"/>
            </a:avLst>
          </a:prstGeom>
          <a:solidFill>
            <a:srgbClr val="06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54223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94560" y="5230368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日本株市場を幅広く買う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カルテ①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4CC9F0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世界まるごと。でも中身は…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47</a:t>
            </a:r>
            <a:pPr indent="0" marL="0">
              <a:buNone/>
            </a:pPr>
            <a:r>
              <a:rPr lang="en-US" sz="16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か国・</a:t>
            </a:r>
            <a:pPr indent="0" marL="0">
              <a:buNone/>
            </a:pPr>
            <a:r>
              <a:rPr lang="en-US" sz="3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約2,461</a:t>
            </a:r>
            <a:pPr indent="0" marL="0">
              <a:buNone/>
            </a:pPr>
            <a:r>
              <a:rPr lang="en-US" sz="16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銘柄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11480" y="2651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 </a:t>
            </a:r>
            <a:pPr indent="0" marL="0">
              <a:buNone/>
            </a:pPr>
            <a:r>
              <a:rPr lang="en-US" sz="3400" b="1" dirty="0">
                <a:solidFill>
                  <a:srgbClr val="4CC9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63.6%</a:t>
            </a:r>
            <a:pPr indent="0" marL="0">
              <a:buNone/>
            </a:pPr>
            <a:r>
              <a:rPr lang="en-US" sz="17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情報技術 </a:t>
            </a:r>
            <a:pPr indent="0" marL="0">
              <a:buNone/>
            </a:pPr>
            <a:r>
              <a:rPr lang="en-US" sz="3400" b="1" dirty="0">
                <a:solidFill>
                  <a:srgbClr val="4CC9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32.1%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" y="3685032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060C1A"/>
          </a:solidFill>
          <a:ln/>
        </p:spPr>
      </p:sp>
      <p:sp>
        <p:nvSpPr>
          <p:cNvPr id="9" name="Shape 7"/>
          <p:cNvSpPr/>
          <p:nvPr/>
        </p:nvSpPr>
        <p:spPr>
          <a:xfrm>
            <a:off x="411480" y="3611880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FDFBF4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37398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D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出典（一次情報）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397764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MSCI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" y="425196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MSCI ACWI Index Factsheet（2026年6月末）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2648" y="4581144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先進国23か国＋新興国24か国の大型・中型株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2648" y="4873752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カバー率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投資可能な株式市場の約85%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2648" y="516636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見直し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2月・5月・8月・11月の年4回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2648" y="5586984"/>
            <a:ext cx="5632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6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msci.com/documents/10199/255599/msci-acwi-net.pdf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収録時は実際のファクトシート画面に差し替え可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カルテ①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4CC9F0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10年前に100万円入れていたら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年率 約12.8%（配当込み・米ドル）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4688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32004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36576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CC9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約333万円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11480" y="4800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指数ごとに通貨・配当の前提が異なるため目安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※各指数の公表年率からの単純複利換算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カルテ①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4CC9F0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上位10銘柄だけで 23.3%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1920240"/>
          <a:ext cx="48463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5176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順位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銘柄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比率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NVIDIA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4.55%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Apple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4.19%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Microsoft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2.59%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Amazon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2.27%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Alphabet 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2.05%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TSMC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1.84%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Broadcom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1.67%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Alphabet C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1.61%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Micron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1.28%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Meta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1.22%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2026年6月末時点・iShares ACWI保有proxy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カルテ① まとめ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4CC9F0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417320" y="1554480"/>
            <a:ext cx="2834640" cy="2834640"/>
          </a:xfrm>
          <a:prstGeom prst="pie">
            <a:avLst>
              <a:gd name="adj1" fmla="val 0"/>
              <a:gd name="adj2" fmla="val 13740000"/>
            </a:avLst>
          </a:prstGeom>
          <a:solidFill>
            <a:srgbClr val="4CC9F0"/>
          </a:solidFill>
          <a:ln/>
        </p:spPr>
      </p:sp>
      <p:sp>
        <p:nvSpPr>
          <p:cNvPr id="6" name="Shape 4"/>
          <p:cNvSpPr/>
          <p:nvPr/>
        </p:nvSpPr>
        <p:spPr>
          <a:xfrm>
            <a:off x="1417320" y="1554480"/>
            <a:ext cx="2834640" cy="2834640"/>
          </a:xfrm>
          <a:prstGeom prst="pie">
            <a:avLst>
              <a:gd name="adj1" fmla="val 13740000"/>
              <a:gd name="adj2" fmla="val 21600000"/>
            </a:avLst>
          </a:prstGeom>
          <a:solidFill>
            <a:srgbClr val="22355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0" y="2011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CC9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4CC9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63.6%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114800" y="3063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その他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36.4%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" y="5577840"/>
            <a:ext cx="6035040" cy="749808"/>
          </a:xfrm>
          <a:prstGeom prst="roundRect">
            <a:avLst>
              <a:gd name="adj" fmla="val 12195"/>
            </a:avLst>
          </a:prstGeom>
          <a:solidFill>
            <a:srgbClr val="142544"/>
          </a:solidFill>
          <a:ln w="15875">
            <a:solidFill>
              <a:srgbClr val="F2C1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577840"/>
            <a:ext cx="5577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　</a:t>
            </a:r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オルカンの中身は、6割アメリカ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カルテ②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F2C14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審査を通った選抜チーム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274320" cy="274320"/>
          </a:xfrm>
          <a:prstGeom prst="ellipse">
            <a:avLst/>
          </a:prstGeom>
          <a:solidFill>
            <a:srgbClr val="F2C14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米国企業であること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57200" y="2459736"/>
            <a:ext cx="274320" cy="274320"/>
          </a:xfrm>
          <a:prstGeom prst="ellipse">
            <a:avLst/>
          </a:prstGeom>
          <a:solidFill>
            <a:srgbClr val="F2C14E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239572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時価総額 おおむね200億ドル以上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457200" y="2935224"/>
            <a:ext cx="274320" cy="274320"/>
          </a:xfrm>
          <a:prstGeom prst="ellipse">
            <a:avLst/>
          </a:prstGeom>
          <a:solidFill>
            <a:srgbClr val="F2C14E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935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287121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浮動株が一定比率以上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274320" cy="274320"/>
          </a:xfrm>
          <a:prstGeom prst="ellipse">
            <a:avLst/>
          </a:prstGeom>
          <a:solidFill>
            <a:srgbClr val="F2C14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3346704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直近四半期＋直近1年が黒字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466344" y="4142232"/>
            <a:ext cx="6035040" cy="1920240"/>
          </a:xfrm>
          <a:prstGeom prst="roundRect">
            <a:avLst>
              <a:gd name="adj" fmla="val 2857"/>
            </a:avLst>
          </a:prstGeom>
          <a:solidFill>
            <a:srgbClr val="060C1A"/>
          </a:solidFill>
          <a:ln/>
        </p:spPr>
      </p:sp>
      <p:sp>
        <p:nvSpPr>
          <p:cNvPr id="19" name="Shape 17"/>
          <p:cNvSpPr/>
          <p:nvPr/>
        </p:nvSpPr>
        <p:spPr>
          <a:xfrm>
            <a:off x="411480" y="4069080"/>
            <a:ext cx="6035040" cy="1920240"/>
          </a:xfrm>
          <a:prstGeom prst="roundRect">
            <a:avLst>
              <a:gd name="adj" fmla="val 2857"/>
            </a:avLst>
          </a:prstGeom>
          <a:solidFill>
            <a:srgbClr val="FDFBF4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" y="41970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D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出典（一次情報）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" y="443484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 Dow Jones Indices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" y="470916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 500 指数メソドロジー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12648" y="5038344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構成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米国大型企業 約500社（浮動株時価総額加重）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12648" y="5330952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入れ替え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委員会が随時判断・毎年20社前後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12648" y="5678424"/>
            <a:ext cx="5632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6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spglobal.com/spdji/jp/indices/equity/sp-500/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カルテ②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F2C14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10年前に100万円入れていたら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年率 約13.6%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4688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32004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36576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約358万円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11480" y="4800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10年・価格指数ベース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カルテ②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F2C14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上位は…オルカンと同じ顔ぶれ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77440"/>
                <a:gridCol w="17373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順位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銘柄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NVIDIA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情報技術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Apple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情報技術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Microsoft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情報技術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Amazon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一般消費財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Alphabet 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Broadcom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情報技術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Alphabet C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Micron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情報技術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Meta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Tesla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一般消費財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5532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情報技術だけで 38%・上位10銘柄で 36%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2026年6月末時点・VOO保有proxy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カルテ② まとめ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F2C14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828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「500社に分散」の実態は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1480" y="246888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巨大テック数社の影響が強い</a:t>
            </a:r>
            <a:endParaRPr lang="en-US" sz="27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500社指数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11480" y="5577840"/>
            <a:ext cx="6035040" cy="749808"/>
          </a:xfrm>
          <a:prstGeom prst="roundRect">
            <a:avLst>
              <a:gd name="adj" fmla="val 12195"/>
            </a:avLst>
          </a:prstGeom>
          <a:solidFill>
            <a:srgbClr val="142544"/>
          </a:solidFill>
          <a:ln w="15875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577840"/>
            <a:ext cx="5577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　</a:t>
            </a:r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S&amp;P500の上位は、オルカンと同じ顔ぶれ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カルテ③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9B5DE5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金融を外した、成長特化の100社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テクノロジー比率 </a:t>
            </a:r>
            <a:pPr indent="0" marL="0">
              <a:buNone/>
            </a:pPr>
            <a:r>
              <a:rPr lang="en-US" sz="4000" b="1" dirty="0">
                <a:solidFill>
                  <a:srgbClr val="9B5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68.5%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83464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半導体・AI・クラウドの色が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S&amp;P500よりずっと濃い「濃縮版」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" y="3913632"/>
            <a:ext cx="6035040" cy="2148840"/>
          </a:xfrm>
          <a:prstGeom prst="roundRect">
            <a:avLst>
              <a:gd name="adj" fmla="val 2553"/>
            </a:avLst>
          </a:prstGeom>
          <a:solidFill>
            <a:srgbClr val="060C1A"/>
          </a:solidFill>
          <a:ln/>
        </p:spPr>
      </p:sp>
      <p:sp>
        <p:nvSpPr>
          <p:cNvPr id="9" name="Shape 7"/>
          <p:cNvSpPr/>
          <p:nvPr/>
        </p:nvSpPr>
        <p:spPr>
          <a:xfrm>
            <a:off x="411480" y="3840480"/>
            <a:ext cx="6035040" cy="2148840"/>
          </a:xfrm>
          <a:prstGeom prst="roundRect">
            <a:avLst>
              <a:gd name="adj" fmla="val 2553"/>
            </a:avLst>
          </a:prstGeom>
          <a:solidFill>
            <a:srgbClr val="FDFBF4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39684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D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出典（一次情報）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420624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" y="448056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Nasdaq-100 Index Factsheet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2648" y="4809744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構成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NASDAQ上場の非金融・大型100社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2648" y="5102352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10年実績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年率 21.2%／リスク 22.6%（価格指数）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2648" y="539496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ルール改定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2026年5月〜 年4回の定期見直しに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2648" y="5678424"/>
            <a:ext cx="5632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6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indexes.nasdaqomx.com/docs/fs_ndx.pdf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カルテ③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9B5DE5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10年前に100万円入れていたら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年率 約21.2%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4688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32004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36576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9B5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約684万円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11480" y="4800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ただし2022年は1年でマイナス33%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カルテ③ 設計の違い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黒字になる前から、持てる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6035040" cy="1828800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212848"/>
            <a:ext cx="1600200" cy="329184"/>
          </a:xfrm>
          <a:prstGeom prst="roundRect">
            <a:avLst>
              <a:gd name="adj" fmla="val 47222"/>
            </a:avLst>
          </a:prstGeom>
          <a:solidFill>
            <a:srgbClr val="9B5DE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2128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77440" y="217627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5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1998年〜（赤字時代に採用）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651760"/>
            <a:ext cx="1600200" cy="329184"/>
          </a:xfrm>
          <a:prstGeom prst="roundRect">
            <a:avLst>
              <a:gd name="adj" fmla="val 47222"/>
            </a:avLst>
          </a:prstGeom>
          <a:solidFill>
            <a:srgbClr val="F2C14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5176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77440" y="261518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2005年（黒字化後にやっと採用）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S&amp;P500の黒字条件を満たせなかった7年間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3611880"/>
            <a:ext cx="6035040" cy="1828800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7490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Tesla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" y="4270248"/>
            <a:ext cx="1600200" cy="329184"/>
          </a:xfrm>
          <a:prstGeom prst="roundRect">
            <a:avLst>
              <a:gd name="adj" fmla="val 47222"/>
            </a:avLst>
          </a:prstGeom>
          <a:solidFill>
            <a:srgbClr val="9B5D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2702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77440" y="423367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5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2013年〜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709160"/>
            <a:ext cx="1600200" cy="329184"/>
          </a:xfrm>
          <a:prstGeom prst="roundRect">
            <a:avLst>
              <a:gd name="adj" fmla="val 47222"/>
            </a:avLst>
          </a:prstGeom>
          <a:solidFill>
            <a:srgbClr val="F2C14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70916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77440" y="467258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2020年12月（黒字条件クリア後）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0749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その7年で株価は数十倍に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57150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審査が緩いのではなく、審査の思想が違う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採用年は収録前に一次情報で最終確認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カルテ③ 最近の変化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9B5DE5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2026年6月、新しく入った5社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5029200" cy="493776"/>
          </a:xfrm>
          <a:prstGeom prst="roundRect">
            <a:avLst>
              <a:gd name="adj" fmla="val 50000"/>
            </a:avLst>
          </a:prstGeom>
          <a:solidFill>
            <a:srgbClr val="223558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65960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アステラ・ラブス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2587752"/>
            <a:ext cx="5029200" cy="493776"/>
          </a:xfrm>
          <a:prstGeom prst="roundRect">
            <a:avLst>
              <a:gd name="adj" fmla="val 50000"/>
            </a:avLst>
          </a:prstGeom>
          <a:solidFill>
            <a:srgbClr val="22355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587752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コアウィーブ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3209544"/>
            <a:ext cx="5029200" cy="493776"/>
          </a:xfrm>
          <a:prstGeom prst="roundRect">
            <a:avLst>
              <a:gd name="adj" fmla="val 50000"/>
            </a:avLst>
          </a:prstGeom>
          <a:solidFill>
            <a:srgbClr val="223558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09544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ネビウス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3831336"/>
            <a:ext cx="5029200" cy="493776"/>
          </a:xfrm>
          <a:prstGeom prst="roundRect">
            <a:avLst>
              <a:gd name="adj" fmla="val 50000"/>
            </a:avLst>
          </a:prstGeom>
          <a:solidFill>
            <a:srgbClr val="223558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831336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ロケット・ラボ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14400" y="4453128"/>
            <a:ext cx="5029200" cy="493776"/>
          </a:xfrm>
          <a:prstGeom prst="roundRect">
            <a:avLst>
              <a:gd name="adj" fmla="val 50000"/>
            </a:avLst>
          </a:prstGeom>
          <a:solidFill>
            <a:srgbClr val="223558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453128"/>
            <a:ext cx="5029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テラダイン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1480" y="51663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AIインフラ・宇宙・半導体を早く取り込む指数へ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11480" y="5577840"/>
            <a:ext cx="6035040" cy="749808"/>
          </a:xfrm>
          <a:prstGeom prst="roundRect">
            <a:avLst>
              <a:gd name="adj" fmla="val 12195"/>
            </a:avLst>
          </a:prstGeom>
          <a:solidFill>
            <a:srgbClr val="142544"/>
          </a:solidFill>
          <a:ln w="15875">
            <a:solidFill>
              <a:srgbClr val="F2C1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577840"/>
            <a:ext cx="5577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　</a:t>
            </a:r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10年で7倍。ただし2022年は −33%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ここまでの3本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上位は、ほぼ同じ会社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828800" cy="365760"/>
          </a:xfrm>
          <a:prstGeom prst="roundRect">
            <a:avLst>
              <a:gd name="adj" fmla="val 42500"/>
            </a:avLst>
          </a:prstGeom>
          <a:solidFill>
            <a:srgbClr val="4CC9F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NVIDIA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71576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7157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2826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849624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8496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4416552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4165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Alphabet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14600" y="1600200"/>
            <a:ext cx="1828800" cy="365760"/>
          </a:xfrm>
          <a:prstGeom prst="roundRect">
            <a:avLst>
              <a:gd name="adj" fmla="val 42500"/>
            </a:avLst>
          </a:prstGeom>
          <a:solidFill>
            <a:srgbClr val="F2C14E"/>
          </a:solidFill>
          <a:ln/>
        </p:spPr>
      </p:sp>
      <p:sp>
        <p:nvSpPr>
          <p:cNvPr id="17" name="Text 15"/>
          <p:cNvSpPr/>
          <p:nvPr/>
        </p:nvSpPr>
        <p:spPr>
          <a:xfrm>
            <a:off x="251460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514600" y="21488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NVIDIA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14600" y="271576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14600" y="27157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14600" y="3282696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14600" y="32826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514600" y="3849624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14600" y="38496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4416552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44165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Alphabet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26280" y="1600200"/>
            <a:ext cx="1828800" cy="365760"/>
          </a:xfrm>
          <a:prstGeom prst="roundRect">
            <a:avLst>
              <a:gd name="adj" fmla="val 42500"/>
            </a:avLst>
          </a:prstGeom>
          <a:solidFill>
            <a:srgbClr val="9B5DE5"/>
          </a:solidFill>
          <a:ln/>
        </p:spPr>
      </p:sp>
      <p:sp>
        <p:nvSpPr>
          <p:cNvPr id="29" name="Text 27"/>
          <p:cNvSpPr/>
          <p:nvPr/>
        </p:nvSpPr>
        <p:spPr>
          <a:xfrm>
            <a:off x="452628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26280" y="21488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NVIDIA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26280" y="271576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26280" y="27157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26280" y="3282696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6280" y="32826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26280" y="3849624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0" y="38496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26280" y="4416552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B2A4A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0" y="44165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Alphabet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11480" y="5349240"/>
            <a:ext cx="6035040" cy="914400"/>
          </a:xfrm>
          <a:prstGeom prst="roundRect">
            <a:avLst>
              <a:gd name="adj" fmla="val 10000"/>
            </a:avLst>
          </a:prstGeom>
          <a:solidFill>
            <a:srgbClr val="142544"/>
          </a:solidFill>
          <a:ln w="15875">
            <a:solidFill>
              <a:srgbClr val="FF6B6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" y="53492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B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「全部買う」＝ 同じ会社を5つの箱から重ね買い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カルテ④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EF476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たった10社に、10%ずつ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65960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46504" y="1965960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9" name="Text 7"/>
          <p:cNvSpPr/>
          <p:nvPr/>
        </p:nvSpPr>
        <p:spPr>
          <a:xfrm>
            <a:off x="1746504" y="1965960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26080" y="1965960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65960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05656" y="1965960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13" name="Text 11"/>
          <p:cNvSpPr/>
          <p:nvPr/>
        </p:nvSpPr>
        <p:spPr>
          <a:xfrm>
            <a:off x="4105656" y="1965960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Netflix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285232" y="1965960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15" name="Text 13"/>
          <p:cNvSpPr/>
          <p:nvPr/>
        </p:nvSpPr>
        <p:spPr>
          <a:xfrm>
            <a:off x="5285232" y="1965960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532888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532888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Alphabet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746504" y="2532888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19" name="Text 17"/>
          <p:cNvSpPr/>
          <p:nvPr/>
        </p:nvSpPr>
        <p:spPr>
          <a:xfrm>
            <a:off x="1746504" y="2532888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926080" y="2532888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21" name="Text 19"/>
          <p:cNvSpPr/>
          <p:nvPr/>
        </p:nvSpPr>
        <p:spPr>
          <a:xfrm>
            <a:off x="2926080" y="2532888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NVIDIA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05656" y="2532888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23" name="Text 21"/>
          <p:cNvSpPr/>
          <p:nvPr/>
        </p:nvSpPr>
        <p:spPr>
          <a:xfrm>
            <a:off x="4105656" y="2532888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Palantir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285232" y="2532888"/>
            <a:ext cx="1088136" cy="457200"/>
          </a:xfrm>
          <a:prstGeom prst="roundRect">
            <a:avLst>
              <a:gd name="adj" fmla="val 16000"/>
            </a:avLst>
          </a:prstGeom>
          <a:solidFill>
            <a:srgbClr val="223558"/>
          </a:solidFill>
          <a:ln/>
        </p:spPr>
      </p:sp>
      <p:sp>
        <p:nvSpPr>
          <p:cNvPr id="25" name="Text 23"/>
          <p:cNvSpPr/>
          <p:nvPr/>
        </p:nvSpPr>
        <p:spPr>
          <a:xfrm>
            <a:off x="5285232" y="2532888"/>
            <a:ext cx="1088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Broadcom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" y="3456432"/>
            <a:ext cx="6035040" cy="2331720"/>
          </a:xfrm>
          <a:prstGeom prst="roundRect">
            <a:avLst>
              <a:gd name="adj" fmla="val 2353"/>
            </a:avLst>
          </a:prstGeom>
          <a:solidFill>
            <a:srgbClr val="060C1A"/>
          </a:solidFill>
          <a:ln/>
        </p:spPr>
      </p:sp>
      <p:sp>
        <p:nvSpPr>
          <p:cNvPr id="27" name="Shape 25"/>
          <p:cNvSpPr/>
          <p:nvPr/>
        </p:nvSpPr>
        <p:spPr>
          <a:xfrm>
            <a:off x="411480" y="3383280"/>
            <a:ext cx="6035040" cy="2331720"/>
          </a:xfrm>
          <a:prstGeom prst="roundRect">
            <a:avLst>
              <a:gd name="adj" fmla="val 2353"/>
            </a:avLst>
          </a:prstGeom>
          <a:solidFill>
            <a:srgbClr val="FDFBF4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D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出典（一次情報）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374904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ICE Data Indices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12648" y="402336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NYSE FANG+ Index 公式ページ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2648" y="4352544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2014年9月〜 年率 約27.4%（配当込み）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12648" y="4645152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指数の算出開始は2017年。それ以前はバックテスト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12648" y="493776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入れ替え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固定6社＋選抜4社を四半期ごとに10%へ戻す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12648" y="5404104"/>
            <a:ext cx="5632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6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ice.com/equity-index/fangplus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カルテ④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EF476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10年当てはめると…11倍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年率 約27.4%を単純適用した参考値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4688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32004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36576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F47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約1,126万円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11480" y="4800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89204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3A1220"/>
          </a:solidFill>
          <a:ln w="15875">
            <a:solidFill>
              <a:srgbClr val="FF6B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892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6B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2014〜2017年分は「後づけ」のバックテスト込み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カルテ④ 入れ替えルール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EF476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固定6社＋選抜4社（四半期ごと）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" y="2066544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時価総額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2377440" y="2011680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EF476F"/>
          </a:solidFill>
          <a:ln/>
        </p:spPr>
      </p:sp>
      <p:sp>
        <p:nvSpPr>
          <p:cNvPr id="8" name="Text 6"/>
          <p:cNvSpPr/>
          <p:nvPr/>
        </p:nvSpPr>
        <p:spPr>
          <a:xfrm>
            <a:off x="5321808" y="204825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779776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売買代金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2377440" y="2724912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EF476F"/>
          </a:solidFill>
          <a:ln/>
        </p:spPr>
      </p:sp>
      <p:sp>
        <p:nvSpPr>
          <p:cNvPr id="11" name="Text 9"/>
          <p:cNvSpPr/>
          <p:nvPr/>
        </p:nvSpPr>
        <p:spPr>
          <a:xfrm>
            <a:off x="5321808" y="276148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" y="3493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株価売上高倍率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2377440" y="3438144"/>
            <a:ext cx="1214846" cy="457200"/>
          </a:xfrm>
          <a:prstGeom prst="roundRect">
            <a:avLst>
              <a:gd name="adj" fmla="val 16000"/>
            </a:avLst>
          </a:prstGeom>
          <a:solidFill>
            <a:srgbClr val="EF476F"/>
          </a:solidFill>
          <a:ln/>
        </p:spPr>
      </p:sp>
      <p:sp>
        <p:nvSpPr>
          <p:cNvPr id="14" name="Text 12"/>
          <p:cNvSpPr/>
          <p:nvPr/>
        </p:nvSpPr>
        <p:spPr>
          <a:xfrm>
            <a:off x="3702014" y="34747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15%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" y="42062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売上成長率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2377440" y="4151376"/>
            <a:ext cx="1214846" cy="457200"/>
          </a:xfrm>
          <a:prstGeom prst="roundRect">
            <a:avLst>
              <a:gd name="adj" fmla="val 16000"/>
            </a:avLst>
          </a:prstGeom>
          <a:solidFill>
            <a:srgbClr val="EF476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2014" y="4187952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15%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11480" y="5029200"/>
            <a:ext cx="6035040" cy="1051560"/>
          </a:xfrm>
          <a:prstGeom prst="roundRect">
            <a:avLst>
              <a:gd name="adj" fmla="val 8696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02920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2026年3月：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Micron 採用 ／ CrowdStrike 除外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成績の落ちた選手は、3か月ごとにベンチへ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カルテ④ まとめ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EF476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554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2026年上半期の騰落率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2148840"/>
            <a:ext cx="1417320" cy="365760"/>
          </a:xfrm>
          <a:prstGeom prst="roundRect">
            <a:avLst>
              <a:gd name="adj" fmla="val 42500"/>
            </a:avLst>
          </a:prstGeom>
          <a:solidFill>
            <a:srgbClr val="9B5DE5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2148840"/>
            <a:ext cx="3291840" cy="365760"/>
          </a:xfrm>
          <a:prstGeom prst="roundRect">
            <a:avLst>
              <a:gd name="adj" fmla="val 15000"/>
            </a:avLst>
          </a:prstGeom>
          <a:solidFill>
            <a:srgbClr val="9B5DE5"/>
          </a:solidFill>
          <a:ln/>
        </p:spPr>
      </p:sp>
      <p:sp>
        <p:nvSpPr>
          <p:cNvPr id="9" name="Text 7"/>
          <p:cNvSpPr/>
          <p:nvPr/>
        </p:nvSpPr>
        <p:spPr>
          <a:xfrm>
            <a:off x="5532120" y="212140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+20.3%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2770632"/>
            <a:ext cx="1417320" cy="365760"/>
          </a:xfrm>
          <a:prstGeom prst="roundRect">
            <a:avLst>
              <a:gd name="adj" fmla="val 42500"/>
            </a:avLst>
          </a:prstGeom>
          <a:solidFill>
            <a:srgbClr val="06D6A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7706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48840" y="2770632"/>
            <a:ext cx="3016169" cy="365760"/>
          </a:xfrm>
          <a:prstGeom prst="roundRect">
            <a:avLst>
              <a:gd name="adj" fmla="val 15000"/>
            </a:avLst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6449" y="27432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+18.6%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" y="3392424"/>
            <a:ext cx="1417320" cy="365760"/>
          </a:xfrm>
          <a:prstGeom prst="roundRect">
            <a:avLst>
              <a:gd name="adj" fmla="val 42500"/>
            </a:avLst>
          </a:prstGeom>
          <a:solidFill>
            <a:srgbClr val="F2C14E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33924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148840" y="3392424"/>
            <a:ext cx="2464826" cy="365760"/>
          </a:xfrm>
          <a:prstGeom prst="roundRect">
            <a:avLst>
              <a:gd name="adj" fmla="val 15000"/>
            </a:avLst>
          </a:prstGeom>
          <a:solidFill>
            <a:srgbClr val="F2C14E"/>
          </a:solidFill>
          <a:ln/>
        </p:spPr>
      </p:sp>
      <p:sp>
        <p:nvSpPr>
          <p:cNvPr id="17" name="Text 15"/>
          <p:cNvSpPr/>
          <p:nvPr/>
        </p:nvSpPr>
        <p:spPr>
          <a:xfrm>
            <a:off x="4705106" y="336499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+15.2%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4014216"/>
            <a:ext cx="1417320" cy="365760"/>
          </a:xfrm>
          <a:prstGeom prst="roundRect">
            <a:avLst>
              <a:gd name="adj" fmla="val 42500"/>
            </a:avLst>
          </a:prstGeom>
          <a:solidFill>
            <a:srgbClr val="4CC9F0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401421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148840" y="4014216"/>
            <a:ext cx="1832404" cy="365760"/>
          </a:xfrm>
          <a:prstGeom prst="roundRect">
            <a:avLst>
              <a:gd name="adj" fmla="val 15000"/>
            </a:avLst>
          </a:prstGeom>
          <a:solidFill>
            <a:srgbClr val="4CC9F0"/>
          </a:solidFill>
          <a:ln/>
        </p:spPr>
      </p:sp>
      <p:sp>
        <p:nvSpPr>
          <p:cNvPr id="21" name="Text 19"/>
          <p:cNvSpPr/>
          <p:nvPr/>
        </p:nvSpPr>
        <p:spPr>
          <a:xfrm>
            <a:off x="4072684" y="3986784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+11.3%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1480" y="4636008"/>
            <a:ext cx="1417320" cy="365760"/>
          </a:xfrm>
          <a:prstGeom prst="roundRect">
            <a:avLst>
              <a:gd name="adj" fmla="val 42500"/>
            </a:avLst>
          </a:prstGeom>
          <a:solidFill>
            <a:srgbClr val="EF476F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6360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48840" y="4636008"/>
            <a:ext cx="389183" cy="365760"/>
          </a:xfrm>
          <a:prstGeom prst="roundRect">
            <a:avLst>
              <a:gd name="adj" fmla="val 15000"/>
            </a:avLst>
          </a:prstGeom>
          <a:solidFill>
            <a:srgbClr val="EF476F"/>
          </a:solidFill>
          <a:ln/>
        </p:spPr>
      </p:sp>
      <p:sp>
        <p:nvSpPr>
          <p:cNvPr id="25" name="Text 23"/>
          <p:cNvSpPr/>
          <p:nvPr/>
        </p:nvSpPr>
        <p:spPr>
          <a:xfrm>
            <a:off x="2629463" y="460857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+2.4%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1480" y="5577840"/>
            <a:ext cx="6035040" cy="749808"/>
          </a:xfrm>
          <a:prstGeom prst="roundRect">
            <a:avLst>
              <a:gd name="adj" fmla="val 12195"/>
            </a:avLst>
          </a:prstGeom>
          <a:solidFill>
            <a:srgbClr val="142544"/>
          </a:solidFill>
          <a:ln w="15875">
            <a:solidFill>
              <a:srgbClr val="F2C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577840"/>
            <a:ext cx="5577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　</a:t>
            </a:r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11倍は「後づけ込み」。そして今年は最下位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2026年6月末時点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カルテ⑤ クイズ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77724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過去10年、100万円がより増えたのは？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51760" cy="2286000"/>
          </a:xfrm>
          <a:prstGeom prst="roundRect">
            <a:avLst>
              <a:gd name="adj" fmla="val 5600"/>
            </a:avLst>
          </a:prstGeom>
          <a:solidFill>
            <a:srgbClr val="1B2A4A"/>
          </a:solidFill>
          <a:ln w="25400">
            <a:solidFill>
              <a:srgbClr val="F2C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774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3566160" y="2103120"/>
            <a:ext cx="2651760" cy="2286000"/>
          </a:xfrm>
          <a:prstGeom prst="roundRect">
            <a:avLst>
              <a:gd name="adj" fmla="val 5600"/>
            </a:avLst>
          </a:prstGeom>
          <a:solidFill>
            <a:srgbClr val="1B2A4A"/>
          </a:solidFill>
          <a:ln w="25400">
            <a:solidFill>
              <a:srgbClr val="06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3774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D6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566160" y="3291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11480" y="47091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（TOPIX・配当込み円ベース）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53949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答えは……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カルテ⑤ 正解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06D6A0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2344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正解は、日本株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　</a:t>
            </a:r>
            <a:pPr indent="0" marL="0">
              <a:lnSpc>
                <a:spcPct val="140000"/>
              </a:lnSpc>
              <a:buNone/>
            </a:pPr>
            <a:r>
              <a:rPr lang="en-US" sz="2500" b="1" dirty="0">
                <a:solidFill>
                  <a:srgbClr val="06D6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 → 約405万円
</a:t>
            </a:r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　</a:t>
            </a:r>
            <a:pPr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 → 約358万円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66344" y="3685032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060C1A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3611880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FDFBF4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37398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D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出典（一次情報）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397764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JPX（日本取引所グループ）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" y="425196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TOPIX Factsheet（2026年6月末）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" y="4581144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構成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1,638銘柄・浮動株時価総額加重（上限10%）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2648" y="4873752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10年実績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年率 15.0%／リスク 13.7%（配当込み・円）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2648" y="516636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最近の変化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2026年10月〜「次世代TOPIX」へ移行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2648" y="5586984"/>
            <a:ext cx="5632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6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jpx.co.jp/markets/indices/topix/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カルテ⑤ 最近の変化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411480" y="640080"/>
            <a:ext cx="1463040" cy="402336"/>
          </a:xfrm>
          <a:prstGeom prst="roundRect">
            <a:avLst>
              <a:gd name="adj" fmla="val 38636"/>
            </a:avLst>
          </a:prstGeom>
          <a:solidFill>
            <a:srgbClr val="06D6A0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64008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2026年10月〜 次世代TOPIXへ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2011680"/>
            <a:ext cx="6035040" cy="868680"/>
          </a:xfrm>
          <a:prstGeom prst="roundRect">
            <a:avLst>
              <a:gd name="adj" fmla="val 1052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D6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対象拡大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2648" y="2468880"/>
            <a:ext cx="5632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スタンダード・グロース市場も選定対象に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3063240"/>
            <a:ext cx="6035040" cy="868680"/>
          </a:xfrm>
          <a:prstGeom prst="roundRect">
            <a:avLst>
              <a:gd name="adj" fmla="val 10526"/>
            </a:avLst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31729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D6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基準で絞る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12648" y="3520440"/>
            <a:ext cx="5632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売買代金回転率 0.14以上／浮動株時価総額 累積上位97%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114800"/>
            <a:ext cx="6035040" cy="868680"/>
          </a:xfrm>
          <a:prstGeom prst="roundRect">
            <a:avLst>
              <a:gd name="adj" fmla="val 10526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" y="42245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D6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段階除外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2648" y="4572000"/>
            <a:ext cx="5632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基準を満たさない企業は8段階で比率低減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5577840"/>
            <a:ext cx="6035040" cy="749808"/>
          </a:xfrm>
          <a:prstGeom prst="roundRect">
            <a:avLst>
              <a:gd name="adj" fmla="val 12195"/>
            </a:avLst>
          </a:prstGeom>
          <a:solidFill>
            <a:srgbClr val="142544"/>
          </a:solidFill>
          <a:ln w="15875">
            <a:solidFill>
              <a:srgbClr val="F2C1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577840"/>
            <a:ext cx="5577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　</a:t>
            </a:r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過去10年、実は日本株はS&amp;P500に勝っていた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第7章 比較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過去10年の成績表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12344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条件が違う数字。小数点まで比べない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783080"/>
          <a:ext cx="6217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34440"/>
                <a:gridCol w="960120"/>
                <a:gridCol w="822960"/>
                <a:gridCol w="18745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年率リターン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効率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オルカン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12.8%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14.7%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0.73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USD・配当込み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S&amp;P500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13.6%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15.4%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0.88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価格指数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NASDAQ100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21.2%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22.6%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0.94※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価格指数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TOPIX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15.0%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13.7%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1.10※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円・配当込み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FANG+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27.4%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未公表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一部バックテスト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709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※効率＝リターン÷リスクの参考値（厳密なシャープレシオではない）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各指数の公式factsheet・2026年6月末時点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第7章 比較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仮に100円を10年入れていたら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11480" y="1810512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EF476F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8105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8840" y="1810512"/>
            <a:ext cx="3108960" cy="384048"/>
          </a:xfrm>
          <a:prstGeom prst="roundRect">
            <a:avLst>
              <a:gd name="adj" fmla="val 14286"/>
            </a:avLst>
          </a:prstGeom>
          <a:solidFill>
            <a:srgbClr val="EF476F"/>
          </a:solidFill>
          <a:ln/>
        </p:spPr>
      </p:sp>
      <p:sp>
        <p:nvSpPr>
          <p:cNvPr id="7" name="Text 5"/>
          <p:cNvSpPr/>
          <p:nvPr/>
        </p:nvSpPr>
        <p:spPr>
          <a:xfrm>
            <a:off x="2148840" y="222199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1,126円</a:t>
            </a:r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※一部バックテスト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11480" y="2651760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9B5DE5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26517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48840" y="2651760"/>
            <a:ext cx="1888569" cy="384048"/>
          </a:xfrm>
          <a:prstGeom prst="roundRect">
            <a:avLst>
              <a:gd name="adj" fmla="val 14286"/>
            </a:avLst>
          </a:prstGeom>
          <a:solidFill>
            <a:srgbClr val="9B5DE5"/>
          </a:solidFill>
          <a:ln/>
        </p:spPr>
      </p:sp>
      <p:sp>
        <p:nvSpPr>
          <p:cNvPr id="11" name="Text 9"/>
          <p:cNvSpPr/>
          <p:nvPr/>
        </p:nvSpPr>
        <p:spPr>
          <a:xfrm>
            <a:off x="2148840" y="30632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684円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11480" y="3493008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34930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3493008"/>
            <a:ext cx="1118232" cy="384048"/>
          </a:xfrm>
          <a:prstGeom prst="roundRect">
            <a:avLst>
              <a:gd name="adj" fmla="val 14286"/>
            </a:avLst>
          </a:prstGeom>
          <a:solidFill>
            <a:srgbClr val="06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9044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405円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11480" y="4334256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F2C14E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43342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4334256"/>
            <a:ext cx="988462" cy="384048"/>
          </a:xfrm>
          <a:prstGeom prst="roundRect">
            <a:avLst>
              <a:gd name="adj" fmla="val 14286"/>
            </a:avLst>
          </a:prstGeom>
          <a:solidFill>
            <a:srgbClr val="F2C14E"/>
          </a:solidFill>
          <a:ln/>
        </p:spPr>
      </p:sp>
      <p:sp>
        <p:nvSpPr>
          <p:cNvPr id="19" name="Text 17"/>
          <p:cNvSpPr/>
          <p:nvPr/>
        </p:nvSpPr>
        <p:spPr>
          <a:xfrm>
            <a:off x="2148840" y="47457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358円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11480" y="5175504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4CC9F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517550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148840" y="5175504"/>
            <a:ext cx="919435" cy="384048"/>
          </a:xfrm>
          <a:prstGeom prst="roundRect">
            <a:avLst>
              <a:gd name="adj" fmla="val 14286"/>
            </a:avLst>
          </a:prstGeom>
          <a:solidFill>
            <a:srgbClr val="4CC9F0"/>
          </a:solidFill>
          <a:ln/>
        </p:spPr>
      </p:sp>
      <p:sp>
        <p:nvSpPr>
          <p:cNvPr id="23" name="Text 21"/>
          <p:cNvSpPr/>
          <p:nvPr/>
        </p:nvSpPr>
        <p:spPr>
          <a:xfrm>
            <a:off x="2148840" y="558698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333円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各指数の公表年率からの単純複利換算 ※前提は指数ごとに異なる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第8章 プロの未来予測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今後10〜15年の期待リターン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 </a:t>
            </a:r>
            <a:pPr indent="0" marL="0">
              <a:buNone/>
            </a:pPr>
            <a:r>
              <a:rPr lang="en-US" sz="3600" b="1" dirty="0">
                <a:solidFill>
                  <a:srgbClr val="06D6A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7.0%</a:t>
            </a:r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＞ 米国大型株 </a:t>
            </a:r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4.9%</a:t>
            </a:r>
            <a:endParaRPr lang="en-US" sz="17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33172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80160"/>
                <a:gridCol w="12801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資産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複利期待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算術平均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日本株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8.3%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17.1%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全世界株式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5.2%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6.8%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18.9%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米国大型株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4.9%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6.6%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19.3%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日本円現金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0.1%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66344" y="4736592"/>
            <a:ext cx="6035040" cy="1691640"/>
          </a:xfrm>
          <a:prstGeom prst="roundRect">
            <a:avLst>
              <a:gd name="adj" fmla="val 3243"/>
            </a:avLst>
          </a:prstGeom>
          <a:solidFill>
            <a:srgbClr val="060C1A"/>
          </a:solidFill>
          <a:ln/>
        </p:spPr>
      </p:sp>
      <p:sp>
        <p:nvSpPr>
          <p:cNvPr id="7" name="Shape 4"/>
          <p:cNvSpPr/>
          <p:nvPr/>
        </p:nvSpPr>
        <p:spPr>
          <a:xfrm>
            <a:off x="411480" y="4663440"/>
            <a:ext cx="6035040" cy="1691640"/>
          </a:xfrm>
          <a:prstGeom prst="roundRect">
            <a:avLst>
              <a:gd name="adj" fmla="val 3243"/>
            </a:avLst>
          </a:prstGeom>
          <a:solidFill>
            <a:srgbClr val="FDFBF4"/>
          </a:solidFill>
          <a:ln/>
        </p:spPr>
      </p:sp>
      <p:sp>
        <p:nvSpPr>
          <p:cNvPr id="8" name="Text 5"/>
          <p:cNvSpPr/>
          <p:nvPr/>
        </p:nvSpPr>
        <p:spPr>
          <a:xfrm>
            <a:off x="612648" y="47914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D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出典（一次情報）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12648" y="502920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J.P.モルガン・アセット・マネジメント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2648" y="530352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 超長期市場予測（LTCMA）日本円版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12648" y="5632704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</a:t>
            </a:r>
            <a:pPr indent="0" marL="0">
              <a:buNone/>
            </a:pPr>
            <a:r>
              <a:rPr lang="en-US" sz="1300" b="1" dirty="0">
                <a:solidFill>
                  <a:srgbClr val="2029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円ベースでは日本株の期待リターンが最上位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12648" y="6044184"/>
            <a:ext cx="5632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6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am.jpmorgan.com（LTCMA 2026 日本円マトリックス）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第8章 リスク1単位あたりの効率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将来モデルのシャープレシオ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1737360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7373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日本株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8840" y="1737360"/>
            <a:ext cx="3200400" cy="384048"/>
          </a:xfrm>
          <a:prstGeom prst="roundRect">
            <a:avLst>
              <a:gd name="adj" fmla="val 14286"/>
            </a:avLst>
          </a:prstGeom>
          <a:solidFill>
            <a:srgbClr val="06D6A0"/>
          </a:solidFill>
          <a:ln/>
        </p:spPr>
      </p:sp>
      <p:sp>
        <p:nvSpPr>
          <p:cNvPr id="7" name="Text 5"/>
          <p:cNvSpPr/>
          <p:nvPr/>
        </p:nvSpPr>
        <p:spPr>
          <a:xfrm>
            <a:off x="5458968" y="170992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0.41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11480" y="2578608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4CC9F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257860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48840" y="2578608"/>
            <a:ext cx="2263698" cy="384048"/>
          </a:xfrm>
          <a:prstGeom prst="roundRect">
            <a:avLst>
              <a:gd name="adj" fmla="val 14286"/>
            </a:avLst>
          </a:prstGeom>
          <a:solidFill>
            <a:srgbClr val="4CC9F0"/>
          </a:solidFill>
          <a:ln/>
        </p:spPr>
      </p:sp>
      <p:sp>
        <p:nvSpPr>
          <p:cNvPr id="11" name="Text 9"/>
          <p:cNvSpPr/>
          <p:nvPr/>
        </p:nvSpPr>
        <p:spPr>
          <a:xfrm>
            <a:off x="4522266" y="2551176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0.29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11480" y="3419856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F2C14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34198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S&amp;P500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3419856"/>
            <a:ext cx="2107580" cy="384048"/>
          </a:xfrm>
          <a:prstGeom prst="roundRect">
            <a:avLst>
              <a:gd name="adj" fmla="val 14286"/>
            </a:avLst>
          </a:prstGeom>
          <a:solidFill>
            <a:srgbClr val="F2C14E"/>
          </a:solidFill>
          <a:ln/>
        </p:spPr>
      </p:sp>
      <p:sp>
        <p:nvSpPr>
          <p:cNvPr id="15" name="Text 13"/>
          <p:cNvSpPr/>
          <p:nvPr/>
        </p:nvSpPr>
        <p:spPr>
          <a:xfrm>
            <a:off x="4366148" y="3392424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0.27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11480" y="4261104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9B5DE5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426110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4261104"/>
            <a:ext cx="1795346" cy="384048"/>
          </a:xfrm>
          <a:prstGeom prst="roundRect">
            <a:avLst>
              <a:gd name="adj" fmla="val 14286"/>
            </a:avLst>
          </a:prstGeom>
          <a:solidFill>
            <a:srgbClr val="9B5DE5"/>
          </a:solidFill>
          <a:ln/>
        </p:spPr>
      </p:sp>
      <p:sp>
        <p:nvSpPr>
          <p:cNvPr id="19" name="Text 17"/>
          <p:cNvSpPr/>
          <p:nvPr/>
        </p:nvSpPr>
        <p:spPr>
          <a:xfrm>
            <a:off x="4053914" y="423367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0.23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11480" y="5102352"/>
            <a:ext cx="1417320" cy="384048"/>
          </a:xfrm>
          <a:prstGeom prst="roundRect">
            <a:avLst>
              <a:gd name="adj" fmla="val 40476"/>
            </a:avLst>
          </a:prstGeom>
          <a:solidFill>
            <a:srgbClr val="EF476F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510235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148840" y="5102352"/>
            <a:ext cx="1326995" cy="384048"/>
          </a:xfrm>
          <a:prstGeom prst="roundRect">
            <a:avLst>
              <a:gd name="adj" fmla="val 14286"/>
            </a:avLst>
          </a:prstGeom>
          <a:solidFill>
            <a:srgbClr val="EF476F"/>
          </a:solidFill>
          <a:ln/>
        </p:spPr>
      </p:sp>
      <p:sp>
        <p:nvSpPr>
          <p:cNvPr id="23" name="Text 21"/>
          <p:cNvSpPr/>
          <p:nvPr/>
        </p:nvSpPr>
        <p:spPr>
          <a:xfrm>
            <a:off x="3585563" y="50749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0.17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11480" y="58978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リスクを取るほど、効率は悪くなる前提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JPモルガン予測＋過去リスクからの試算 ※当チャンネル試算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第9章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モンテカルロ・シミュレーション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5448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たとえるなら 天気予報
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明日の空を何千回も再現して、</a:t>
            </a:r>
            <a:endParaRPr lang="en-US" sz="2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雨だった回数を数える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" y="37947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今からやるのは、その資産運用版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4343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あなたの20年後を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15万回 再現します</a:t>
            </a:r>
            <a:endParaRPr lang="en-US" sz="2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第9章 シミュレーション条件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毎月5万円 × 20年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6002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元本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468880" y="16002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1,200万円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1480" y="2258568"/>
            <a:ext cx="6035040" cy="0"/>
          </a:xfrm>
          <a:prstGeom prst="line">
            <a:avLst/>
          </a:prstGeom>
          <a:noFill/>
          <a:ln w="9525">
            <a:solidFill>
              <a:srgbClr val="2A3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235000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試行回数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468880" y="235000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15万回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3008376"/>
            <a:ext cx="6035040" cy="0"/>
          </a:xfrm>
          <a:prstGeom prst="line">
            <a:avLst/>
          </a:prstGeom>
          <a:noFill/>
          <a:ln w="9525">
            <a:solidFill>
              <a:srgbClr val="2A3B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09981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期待リターン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68880" y="309981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JPモルガン2026年予測（円）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11480" y="3758184"/>
            <a:ext cx="6035040" cy="0"/>
          </a:xfrm>
          <a:prstGeom prst="line">
            <a:avLst/>
          </a:prstGeom>
          <a:noFill/>
          <a:ln w="9525">
            <a:solidFill>
              <a:srgbClr val="2A3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84962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384962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米国大型株と同じ期待リターン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4507992"/>
            <a:ext cx="6035040" cy="0"/>
          </a:xfrm>
          <a:prstGeom prst="line">
            <a:avLst/>
          </a:prstGeom>
          <a:noFill/>
          <a:ln w="9525">
            <a:solidFill>
              <a:srgbClr val="2A3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59943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468880" y="459943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リスク30%と仮定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11480" y="5257800"/>
            <a:ext cx="6035040" cy="0"/>
          </a:xfrm>
          <a:prstGeom prst="line">
            <a:avLst/>
          </a:prstGeom>
          <a:noFill/>
          <a:ln w="9525">
            <a:solidFill>
              <a:srgbClr val="2A3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53492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除外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468880" y="53492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手数料・税金・インフレ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正規分布に基づく簡易モデル ※当チャンネル試算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第9章 結果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20年後、いくらになったか</a:t>
            </a:r>
            <a:endParaRPr lang="en-US" sz="2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61264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508760"/>
                <a:gridCol w="1508760"/>
                <a:gridCol w="15087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悪い未来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真ん中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良い未来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オルカン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1,082万円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2,101万円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4,395万円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S&amp;P500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1,040万円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2,030万円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4,300万円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NASDAQ100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880万円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1,900万円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4,560万円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日本株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1,360万円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2,550万円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5,060万円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FANG+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6B6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620万円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4,960万円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11480" y="4892040"/>
            <a:ext cx="6035040" cy="1051560"/>
          </a:xfrm>
          <a:prstGeom prst="roundRect">
            <a:avLst>
              <a:gd name="adj" fmla="val 8696"/>
            </a:avLst>
          </a:prstGeom>
          <a:solidFill>
            <a:srgbClr val="3A1220"/>
          </a:solidFill>
          <a:ln w="15875">
            <a:solidFill>
              <a:srgbClr val="FF6B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89204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FANG+：良い未来は約5,000万。</a:t>
            </a:r>
            <a:endParaRPr lang="en-US" sz="14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でも悪い未来は 元本1,200万円 → 620万円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悪い未来=下位10% 良い未来=上位10% ※当チャンネル試算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第10章 何対何がいいのか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混ぜるほど、中央値は下がった</a:t>
            </a:r>
            <a:endParaRPr lang="en-US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600200"/>
          <a:ext cx="6309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1188720"/>
                <a:gridCol w="1188720"/>
                <a:gridCol w="100584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配分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悪い未来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真ん中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良い未来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元本割れ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DD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オルカン100%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DD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1,082万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DD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2,101万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DD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4,395万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DD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 対 10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1,071万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2,089万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4,401万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14.6%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 対 20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1,057万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2,075万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4,410万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5F7F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15.2%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NASDAQ100だけ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880万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1,900万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4,560万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約22%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B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11480" y="4343400"/>
            <a:ext cx="6035040" cy="155448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434340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意外な結果
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中央値の1位は オルカン100%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「NASDAQ100が今後も勝つ」という前提を置いていないため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11480" y="64556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5%刻み・年1回リバランス・15万回 ※当チャンネル試算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あなたはどのタイプ？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645920"/>
            <a:ext cx="6035040" cy="868680"/>
          </a:xfrm>
          <a:prstGeom prst="roundRect">
            <a:avLst>
              <a:gd name="adj" fmla="val 1052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数値上の最適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02996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DC9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 100%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11480" y="2697480"/>
            <a:ext cx="6035040" cy="868680"/>
          </a:xfrm>
          <a:prstGeom prst="roundRect">
            <a:avLst>
              <a:gd name="adj" fmla="val 1052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7889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入れるなら最良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オルカン95 ： NAS100 5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11480" y="3749040"/>
            <a:ext cx="6035040" cy="868680"/>
          </a:xfrm>
          <a:prstGeom prst="roundRect">
            <a:avLst>
              <a:gd name="adj" fmla="val 10526"/>
            </a:avLst>
          </a:prstGeom>
          <a:solidFill>
            <a:srgbClr val="143025"/>
          </a:solidFill>
          <a:ln w="25400">
            <a:solidFill>
              <a:srgbClr val="F2C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840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実用的な基本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413308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オルカン90 ： NAS100 10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11480" y="4800600"/>
            <a:ext cx="6035040" cy="868680"/>
          </a:xfrm>
          <a:prstGeom prst="roundRect">
            <a:avLst>
              <a:gd name="adj" fmla="val 1052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892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積極型の上限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518464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オルカン80 ： NAS100 20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11480" y="5943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サテライトは「期待に賭けるリスク予算」。魔法ではない</a:t>
            </a:r>
            <a:endParaRPr lang="en-US" sz="13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大事な注意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11480" y="658368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それは分散ではなく、増量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577840" cy="18288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916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オルカン ＝ 幕の内弁当
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から揚げ（米国テック）はもう入っている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1480" y="3611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40080" y="4114800"/>
            <a:ext cx="5577840" cy="1417320"/>
          </a:xfrm>
          <a:prstGeom prst="roundRect">
            <a:avLst>
              <a:gd name="adj" fmla="val 7742"/>
            </a:avLst>
          </a:prstGeom>
          <a:solidFill>
            <a:srgbClr val="2A1B3D"/>
          </a:solidFill>
          <a:ln w="19050">
            <a:solidFill>
              <a:srgbClr val="9B5D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11480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b="1" dirty="0">
                <a:solidFill>
                  <a:srgbClr val="9B5DE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NASDAQ100 ＝ から揚げ増量
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新しいおかずではなく、同じ具の追加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11480" y="5852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C1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分かった上で増やすなら、あり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7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あなたの比率は？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11480" y="23774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どれを、何%ずつ？</a:t>
            </a:r>
            <a:endParaRPr lang="en-US" sz="20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その比率にした理由は？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188720" y="3840480"/>
            <a:ext cx="4480560" cy="868680"/>
          </a:xfrm>
          <a:prstGeom prst="roundRect">
            <a:avLst>
              <a:gd name="adj" fmla="val 49474"/>
            </a:avLst>
          </a:prstGeom>
          <a:solidFill>
            <a:srgbClr val="F2C14E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38404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1B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コメント欄で教えてください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1480" y="51206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高評価・チャンネル登録もお願いします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次回は火曜日に投稿します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2026-07-28T10:25:19Z</dcterms:created>
  <dcterms:modified xsi:type="dcterms:W3CDTF">2026-07-28T10:25:19Z</dcterms:modified>
</cp:coreProperties>
</file>