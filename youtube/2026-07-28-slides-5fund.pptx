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【スライド1】
表示タイミング：オープニング「今回は、オルカン、S&amp;P500…結局どれを買えばいいのか」
章：オープニング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【スライド2】
表示タイミング：「この選択を間違えただけで、将来の資産が460万円少なくなったり…」
章：オープニング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【スライド3】
表示タイミング：「この動画を見ると、今注目されてる5本の中身とルールが分かります」
章：オープニング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【スライド4】
表示タイミング：マネコ「もう全部、20%ずつ買えばいいですかね？」
章：受付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【スライド5】
表示タイミング：正直タイム「一番増えたファンドと、今後一番増えるファンドは違う」
章：正直タイム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【スライド6】
表示タイミング：第1章「5本をそれぞれ一言で表すと」
章：第1章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【スライド7】
表示タイミング：第2章「ただし、世界に均等投資ではありません。米国が約64%」
章：第2章 オルカン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【スライド8】
表示タイミング：「もし10年前に100万円投資していたら――約333万円です」
章：第2章 オルカン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【スライド9】
表示タイミング：「上位10銘柄はこれで、あわせると約23%です」
章：第2章 オルカン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【スライド10】
表示タイミング：「最大の強みは、どの国が勝つかを自分で当てなくていいこと」
章：第2章 オルカン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【スライド11】
表示タイミング：「10年前は5割前後だった米国比率が、いまは64%」
章：第2章 オルカン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【スライド12】
表示タイミング：第3章「ただの機械選びではありません（採用の4条件）」
章：第3章 S&amp;P500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【スライド13】
表示タイミング：「過去10年の年率リターンは約13.6%。100万円は約358万円です」
章：第3章 S&amp;P500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【スライド14】
表示タイミング：マネコ「さっきのオルカンと、ほぼ同じ顔ぶれじゃないですか」
章：第3章 S&amp;P500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【スライド15】
表示タイミング：「上位10銘柄で約36%。情報技術は約38%」
章：第3章 S&amp;P500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【スライド16】
表示タイミング：第4章「金融会社を除いた大型企業100社。テクノロジーが約69%」
章：第4章 NASDAQ100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【スライド17】
表示タイミング：「過去10年の年率リターンは約21.2%。100万円は約684万円です」
章：第4章 NASDAQ100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【スライド18】
表示タイミング：「上位10銘柄は、こちら」（マイクロン・AMDが上位）
章：第4章 NASDAQ100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【スライド19】
表示タイミング：「2022年に約33%下落し、翌2023年には約54%上昇しました」
章：第4章 NASDAQ100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【スライド20】
表示タイミング：「2026年6月にはアステラ・ラブズ、コアウィーブ…が採用」
章：第4章 NASDAQ100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【スライド21】
表示タイミング：マネコ「上位10銘柄が、3本ともほぼ同じです」
章：中間ブリッジ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【スライド22】
表示タイミング：第5章「FANG+は、わずか10社です」
章：第5章 FANG+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【スライド23】
表示タイミング：「100万円は約1,126万円。11倍です」
章：第5章 FANG+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【スライド24】
表示タイミング：「今年の上半期、FANG+は+2.4%。5本の中で、最下位でした」
章：第5章 FANG+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【スライド25】
表示タイミング：第6章「ここで、クイズです。S&amp;P500と日本株、どっち？」
章：第6章 日本株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【スライド26】
表示タイミング：「正解は――日本株です」
章：第6章 日本株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【スライド27】
表示タイミング：「銀行、自動車、商社、機械。米国指数とは顔ぶれが全然違う」
章：第6章 日本株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【スライド28】
表示タイミング：「2026年10月から、次世代TOPIXへの移行が始まります」
章：第6章 日本株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【スライド29】
表示タイミング：第7章「仮に100円を10年投資していたら、こうです」
章：第7章 比較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【スライド30】
表示タイミング：「ただしNASDAQ100のリスクは約22.6%。オルカンの約1.5倍」
章：第7章 比較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【スライド31】
表示タイミング：第8章「JPモルガンは、今後10〜15年の期待リターンを毎年公表」
章：第8章 JPモルガン予測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【スライド32】
表示タイミング：「リスク1単位あたりの効率を出すと――」
章：第8章 JPモルガン予測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【スライド33】
表示タイミング：第9章「例えるなら、天気予報です」
章：第9章 シミュレーション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【スライド34】
表示タイミング：「悪いケース、真ん中、良いケースに分けました」（結果表）
章：第9章 シミュレーション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【スライド35】
表示タイミング：マネコ「FANG+、良いと約5,000万円なのに、悪いと620万円……？」
章：第9章 シミュレーション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【スライド36】
表示タイミング：第10章「例えるなら、幕の内弁当のから揚げ増量です」
章：第10章 結論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【スライド37】
表示タイミング：「中央値が最も高かったのは――オルカン100%でした」
章：第10章 結論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【スライド38】
表示タイミング：「元本割れの確率も、オルカン100%の約14.3%に対して…」
章：第10章 結論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【スライド39】
表示タイミング：「そこで現実的な結論は――」（4段階のテロップ）
章：第10章 結論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【スライド40】
表示タイミング：第11章「S&amp;P500は、すでにオルカンを持つなら追加の必要性は高くない」
章：第11章 他の3本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【スライド41】
表示タイミング：第12章「年に1回だけ比率を確認して、元の90対10に戻す」
章：第12章 提案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【スライド42】
表示タイミング：マネコ「私は絶対、売りませんから！」のあと・数年後シーンの頭
章：数年後①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【スライド43】
表示タイミング：マネコ「私、底で全部売りました」／「売った半年後、相場は戻った」
章：数年後②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【スライド44】
表示タイミング：こうの解説「マネコさんの失敗は、3つありました」
章：解説（教訓）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【スライド45】
表示タイミング：「そして教訓は、1つだけ」
章：解説（教訓）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【スライド46】
表示タイミング：「まとめると、オルカンは…」（5本の役割）
章：まとめ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【スライド47】
表示タイミング：「最も大切なのは、20年間やめずに積み立てられること」
章：まとめ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【スライド48】
表示タイミング：CTA「どれを、何%ずつ積み立てていますか？」
章：CTA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結局、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どれ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を買えばいい？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1417320" y="3291840"/>
            <a:ext cx="4023360" cy="4937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32918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417320" y="3867912"/>
            <a:ext cx="4023360" cy="4937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7"/>
          <p:cNvSpPr/>
          <p:nvPr/>
        </p:nvSpPr>
        <p:spPr>
          <a:xfrm>
            <a:off x="1417320" y="386791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417320" y="4443984"/>
            <a:ext cx="4023360" cy="4937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1417320" y="4443984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417320" y="5020056"/>
            <a:ext cx="4023360" cy="4937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1417320" y="5020056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417320" y="5596128"/>
            <a:ext cx="4023360" cy="4937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1417320" y="5596128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57200" y="6217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銀行の窓口では言いにくい本音で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間違えると、どうなるか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47672"/>
            <a:ext cx="749808" cy="74980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94767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3280" dirty="0"/>
          </a:p>
        </p:txBody>
      </p:sp>
      <p:sp>
        <p:nvSpPr>
          <p:cNvPr id="7" name="Text 4"/>
          <p:cNvSpPr/>
          <p:nvPr/>
        </p:nvSpPr>
        <p:spPr>
          <a:xfrm>
            <a:off x="1600200" y="16916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将来の資産が 460万円 少なくなる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457200" y="3035808"/>
            <a:ext cx="5943600" cy="0"/>
          </a:xfrm>
          <a:prstGeom prst="line">
            <a:avLst/>
          </a:prstGeom>
          <a:noFill/>
          <a:ln w="12700">
            <a:solidFill>
              <a:srgbClr val="C9D4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410712"/>
            <a:ext cx="749808" cy="74980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4107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3280" dirty="0"/>
          </a:p>
        </p:txBody>
      </p:sp>
      <p:sp>
        <p:nvSpPr>
          <p:cNvPr id="11" name="Text 8"/>
          <p:cNvSpPr/>
          <p:nvPr/>
        </p:nvSpPr>
        <p:spPr>
          <a:xfrm>
            <a:off x="1600200" y="315468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同じ会社を 重ね買いしてしまう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457200" y="4498848"/>
            <a:ext cx="5943600" cy="0"/>
          </a:xfrm>
          <a:prstGeom prst="line">
            <a:avLst/>
          </a:prstGeom>
          <a:noFill/>
          <a:ln w="12700">
            <a:solidFill>
              <a:srgbClr val="C9D4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873752"/>
            <a:ext cx="749808" cy="74980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8737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3280" dirty="0"/>
          </a:p>
        </p:txBody>
      </p:sp>
      <p:sp>
        <p:nvSpPr>
          <p:cNvPr id="15" name="Text 12"/>
          <p:cNvSpPr/>
          <p:nvPr/>
        </p:nvSpPr>
        <p:spPr>
          <a:xfrm>
            <a:off x="1600200" y="461772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暴落で 一番安いところで売る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※当チャンネル試算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この動画を見ると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47088"/>
            <a:ext cx="749808" cy="749808"/>
          </a:xfrm>
          <a:prstGeom prst="ellipse">
            <a:avLst/>
          </a:prstGeom>
          <a:solidFill>
            <a:srgbClr val="0E7A4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8470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</a:t>
            </a:r>
            <a:endParaRPr lang="en-US" sz="3280" dirty="0"/>
          </a:p>
        </p:txBody>
      </p:sp>
      <p:sp>
        <p:nvSpPr>
          <p:cNvPr id="7" name="Text 4"/>
          <p:cNvSpPr/>
          <p:nvPr/>
        </p:nvSpPr>
        <p:spPr>
          <a:xfrm>
            <a:off x="1600200" y="1645920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5本の中身とルールが分かる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48640" y="3081528"/>
            <a:ext cx="749808" cy="749808"/>
          </a:xfrm>
          <a:prstGeom prst="ellipse">
            <a:avLst/>
          </a:prstGeom>
          <a:solidFill>
            <a:srgbClr val="0E7A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0815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</a:t>
            </a:r>
            <a:endParaRPr lang="en-US" sz="3280" dirty="0"/>
          </a:p>
        </p:txBody>
      </p:sp>
      <p:sp>
        <p:nvSpPr>
          <p:cNvPr id="10" name="Text 7"/>
          <p:cNvSpPr/>
          <p:nvPr/>
        </p:nvSpPr>
        <p:spPr>
          <a:xfrm>
            <a:off x="1600200" y="2880360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15万回の計算結果が見られる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548640" y="4315968"/>
            <a:ext cx="749808" cy="749808"/>
          </a:xfrm>
          <a:prstGeom prst="ellipse">
            <a:avLst/>
          </a:prstGeom>
          <a:solidFill>
            <a:srgbClr val="0E7A4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3159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8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</a:t>
            </a:r>
            <a:endParaRPr lang="en-US" sz="3280" dirty="0"/>
          </a:p>
        </p:txBody>
      </p:sp>
      <p:sp>
        <p:nvSpPr>
          <p:cNvPr id="13" name="Text 10"/>
          <p:cNvSpPr/>
          <p:nvPr/>
        </p:nvSpPr>
        <p:spPr>
          <a:xfrm>
            <a:off x="1600200" y="4114800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自分の比率を自分で決められる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7200" y="56235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商品選びの迷いが終わる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全部 20%ずつ 買えばいい？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1031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83464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20%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2633472"/>
            <a:ext cx="210312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834640" y="26334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20%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57200" y="3529584"/>
            <a:ext cx="21031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52958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834640" y="352958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20%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57200" y="4425696"/>
            <a:ext cx="210312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4256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834640" y="44256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20%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321808"/>
            <a:ext cx="210312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53218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834640" y="53218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663440" y="3108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E9F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？</a:t>
            </a:r>
            <a:endParaRPr lang="en-US" sz="8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ここが分かれ道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5943600" cy="132588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55448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一番増えた ファンド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≠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57200" y="3703320"/>
            <a:ext cx="5943600" cy="1325880"/>
          </a:xfrm>
          <a:prstGeom prst="rect">
            <a:avLst/>
          </a:prstGeom>
          <a:solidFill>
            <a:srgbClr val="FFF7DC"/>
          </a:solidFill>
          <a:ln w="31750">
            <a:solidFill>
              <a:srgbClr val="E0A8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70332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今後 一番増える ファンド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5349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増える可能性が高いほど、</a:t>
            </a:r>
            <a:pPr algn="ctr" indent="0" marL="0">
              <a:buNone/>
            </a:pPr>
            <a:r>
              <a:rPr lang="en-US" sz="1900" b="1" dirty="0">
                <a:solidFill>
                  <a:srgbClr val="D7263D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減る可能性も高い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選ぶ「思想」が違う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1828800" cy="5852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002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14600" y="160020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世界を丸ごと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1828800" cy="5852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56032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14600" y="256032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米国の選抜500社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57200" y="3520440"/>
            <a:ext cx="182880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5204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14600" y="352044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成長テック100社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57200" y="4480560"/>
            <a:ext cx="1828800" cy="5852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48056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14600" y="448056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巨大テック10社に集中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457200" y="5440680"/>
            <a:ext cx="1828800" cy="5852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544068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14600" y="544068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日本を幅広く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中身は？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77240" y="1691640"/>
            <a:ext cx="3291840" cy="3291840"/>
          </a:xfrm>
          <a:prstGeom prst="pie">
            <a:avLst>
              <a:gd name="adj1" fmla="val 16200000"/>
              <a:gd name="adj2" fmla="val 8400000"/>
            </a:avLst>
          </a:prstGeom>
          <a:solidFill>
            <a:srgbClr val="2563EB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691640"/>
            <a:ext cx="3291840" cy="3291840"/>
          </a:xfrm>
          <a:prstGeom prst="pie">
            <a:avLst>
              <a:gd name="adj1" fmla="val 8400000"/>
              <a:gd name="adj2" fmla="val 16200000"/>
            </a:avLst>
          </a:prstGeom>
          <a:solidFill>
            <a:srgbClr val="D8E2F2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517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米国
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206240" y="23317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47か国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約2,461銘柄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0624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情報技術だけで 約32%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5257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実は6割アメリカ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457200" y="6035040"/>
            <a:ext cx="5943600" cy="384048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6035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MSCI「ACWI Index Factsheet」2026年6月末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10年前に100万円なら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年率 約12.8%（配当込み・ドル）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100万円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 rot="10800000">
            <a:off x="3154680" y="3310128"/>
            <a:ext cx="548640" cy="457200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862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333万円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公表年率からの単純換算。前提は指数ごとに異なる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上位の顔ぶれ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46504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46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NVIDIA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48056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4.55%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253288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234440" y="24780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Apple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80560" y="24780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4.19%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331927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34440" y="32644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Microsoft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80560" y="32644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2.59%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57200" y="4105656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234440" y="40507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Amazon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80560" y="40507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2.27%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48920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234440" y="48371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Alphabet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480560" y="48371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2.05%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57200" y="5715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上位10社で </a:t>
            </a:r>
            <a:pPr algn="ctr"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約23%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2026年6月末時点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強みと弱み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943600" cy="1965960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0E7A4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600200" y="141732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勝つ国を、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自分で当てなくていい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5943600" cy="1965960"/>
          </a:xfrm>
          <a:prstGeom prst="rect">
            <a:avLst/>
          </a:prstGeom>
          <a:solidFill>
            <a:srgbClr val="FBE9EC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416052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600200" y="361188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爆発力が出にくい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（1位は狙わない）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5806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最下位にならないための商品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米国比率は上がり続けている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10年前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1234440" y="2377440"/>
            <a:ext cx="1188720" cy="1828800"/>
          </a:xfrm>
          <a:prstGeom prst="rect">
            <a:avLst/>
          </a:prstGeom>
          <a:solidFill>
            <a:srgbClr val="C4D3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約50%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0233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いま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1188720" cy="2331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64%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880360" y="3291840"/>
            <a:ext cx="1417320" cy="0"/>
          </a:xfrm>
          <a:prstGeom prst="line">
            <a:avLst/>
          </a:prstGeom>
          <a:noFill/>
          <a:ln w="38100">
            <a:solidFill>
              <a:srgbClr val="D7263D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「世界分散だから安心」ではない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MSCI ACWI 米国比率の推移（概数）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入るのに審査がある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655064"/>
            <a:ext cx="658368" cy="6583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55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371600" y="1600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米国企業であること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642616"/>
            <a:ext cx="658368" cy="6583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6426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71600" y="258775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時価総額 約200億ドル以上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57200" y="3630168"/>
            <a:ext cx="658368" cy="6583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630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371600" y="357530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浮動株が一定以上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57200" y="4617720"/>
            <a:ext cx="658368" cy="65836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617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371600" y="45628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黒字であること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7200" y="5623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赤字では入れない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457200" y="6263640"/>
            <a:ext cx="5943600" cy="384048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62636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 ダウ・ジョーンズ・インデックス 指数メソドロジー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10年前に100万円なら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年率 約13.6%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100万円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 rot="10800000">
            <a:off x="3154680" y="3310128"/>
            <a:ext cx="548640" cy="457200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862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358万円</a:t>
            </a:r>
            <a:endParaRPr lang="en-US" sz="6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上位は</a:t>
            </a:r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同じ顔ぶれ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28600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0480" y="1463040"/>
            <a:ext cx="2286000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0" y="14630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1945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NVIDIA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0" y="21945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NVIDIA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017520" y="2194560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31520" y="292608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9260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Apple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840480" y="292608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7" name="Text 14"/>
          <p:cNvSpPr/>
          <p:nvPr/>
        </p:nvSpPr>
        <p:spPr>
          <a:xfrm>
            <a:off x="3840480" y="29260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Apple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017520" y="2926080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31520" y="365760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5760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840480" y="365760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2" name="Text 19"/>
          <p:cNvSpPr/>
          <p:nvPr/>
        </p:nvSpPr>
        <p:spPr>
          <a:xfrm>
            <a:off x="3840480" y="365760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017520" y="3657600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31520" y="438912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3891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Amazon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3840480" y="438912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0" y="43891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Amazon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3017520" y="4389120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731520" y="512064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512064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Alphabet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3840480" y="5120640"/>
            <a:ext cx="2286000" cy="585216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32" name="Text 29"/>
          <p:cNvSpPr/>
          <p:nvPr/>
        </p:nvSpPr>
        <p:spPr>
          <a:xfrm>
            <a:off x="3840480" y="512064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Alphabet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3017520" y="5120640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57200" y="5943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オルカンの6割が米国だから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500社でも、実態は…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上位10銘柄が占める割合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417320" y="2057400"/>
            <a:ext cx="3108960" cy="3108960"/>
          </a:xfrm>
          <a:prstGeom prst="pie">
            <a:avLst>
              <a:gd name="adj1" fmla="val 16200000"/>
              <a:gd name="adj2" fmla="val 2400000"/>
            </a:avLst>
          </a:prstGeom>
          <a:solidFill>
            <a:srgbClr val="E67E22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2057400"/>
            <a:ext cx="3108960" cy="3108960"/>
          </a:xfrm>
          <a:prstGeom prst="pie">
            <a:avLst>
              <a:gd name="adj1" fmla="val 2400000"/>
              <a:gd name="adj2" fmla="val 16200000"/>
            </a:avLst>
          </a:prstGeom>
          <a:solidFill>
            <a:srgbClr val="F5E3D0"/>
          </a:solidFill>
          <a:ln/>
        </p:spPr>
      </p:sp>
      <p:sp>
        <p:nvSpPr>
          <p:cNvPr id="10" name="Text 7"/>
          <p:cNvSpPr/>
          <p:nvPr/>
        </p:nvSpPr>
        <p:spPr>
          <a:xfrm>
            <a:off x="4617720" y="2651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36%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617720" y="3520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残り490社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 64%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5486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巨大テック数社の影響が強い500社指数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金融ぬきの成長特化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77240" y="1645920"/>
            <a:ext cx="3291840" cy="3291840"/>
          </a:xfrm>
          <a:prstGeom prst="pie">
            <a:avLst>
              <a:gd name="adj1" fmla="val 16200000"/>
              <a:gd name="adj2" fmla="val 9480000"/>
            </a:avLst>
          </a:prstGeom>
          <a:solidFill>
            <a:srgbClr val="7C3AED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645920"/>
            <a:ext cx="3291840" cy="3291840"/>
          </a:xfrm>
          <a:prstGeom prst="pie">
            <a:avLst>
              <a:gd name="adj1" fmla="val 9480000"/>
              <a:gd name="adj2" fmla="val 16200000"/>
            </a:avLst>
          </a:prstGeom>
          <a:solidFill>
            <a:srgbClr val="E4DBF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テック
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69%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251960" y="2377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半導体・AI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クラウドの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「濃縮版」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5212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銀行・保険は </a:t>
            </a:r>
            <a:pPr algn="ctr"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0社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7200" y="6035040"/>
            <a:ext cx="5943600" cy="384048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6035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Nasdaq「Nasdaq-100 Factsheet」2026年6月末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10年前に100万円なら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年率 約21.2%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100万円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 rot="10800000">
            <a:off x="3154680" y="3310128"/>
            <a:ext cx="548640" cy="457200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862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3AE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684万円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457200" y="52303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ただし2022年は −33%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上位の顔ぶれ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46504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46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NVIDIA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48056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7.60%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253288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234440" y="24780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Apple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80560" y="24780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6.67%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331927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34440" y="32644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Micron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80560" y="32644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5.64%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57200" y="4105656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234440" y="40507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Microsoft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480560" y="40507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4.35%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48920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234440" y="48371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AMD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480560" y="48371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4.11%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57200" y="5715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半導体の比率が明確に高い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2026年6月末時点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この振れ幅に耐えられるか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2022年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325880" y="2286000"/>
            <a:ext cx="1188720" cy="18288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−33%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93192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2023年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43400" y="2286000"/>
            <a:ext cx="1188720" cy="1828800"/>
          </a:xfrm>
          <a:prstGeom prst="rect">
            <a:avLst/>
          </a:prstGeom>
          <a:solidFill>
            <a:srgbClr val="0E7A46"/>
          </a:solidFill>
          <a:ln/>
        </p:spPr>
      </p:sp>
      <p:sp>
        <p:nvSpPr>
          <p:cNvPr id="12" name="Text 9"/>
          <p:cNvSpPr/>
          <p:nvPr/>
        </p:nvSpPr>
        <p:spPr>
          <a:xfrm>
            <a:off x="379476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+54%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1年でこれだけ動く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新しく入った5社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914400" y="1600200"/>
            <a:ext cx="5029200" cy="62179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60020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アステラ・ラブズ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914400" y="2386584"/>
            <a:ext cx="5029200" cy="62179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38658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コアウィーブ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14400" y="3172968"/>
            <a:ext cx="5029200" cy="62179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7296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ネビウス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914400" y="3959352"/>
            <a:ext cx="5029200" cy="62179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95935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ロケット・ラボ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14400" y="4745736"/>
            <a:ext cx="5029200" cy="621792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74573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テラダイン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457200" y="5669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AIインフラ・宇宙・半導体を早く取り込む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2026年5月のルール改定で年4回の見直しに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全部買い＝</a:t>
            </a:r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D7263D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重ね買い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691640"/>
            <a:ext cx="169164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6916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27048" y="2350008"/>
            <a:ext cx="3044952" cy="96012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560320" y="1691640"/>
            <a:ext cx="169164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0" y="16916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01568" y="2350008"/>
            <a:ext cx="1170432" cy="96012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434840" y="1691640"/>
            <a:ext cx="169164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169164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276088" y="2350008"/>
            <a:ext cx="-704088" cy="96012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463040" y="3474720"/>
            <a:ext cx="3931920" cy="1600200"/>
          </a:xfrm>
          <a:prstGeom prst="rect">
            <a:avLst/>
          </a:prstGeom>
          <a:solidFill>
            <a:srgbClr val="F1F5FB"/>
          </a:solidFill>
          <a:ln w="31750">
            <a:solidFill>
              <a:srgbClr val="D72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7472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NVIDIA・Apple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Microsoft・Amazon…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" y="5440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行き先は、同じ会社</a:t>
            </a:r>
            <a:endParaRPr lang="en-US" sz="2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たった10社に集中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94360" y="1463040"/>
            <a:ext cx="2697480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46304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Meta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74720" y="1463040"/>
            <a:ext cx="2697480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146304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Apple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4360" y="2286000"/>
            <a:ext cx="2697480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28600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Amazon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74720" y="2286000"/>
            <a:ext cx="2697480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228600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Netflix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94360" y="3108960"/>
            <a:ext cx="2697480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310896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474720" y="3108960"/>
            <a:ext cx="2697480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0" y="310896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Alphabet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94360" y="3931920"/>
            <a:ext cx="2697480" cy="676656"/>
          </a:xfrm>
          <a:prstGeom prst="rect">
            <a:avLst/>
          </a:prstGeom>
          <a:solidFill>
            <a:srgbClr val="F5A6B0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93192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2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Micron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474720" y="3931920"/>
            <a:ext cx="2697480" cy="676656"/>
          </a:xfrm>
          <a:prstGeom prst="rect">
            <a:avLst/>
          </a:prstGeom>
          <a:solidFill>
            <a:srgbClr val="F5A6B0"/>
          </a:solidFill>
          <a:ln/>
        </p:spPr>
      </p:sp>
      <p:sp>
        <p:nvSpPr>
          <p:cNvPr id="22" name="Text 19"/>
          <p:cNvSpPr/>
          <p:nvPr/>
        </p:nvSpPr>
        <p:spPr>
          <a:xfrm>
            <a:off x="3474720" y="393192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2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NVIDIA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94360" y="4754880"/>
            <a:ext cx="2697480" cy="676656"/>
          </a:xfrm>
          <a:prstGeom prst="rect">
            <a:avLst/>
          </a:prstGeom>
          <a:solidFill>
            <a:srgbClr val="F5A6B0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75488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2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Palantir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474720" y="4754880"/>
            <a:ext cx="2697480" cy="676656"/>
          </a:xfrm>
          <a:prstGeom prst="rect">
            <a:avLst/>
          </a:prstGeom>
          <a:solidFill>
            <a:srgbClr val="F5A6B0"/>
          </a:solidFill>
          <a:ln/>
        </p:spPr>
      </p:sp>
      <p:sp>
        <p:nvSpPr>
          <p:cNvPr id="26" name="Text 23"/>
          <p:cNvSpPr/>
          <p:nvPr/>
        </p:nvSpPr>
        <p:spPr>
          <a:xfrm>
            <a:off x="3474720" y="475488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12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Broadcom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57200" y="5669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各10%ずつ　</a:t>
            </a:r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固定6社＋入替4社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57200" y="6199632"/>
            <a:ext cx="5943600" cy="384048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61996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ICE「NYSE FANG+ Index」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10年当てはめると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年率 約27.4%（2014年〜）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100万円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 rot="10800000">
            <a:off x="3154680" y="3310128"/>
            <a:ext cx="548640" cy="457200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862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C262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1,126万円</a:t>
            </a:r>
            <a:endParaRPr lang="en-US" sz="6400" dirty="0"/>
          </a:p>
        </p:txBody>
      </p:sp>
      <p:sp>
        <p:nvSpPr>
          <p:cNvPr id="11" name="Shape 8"/>
          <p:cNvSpPr/>
          <p:nvPr/>
        </p:nvSpPr>
        <p:spPr>
          <a:xfrm>
            <a:off x="685800" y="5120640"/>
            <a:ext cx="5486400" cy="914400"/>
          </a:xfrm>
          <a:prstGeom prst="rect">
            <a:avLst/>
          </a:prstGeom>
          <a:solidFill>
            <a:srgbClr val="FBE9EC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120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　</a:t>
            </a:r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2017年以前は「後づけ」の数字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今年は</a:t>
            </a:r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D7263D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最下位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700784"/>
            <a:ext cx="1645920" cy="4937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70078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700784"/>
            <a:ext cx="3017520" cy="4937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5413248" y="16642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+20.3%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569464"/>
            <a:ext cx="1645920" cy="4937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56946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86000" y="2569464"/>
            <a:ext cx="2764821" cy="4937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5160549" y="25328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+18.6%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57200" y="3438144"/>
            <a:ext cx="1645920" cy="4937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43814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286000" y="3438144"/>
            <a:ext cx="2259424" cy="4937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4655152" y="34015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+15.2%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57200" y="4306824"/>
            <a:ext cx="1645920" cy="4937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30682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286000" y="4306824"/>
            <a:ext cx="1679703" cy="4937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4075431" y="42702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+11.3%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457200" y="5175504"/>
            <a:ext cx="1645920" cy="4937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517550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286000" y="5175504"/>
            <a:ext cx="356751" cy="4937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1"/>
          <p:cNvSpPr/>
          <p:nvPr/>
        </p:nvSpPr>
        <p:spPr>
          <a:xfrm>
            <a:off x="2752479" y="5138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+2.4%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57200" y="6035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当たる年は一番、外れる年も一番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2026年上半期（6月末時点）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【クイズ】10年でより増えたのは？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94360" y="1828800"/>
            <a:ext cx="2697480" cy="2743200"/>
          </a:xfrm>
          <a:prstGeom prst="rect">
            <a:avLst/>
          </a:prstGeom>
          <a:solidFill>
            <a:srgbClr val="F1F5FB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103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9436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3566160" y="1828800"/>
            <a:ext cx="2697480" cy="2743200"/>
          </a:xfrm>
          <a:prstGeom prst="rect">
            <a:avLst/>
          </a:prstGeom>
          <a:solidFill>
            <a:srgbClr val="F1F5FB"/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2103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5966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56616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57200" y="5120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100万円が、より増えたのは？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正解は </a:t>
            </a:r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E7A46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100万円が…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1005840" y="2331720"/>
            <a:ext cx="1828800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331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017520" y="2194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405万円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1005840" y="3611880"/>
            <a:ext cx="1828800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6118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01752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358万円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457200" y="4983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「日本株は増えない」は10年前の話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5897880"/>
            <a:ext cx="5943600" cy="384048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58978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JPX「TOPIX Factsheet」配当込み・円 2026年6月末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顔ぶれが全然違う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746504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46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34440" y="1691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三菱UFJ FG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48056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3.57%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57200" y="2532888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234440" y="247802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東京エレクトロン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480560" y="24780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2.90%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57200" y="3319272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34440" y="32644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トヨタ自動車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480560" y="32644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2.60%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57200" y="4105656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234440" y="40507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三井住友FG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4480560" y="40507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2.44%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57200" y="48920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234440" y="48371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ソフトバンクG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4480560" y="48371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2.05%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457200" y="5715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4本と重複しない、唯一の1本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2026年6月末時点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2026年10月から変わる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577840" cy="118872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37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いま：上場していれば入る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 rot="10800000">
            <a:off x="3154680" y="3108960"/>
            <a:ext cx="548640" cy="457200"/>
          </a:xfrm>
          <a:prstGeom prst="triangle">
            <a:avLst/>
          </a:prstGeom>
          <a:solidFill>
            <a:srgbClr val="17325A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3749040"/>
            <a:ext cx="5577840" cy="1325880"/>
          </a:xfrm>
          <a:prstGeom prst="rect">
            <a:avLst/>
          </a:prstGeom>
          <a:solidFill>
            <a:srgbClr val="E7F5EE"/>
          </a:solidFill>
          <a:ln w="31750">
            <a:solidFill>
              <a:srgbClr val="0E7A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74904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これから：</a:t>
            </a:r>
            <a:pPr indent="0" marL="0"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選ばれた企業だけ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7200" y="5349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売買の少ない企業は8段階で除外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7200" y="5943600"/>
            <a:ext cx="5943600" cy="384048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5943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JPX「次世代TOPIXへの移行について」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100円を10年入れたら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16459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600200"/>
            <a:ext cx="30175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1,126円</a:t>
            </a:r>
            <a:pPr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※後づけ込み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496312"/>
            <a:ext cx="16459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4963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86000" y="2496312"/>
            <a:ext cx="1833023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22860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684円</a:t>
            </a:r>
            <a:pPr indent="0" marL="0">
              <a:buNone/>
            </a:pP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57200" y="3392424"/>
            <a:ext cx="164592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3924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286000" y="3392424"/>
            <a:ext cx="108534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405円</a:t>
            </a:r>
            <a:pPr indent="0" marL="0">
              <a:buNone/>
            </a:pP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57200" y="4288536"/>
            <a:ext cx="164592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28853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286000" y="4288536"/>
            <a:ext cx="959389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7"/>
          <p:cNvSpPr/>
          <p:nvPr/>
        </p:nvSpPr>
        <p:spPr>
          <a:xfrm>
            <a:off x="2286000" y="4809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358円</a:t>
            </a:r>
            <a:pPr indent="0" marL="0">
              <a:buNone/>
            </a:pP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457200" y="5184648"/>
            <a:ext cx="16459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51846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286000" y="5184648"/>
            <a:ext cx="892393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5705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333円</a:t>
            </a:r>
            <a:pPr indent="0" marL="0">
              <a:buNone/>
            </a:pP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公表年率から単純換算。通貨・配当の前提は指数ごとに異なる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リターンが高い＝振れ幅も大きい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年率リスク（値動きの大きさ）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16459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0" y="1920240"/>
            <a:ext cx="26060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4983480" y="1892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30%</a:t>
            </a:r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※仮定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16459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816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86000" y="2816352"/>
            <a:ext cx="1963217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4340657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22.6%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7200" y="3712464"/>
            <a:ext cx="164592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7124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286000" y="3712464"/>
            <a:ext cx="1337767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3715207" y="3685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15.4%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" y="4608576"/>
            <a:ext cx="16459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6085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286000" y="4608576"/>
            <a:ext cx="12769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3654400" y="458114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14.7%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57200" y="5504688"/>
            <a:ext cx="164592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55046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286000" y="5504688"/>
            <a:ext cx="119009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2"/>
          <p:cNvSpPr/>
          <p:nvPr/>
        </p:nvSpPr>
        <p:spPr>
          <a:xfrm>
            <a:off x="3567532" y="54772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13.7%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10年・各指数の公表値（FANG+は同条件未公表のため仮定30%）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プロの10年予測は「逆」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J.P.モルガン 超長期市場予測 2026（円ベース）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039112"/>
            <a:ext cx="1645920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0391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86000" y="2039112"/>
            <a:ext cx="2880360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5257800" y="196596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7.0%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457200" y="3090672"/>
            <a:ext cx="1645920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0906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全世界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86000" y="3090672"/>
            <a:ext cx="2139696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0"/>
          <p:cNvSpPr/>
          <p:nvPr/>
        </p:nvSpPr>
        <p:spPr>
          <a:xfrm>
            <a:off x="4517136" y="301752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5.2%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457200" y="4142232"/>
            <a:ext cx="1645920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1422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米国大型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286000" y="4142232"/>
            <a:ext cx="2016252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4"/>
          <p:cNvSpPr/>
          <p:nvPr/>
        </p:nvSpPr>
        <p:spPr>
          <a:xfrm>
            <a:off x="4393692" y="40690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4.9%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457200" y="5257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日本株が1位。米国は最下位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57200" y="5943600"/>
            <a:ext cx="5943600" cy="384048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5943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J.P.モルガン・アセット・マネジメント LTCMA 2026 日本円版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効率で見ると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将来モデルのシャープレシオ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164592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86000" y="1828800"/>
            <a:ext cx="301752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5413248" y="18013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0.41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57200" y="2724912"/>
            <a:ext cx="16459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7249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86000" y="2724912"/>
            <a:ext cx="2134343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4530071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0.29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57200" y="3621024"/>
            <a:ext cx="164592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6210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286000" y="3621024"/>
            <a:ext cx="1987147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4382875" y="3593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0.27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457200" y="4517136"/>
            <a:ext cx="16459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51713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286000" y="4517136"/>
            <a:ext cx="1692755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4088483" y="448970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0.23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457200" y="5413248"/>
            <a:ext cx="16459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54132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286000" y="5413248"/>
            <a:ext cx="1251167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3646895" y="5385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0.17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457200" y="6217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リスクを取るほど効率は悪くなる前提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未来を15万回つくる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たとえるなら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天気予報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明日の空を何千回も再現して</a:t>
            </a:r>
            <a:endParaRPr lang="en-US" sz="2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雨の回数を数える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これの「資産運用版」をやります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毎月5万円×20年（元本1,200万円）・15万回 ※当チャンネル試算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20年後の「幅」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悪い未来 ←→ 良い未来（●は真ん中）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92808"/>
            <a:ext cx="1645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892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96338" y="1984248"/>
            <a:ext cx="2257205" cy="274320"/>
          </a:xfrm>
          <a:prstGeom prst="roundRect">
            <a:avLst>
              <a:gd name="adj" fmla="val 50000"/>
            </a:avLst>
          </a:prstGeom>
          <a:solidFill>
            <a:srgbClr val="2563EB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680872" y="2011680"/>
            <a:ext cx="219456" cy="21945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2529410" y="196596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1082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99263" y="19659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4395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34056"/>
            <a:ext cx="1645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734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067722" y="2825496"/>
            <a:ext cx="2221096" cy="274320"/>
          </a:xfrm>
          <a:prstGeom prst="roundRect">
            <a:avLst>
              <a:gd name="adj" fmla="val 50000"/>
            </a:avLst>
          </a:prstGeom>
          <a:solidFill>
            <a:srgbClr val="E67E22">
              <a:alpha val="4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632499" y="2852928"/>
            <a:ext cx="219456" cy="21945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2500794" y="280720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1040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334538" y="28072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4300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575304"/>
            <a:ext cx="1645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575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958712" y="3666744"/>
            <a:ext cx="2507249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4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543928" y="3694176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2391784" y="364845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880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511680" y="364845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4560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416552"/>
            <a:ext cx="1645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416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285744" y="4507992"/>
            <a:ext cx="2520875" cy="274320"/>
          </a:xfrm>
          <a:prstGeom prst="roundRect">
            <a:avLst>
              <a:gd name="adj" fmla="val 50000"/>
            </a:avLst>
          </a:prstGeom>
          <a:solidFill>
            <a:srgbClr val="059669">
              <a:alpha val="4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986784" y="4535424"/>
            <a:ext cx="219456" cy="21945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5"/>
          <p:cNvSpPr/>
          <p:nvPr/>
        </p:nvSpPr>
        <p:spPr>
          <a:xfrm>
            <a:off x="2718816" y="448970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1360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852339" y="448970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5060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5257800"/>
            <a:ext cx="1645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2781569" y="5349240"/>
            <a:ext cx="2956919" cy="274320"/>
          </a:xfrm>
          <a:prstGeom prst="roundRect">
            <a:avLst>
              <a:gd name="adj" fmla="val 50000"/>
            </a:avLst>
          </a:prstGeom>
          <a:solidFill>
            <a:srgbClr val="DC2626">
              <a:alpha val="4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39532" y="5376672"/>
            <a:ext cx="219456" cy="21945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1"/>
          <p:cNvSpPr/>
          <p:nvPr/>
        </p:nvSpPr>
        <p:spPr>
          <a:xfrm>
            <a:off x="2214641" y="533095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620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784208" y="533095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4960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053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集中するほど、幅が広がる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457200" y="65288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単位：万円 ※当チャンネル試算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31720" y="3840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夢と、現実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94360" y="1645920"/>
            <a:ext cx="2697480" cy="2926080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965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良い未来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約5,000万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3566160" y="1645920"/>
            <a:ext cx="2697480" cy="2926080"/>
          </a:xfrm>
          <a:prstGeom prst="rect">
            <a:avLst/>
          </a:prstGeom>
          <a:solidFill>
            <a:srgbClr val="FBE9EC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19659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悪い未来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3566160" y="2697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620万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66160" y="36118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元本1,200万が半分に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9834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冒頭の </a:t>
            </a:r>
            <a:pPr algn="ctr" indent="0" marL="0">
              <a:buNone/>
            </a:pPr>
            <a:r>
              <a:rPr lang="en-US" sz="2600" b="1" dirty="0">
                <a:solidFill>
                  <a:srgbClr val="D7263D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460万円の差</a:t>
            </a:r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はここ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オルカン1,082万円 vs FANG+620万円 ※当チャンネル試算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それは分散でなく</a:t>
            </a:r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D7263D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増量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5212080" cy="2926080"/>
          </a:xfrm>
          <a:prstGeom prst="rect">
            <a:avLst/>
          </a:prstGeom>
          <a:solidFill>
            <a:srgbClr val="FFFFFF"/>
          </a:solidFill>
          <a:ln w="38100">
            <a:solidFill>
              <a:srgbClr val="1732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幕の内弁当（オルカン）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51560" y="2240280"/>
            <a:ext cx="1481328" cy="914400"/>
          </a:xfrm>
          <a:prstGeom prst="rect">
            <a:avLst/>
          </a:prstGeom>
          <a:solidFill>
            <a:srgbClr val="E8E4D8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2402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ごはん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679192" y="2240280"/>
            <a:ext cx="1481328" cy="914400"/>
          </a:xfrm>
          <a:prstGeom prst="rect">
            <a:avLst/>
          </a:prstGeom>
          <a:solidFill>
            <a:srgbClr val="D9C9A3"/>
          </a:solidFill>
          <a:ln/>
        </p:spPr>
      </p:sp>
      <p:sp>
        <p:nvSpPr>
          <p:cNvPr id="10" name="Text 7"/>
          <p:cNvSpPr/>
          <p:nvPr/>
        </p:nvSpPr>
        <p:spPr>
          <a:xfrm>
            <a:off x="2679192" y="22402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焼き魚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06824" y="2240280"/>
            <a:ext cx="1481328" cy="914400"/>
          </a:xfrm>
          <a:prstGeom prst="rect">
            <a:avLst/>
          </a:prstGeom>
          <a:solidFill>
            <a:srgbClr val="F5D67B"/>
          </a:solidFill>
          <a:ln/>
        </p:spPr>
      </p:sp>
      <p:sp>
        <p:nvSpPr>
          <p:cNvPr id="12" name="Text 9"/>
          <p:cNvSpPr/>
          <p:nvPr/>
        </p:nvSpPr>
        <p:spPr>
          <a:xfrm>
            <a:off x="4306824" y="22402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卵焼き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51560" y="3291840"/>
            <a:ext cx="1481328" cy="914400"/>
          </a:xfrm>
          <a:prstGeom prst="rect">
            <a:avLst/>
          </a:prstGeom>
          <a:solidFill>
            <a:srgbClr val="C87B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291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から揚げ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679192" y="3291840"/>
            <a:ext cx="1481328" cy="914400"/>
          </a:xfrm>
          <a:prstGeom prst="rect">
            <a:avLst/>
          </a:prstGeom>
          <a:solidFill>
            <a:srgbClr val="B7CE9E"/>
          </a:solidFill>
          <a:ln/>
        </p:spPr>
      </p:sp>
      <p:sp>
        <p:nvSpPr>
          <p:cNvPr id="16" name="Text 13"/>
          <p:cNvSpPr/>
          <p:nvPr/>
        </p:nvSpPr>
        <p:spPr>
          <a:xfrm>
            <a:off x="2679192" y="3291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漬物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306824" y="3291840"/>
            <a:ext cx="1481328" cy="914400"/>
          </a:xfrm>
          <a:prstGeom prst="rect">
            <a:avLst/>
          </a:prstGeom>
          <a:solidFill>
            <a:srgbClr val="C87B3B"/>
          </a:solidFill>
          <a:ln/>
        </p:spPr>
      </p:sp>
      <p:sp>
        <p:nvSpPr>
          <p:cNvPr id="18" name="Text 15"/>
          <p:cNvSpPr/>
          <p:nvPr/>
        </p:nvSpPr>
        <p:spPr>
          <a:xfrm>
            <a:off x="4306824" y="3291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から揚げ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4892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NASDAQ100を足す ＝ </a:t>
            </a:r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から揚げ増量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5532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新しいおかずは、増えていない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混ぜても、</a:t>
            </a:r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D7263D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増えなかった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真ん中の未来（中央値）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オルカン100%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14600" y="1965960"/>
            <a:ext cx="3794760" cy="502920"/>
          </a:xfrm>
          <a:prstGeom prst="rect">
            <a:avLst/>
          </a:prstGeom>
          <a:solidFill>
            <a:srgbClr val="0E7A46"/>
          </a:solidFill>
          <a:ln/>
        </p:spPr>
      </p:sp>
      <p:sp>
        <p:nvSpPr>
          <p:cNvPr id="8" name="Text 5"/>
          <p:cNvSpPr/>
          <p:nvPr/>
        </p:nvSpPr>
        <p:spPr>
          <a:xfrm>
            <a:off x="2606040" y="1965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2,101万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90 : 10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514600" y="2926080"/>
            <a:ext cx="3704460" cy="502920"/>
          </a:xfrm>
          <a:prstGeom prst="rect">
            <a:avLst/>
          </a:prstGeom>
          <a:solidFill>
            <a:srgbClr val="17325A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2926080"/>
            <a:ext cx="3521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2,089万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80 : 20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514600" y="3886200"/>
            <a:ext cx="3599110" cy="502920"/>
          </a:xfrm>
          <a:prstGeom prst="rect">
            <a:avLst/>
          </a:prstGeom>
          <a:solidFill>
            <a:srgbClr val="17325A"/>
          </a:solidFill>
          <a:ln/>
        </p:spPr>
      </p:sp>
      <p:sp>
        <p:nvSpPr>
          <p:cNvPr id="14" name="Text 11"/>
          <p:cNvSpPr/>
          <p:nvPr/>
        </p:nvSpPr>
        <p:spPr>
          <a:xfrm>
            <a:off x="2606040" y="3886200"/>
            <a:ext cx="34162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2,075万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NASDAQ100だけ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4846320"/>
            <a:ext cx="2282238" cy="5029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7" name="Text 14"/>
          <p:cNvSpPr/>
          <p:nvPr/>
        </p:nvSpPr>
        <p:spPr>
          <a:xfrm>
            <a:off x="2606040" y="4846320"/>
            <a:ext cx="20993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1,900万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5897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1位はオルカン100%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年1回リバランス・15万回 ※当チャンネル試算（軸は1,700万〜）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元本割れの確率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8562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オルカン100%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560320" y="1856232"/>
            <a:ext cx="1812798" cy="566928"/>
          </a:xfrm>
          <a:prstGeom prst="rect">
            <a:avLst/>
          </a:prstGeom>
          <a:solidFill>
            <a:srgbClr val="0E7A46"/>
          </a:solidFill>
          <a:ln/>
        </p:spPr>
      </p:sp>
      <p:sp>
        <p:nvSpPr>
          <p:cNvPr id="7" name="Text 4"/>
          <p:cNvSpPr/>
          <p:nvPr/>
        </p:nvSpPr>
        <p:spPr>
          <a:xfrm>
            <a:off x="4464558" y="178308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14.3%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457200" y="29077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90 : 10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0" y="2907792"/>
            <a:ext cx="1850829" cy="566928"/>
          </a:xfrm>
          <a:prstGeom prst="rect">
            <a:avLst/>
          </a:prstGeom>
          <a:solidFill>
            <a:srgbClr val="17325A"/>
          </a:solidFill>
          <a:ln/>
        </p:spPr>
      </p:sp>
      <p:sp>
        <p:nvSpPr>
          <p:cNvPr id="10" name="Text 7"/>
          <p:cNvSpPr/>
          <p:nvPr/>
        </p:nvSpPr>
        <p:spPr>
          <a:xfrm>
            <a:off x="4502589" y="28346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14.6%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457200" y="39593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80 : 20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0" y="3959352"/>
            <a:ext cx="1926890" cy="566928"/>
          </a:xfrm>
          <a:prstGeom prst="rect">
            <a:avLst/>
          </a:prstGeom>
          <a:solidFill>
            <a:srgbClr val="17325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650" y="38862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15.2%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57200" y="50109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NASDAQ100だけ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560320" y="5010912"/>
            <a:ext cx="2788920" cy="56692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493776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457200" y="5989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集中するほど、元本割れしやすい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※当チャンネル試算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結論：あなたはどれ？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5943600" cy="987552"/>
          </a:xfrm>
          <a:prstGeom prst="rect">
            <a:avLst/>
          </a:prstGeom>
          <a:solidFill>
            <a:srgbClr val="F1F5FB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数値上の最適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195681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 100%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457200" y="2724912"/>
            <a:ext cx="5943600" cy="987552"/>
          </a:xfrm>
          <a:prstGeom prst="rect">
            <a:avLst/>
          </a:prstGeom>
          <a:solidFill>
            <a:srgbClr val="F1F5FB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入れるなら最良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312724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オルカン95 ： NAS 5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57200" y="3895344"/>
            <a:ext cx="5943600" cy="987552"/>
          </a:xfrm>
          <a:prstGeom prst="rect">
            <a:avLst/>
          </a:prstGeom>
          <a:solidFill>
            <a:srgbClr val="FFF7DC"/>
          </a:solidFill>
          <a:ln w="31750">
            <a:solidFill>
              <a:srgbClr val="E0A8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986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実用的な基本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429768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オルカン90 ： NAS10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457200" y="5065776"/>
            <a:ext cx="5943600" cy="987552"/>
          </a:xfrm>
          <a:prstGeom prst="rect">
            <a:avLst/>
          </a:prstGeom>
          <a:solidFill>
            <a:srgbClr val="F1F5FB"/>
          </a:solidFill>
          <a:ln w="12700">
            <a:solidFill>
              <a:srgbClr val="C9D4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5157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積極型の上限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546811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オルカン80 ： NAS20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45720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比率は「リスクをどこまで使うか」の決め方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他の3本はどうする？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5943600" cy="123444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993392"/>
            <a:ext cx="1600200" cy="6217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9339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6888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追加不要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46888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米国比率を高めたいときだけ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5943600" cy="123444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3456432"/>
            <a:ext cx="1600200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45643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468880" y="3337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5〜10%まで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46888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コアにはしない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617720"/>
            <a:ext cx="5943600" cy="123444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4919472"/>
            <a:ext cx="1600200" cy="6217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919472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468880" y="4800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A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家計を見てから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468880" y="5303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円建てで調整したいとき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マネコさんへの提案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5943600" cy="1371600"/>
          </a:xfrm>
          <a:prstGeom prst="rect">
            <a:avLst/>
          </a:prstGeom>
          <a:solidFill>
            <a:srgbClr val="FFF7DC"/>
          </a:solidFill>
          <a:ln w="31750">
            <a:solidFill>
              <a:srgbClr val="E0A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オルカン90 ： NASDAQ100 10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94360" y="3246120"/>
            <a:ext cx="621792" cy="621792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2461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2720" dirty="0"/>
          </a:p>
        </p:txBody>
      </p:sp>
      <p:sp>
        <p:nvSpPr>
          <p:cNvPr id="9" name="Text 6"/>
          <p:cNvSpPr/>
          <p:nvPr/>
        </p:nvSpPr>
        <p:spPr>
          <a:xfrm>
            <a:off x="1508760" y="320040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FANG+は、今は入れない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94360" y="4206240"/>
            <a:ext cx="621792" cy="621792"/>
          </a:xfrm>
          <a:prstGeom prst="ellipse">
            <a:avLst/>
          </a:prstGeom>
          <a:solidFill>
            <a:srgbClr val="0E7A46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42062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</a:t>
            </a:r>
            <a:endParaRPr lang="en-US" sz="2720" dirty="0"/>
          </a:p>
        </p:txBody>
      </p:sp>
      <p:sp>
        <p:nvSpPr>
          <p:cNvPr id="12" name="Text 9"/>
          <p:cNvSpPr/>
          <p:nvPr/>
        </p:nvSpPr>
        <p:spPr>
          <a:xfrm>
            <a:off x="1508760" y="416052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年1回だけ比率を確認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94360" y="5166360"/>
            <a:ext cx="621792" cy="621792"/>
          </a:xfrm>
          <a:prstGeom prst="ellipse">
            <a:avLst/>
          </a:prstGeom>
          <a:solidFill>
            <a:srgbClr val="0E7A46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5166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</a:t>
            </a:r>
            <a:endParaRPr lang="en-US" sz="2720" dirty="0"/>
          </a:p>
        </p:txBody>
      </p:sp>
      <p:sp>
        <p:nvSpPr>
          <p:cNvPr id="15" name="Text 12"/>
          <p:cNvSpPr/>
          <p:nvPr/>
        </p:nvSpPr>
        <p:spPr>
          <a:xfrm>
            <a:off x="1508760" y="512064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膨らんでいたら元に戻す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57200" y="6172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上限は 80 : 20 まで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数年後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世界同時株安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606040" y="2286000"/>
            <a:ext cx="164592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260604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9718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−40%</a:t>
            </a:r>
            <a:endParaRPr lang="en-US" sz="7000" dirty="0"/>
          </a:p>
        </p:txBody>
      </p:sp>
      <p:sp>
        <p:nvSpPr>
          <p:cNvPr id="9" name="Shape 6"/>
          <p:cNvSpPr/>
          <p:nvPr/>
        </p:nvSpPr>
        <p:spPr>
          <a:xfrm>
            <a:off x="1051560" y="4206240"/>
            <a:ext cx="4754880" cy="1371600"/>
          </a:xfrm>
          <a:prstGeom prst="rect">
            <a:avLst/>
          </a:prstGeom>
          <a:solidFill>
            <a:srgbClr val="FBE9E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2062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420万円</a:t>
            </a:r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 </a:t>
            </a:r>
            <a:pPr algn="ctr" indent="0" marL="0">
              <a:buNone/>
            </a:pPr>
            <a:r>
              <a:rPr lang="en-US" sz="32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260万円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夜中に3回、残高を見てしまう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売った人の口座だけ、戻らない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5943600" cy="1371600"/>
          </a:xfrm>
          <a:prstGeom prst="rect">
            <a:avLst/>
          </a:prstGeom>
          <a:solidFill>
            <a:srgbClr val="FBE9EC"/>
          </a:solidFill>
          <a:ln w="31750">
            <a:solidFill>
              <a:srgbClr val="D72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087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底で全部売却　</a:t>
            </a:r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260万円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その半年後…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611880"/>
            <a:ext cx="5943600" cy="13716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6118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持っていれば　</a:t>
            </a:r>
            <a:pPr indent="0" marL="0"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430万円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57200" y="5257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相場は戻る。でも</a:t>
            </a:r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D7263D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売った口座は戻らない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※演出上の想定金額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3つの失敗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5943600" cy="1261872"/>
          </a:xfrm>
          <a:prstGeom prst="rect">
            <a:avLst/>
          </a:prstGeom>
          <a:solidFill>
            <a:srgbClr val="FBE9EC"/>
          </a:solidFill>
          <a:ln/>
        </p:spPr>
      </p:sp>
      <p:sp>
        <p:nvSpPr>
          <p:cNvPr id="6" name="Shape 3"/>
          <p:cNvSpPr/>
          <p:nvPr/>
        </p:nvSpPr>
        <p:spPr>
          <a:xfrm>
            <a:off x="658368" y="1975104"/>
            <a:ext cx="603504" cy="603504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975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63040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「一番増えた」で選んだ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2304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過去の1位＝未来の1位ではない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5943600" cy="1261872"/>
          </a:xfrm>
          <a:prstGeom prst="rect">
            <a:avLst/>
          </a:prstGeom>
          <a:solidFill>
            <a:srgbClr val="FBE9EC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3438144"/>
            <a:ext cx="603504" cy="603504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343814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463040" y="3273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耐えられる下落幅を確認しなかった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63040" y="3767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「絶対売らない」は下がる前なら言える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572000"/>
            <a:ext cx="5943600" cy="1261872"/>
          </a:xfrm>
          <a:prstGeom prst="rect">
            <a:avLst/>
          </a:prstGeom>
          <a:solidFill>
            <a:srgbClr val="FBE9EC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4901184"/>
            <a:ext cx="603504" cy="603504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49011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463040" y="4736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底で、全部売った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63040" y="5230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損が確定するのは“売った日”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教訓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商品選びより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最後まで持てるか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45720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暴落の日に「なぜ持っているか」を</a:t>
            </a:r>
            <a:endParaRPr lang="en-US" sz="1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自分の言葉で説明できること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5本の役割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1828800" cy="5852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6002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オルカン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14600" y="160020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自動で対応するコア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1828800" cy="5852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56032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S&amp;P500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14600" y="256032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王道。ただし中身は同じ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3520440"/>
            <a:ext cx="182880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5204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NASDAQ100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14600" y="352044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AI・半導体への上乗せ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57200" y="4480560"/>
            <a:ext cx="1828800" cy="5852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48056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FANG+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14600" y="448056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高リスクのサテライト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57200" y="5440680"/>
            <a:ext cx="1828800" cy="5852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544068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日本株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514600" y="5440680"/>
            <a:ext cx="3886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重複しない・為替なし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一番大事なのは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5A"/>
                </a:solidFill>
                <a:highlight>
                  <a:srgbClr val="FFE45C"/>
                </a:highlight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20年、やめないこと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迷う人は オルカン100%</a:t>
            </a:r>
            <a:endParaRPr lang="en-US" sz="2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少し攻めるなら 90 : 10</a:t>
            </a:r>
            <a:endParaRPr lang="en-US" sz="2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22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上限は 80 : 20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5257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どの比率でも、続けられることが最優先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36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5DCE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2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あなたの比率は？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どれを、何%ずつ？</a:t>
            </a:r>
            <a:endParaRPr lang="en-US" sz="2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その比率にした理由は？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371600" y="3749040"/>
            <a:ext cx="4114800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37490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コメントで教えてください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57200" y="4892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高評価・チャンネル登録もお願いします</a:t>
            </a:r>
            <a:endParaRPr lang="en-US" sz="1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6B728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次回は火曜日に投稿します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2026-07-29T01:33:18Z</dcterms:created>
  <dcterms:modified xsi:type="dcterms:W3CDTF">2026-07-29T01:33:18Z</dcterms:modified>
</cp:coreProperties>
</file>