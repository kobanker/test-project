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新NISAの全体像と、2027年1月に施行される改正点をまとめた資料です。数値はすべて出典を確認したうえで記載しています。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最初に結論を3つ。前半2つは既に動いている制度、3つ目がこれから変わる部分です。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NISAの本質は運用益が非課税になること。課税口座との差は税率20.315%分です。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つみたて投資枠と成長投資枠は併用可能。旧制度と違い、どちらか一方を選ぶ必要はありません。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1,800万円は簿価ベースの総枠。成長投資枠は内数で1,200万円が上限です。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旧制度からの主な変更点は、枠の拡大・期間の無期限化・併用可・恒久化の4点です。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2027年1月施行予定。特に2つ目の当年中復活は、使い勝手が大きく変わる改正です。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こどもNISAは払出し制限が肝。教育資金など子どものための支出には12歳以降に対応できます。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特に損益通算・繰越控除ができない点は、課税口座との明確な違いです。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制度の枠組みと、実際に何をいくら買うかは別問題である点を最後に補足します。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数値の確認方法と、原典参照のお願い。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6858000" y="-1051560"/>
            <a:ext cx="3566160" cy="3566160"/>
          </a:xfrm>
          <a:prstGeom prst="ellipse">
            <a:avLst/>
          </a:prstGeom>
          <a:solidFill>
            <a:srgbClr val="2D6A4F"/>
          </a:solidFill>
          <a:ln w="12700">
            <a:solidFill>
              <a:srgbClr val="2D6A4F"/>
            </a:solidFill>
            <a:prstDash val="solid"/>
          </a:ln>
        </p:spPr>
      </p:sp>
      <p:sp>
        <p:nvSpPr>
          <p:cNvPr id="3" name="Shape 1"/>
          <p:cNvSpPr/>
          <p:nvPr/>
        </p:nvSpPr>
        <p:spPr>
          <a:xfrm>
            <a:off x="8092440" y="3246120"/>
            <a:ext cx="1371600" cy="1371600"/>
          </a:xfrm>
          <a:prstGeom prst="ellipse">
            <a:avLst/>
          </a:prstGeom>
          <a:solidFill>
            <a:srgbClr val="2D6A4F"/>
          </a:solidFill>
          <a:ln w="12700">
            <a:solidFill>
              <a:srgbClr val="2D6A4F"/>
            </a:solidFill>
            <a:prstDash val="solid"/>
          </a:ln>
        </p:spPr>
      </p:sp>
      <p:sp>
        <p:nvSpPr>
          <p:cNvPr id="4" name="Shape 2"/>
          <p:cNvSpPr/>
          <p:nvPr/>
        </p:nvSpPr>
        <p:spPr>
          <a:xfrm>
            <a:off x="566928" y="1207008"/>
            <a:ext cx="274320" cy="274320"/>
          </a:xfrm>
          <a:prstGeom prst="ellipse">
            <a:avLst/>
          </a:prstGeom>
          <a:solidFill>
            <a:srgbClr val="E9C46A"/>
          </a:solidFill>
          <a:ln w="12700">
            <a:solidFill>
              <a:srgbClr val="E9C46A"/>
            </a:solidFill>
            <a:prstDash val="solid"/>
          </a:ln>
        </p:spPr>
      </p:sp>
      <p:sp>
        <p:nvSpPr>
          <p:cNvPr id="5" name="Text 3"/>
          <p:cNvSpPr/>
          <p:nvPr/>
        </p:nvSpPr>
        <p:spPr>
          <a:xfrm>
            <a:off x="548640" y="1600200"/>
            <a:ext cx="6583680" cy="96012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新NISA</a:t>
            </a:r>
            <a:endParaRPr lang="en-US" sz="5400" dirty="0"/>
          </a:p>
        </p:txBody>
      </p:sp>
      <p:sp>
        <p:nvSpPr>
          <p:cNvPr id="6" name="Text 4"/>
          <p:cNvSpPr/>
          <p:nvPr/>
        </p:nvSpPr>
        <p:spPr>
          <a:xfrm>
            <a:off x="566928" y="2651760"/>
            <a:ext cx="6766560" cy="457200"/>
          </a:xfrm>
          <a:prstGeom prst="rect">
            <a:avLst/>
          </a:prstGeom>
          <a:noFill/>
          <a:ln/>
        </p:spPr>
        <p:txBody>
          <a:bodyPr wrap="square" lIns="0" tIns="0" rIns="0" bIns="0" rtlCol="0" anchor="ctr"/>
          <a:lstStyle/>
          <a:p>
            <a:pPr indent="0" marL="0">
              <a:buNone/>
            </a:pPr>
            <a:r>
              <a:rPr lang="en-US" sz="1900" dirty="0">
                <a:solidFill>
                  <a:srgbClr val="95D5B2"/>
                </a:solidFill>
                <a:latin typeface="Meiryo" pitchFamily="34" charset="0"/>
                <a:ea typeface="Meiryo" pitchFamily="34" charset="-122"/>
                <a:cs typeface="Meiryo" pitchFamily="34" charset="-120"/>
              </a:rPr>
              <a:t>制度の全体像と、2027年1月からの改正点</a:t>
            </a:r>
            <a:endParaRPr lang="en-US" sz="1900" dirty="0"/>
          </a:p>
        </p:txBody>
      </p:sp>
      <p:sp>
        <p:nvSpPr>
          <p:cNvPr id="7" name="Text 5"/>
          <p:cNvSpPr/>
          <p:nvPr/>
        </p:nvSpPr>
        <p:spPr>
          <a:xfrm>
            <a:off x="566928" y="3154680"/>
            <a:ext cx="6766560" cy="365760"/>
          </a:xfrm>
          <a:prstGeom prst="rect">
            <a:avLst/>
          </a:prstGeom>
          <a:noFill/>
          <a:ln/>
        </p:spPr>
        <p:txBody>
          <a:bodyPr wrap="square" lIns="0" tIns="0" rIns="0" bIns="0" rtlCol="0" anchor="ctr"/>
          <a:lstStyle/>
          <a:p>
            <a:pPr indent="0" marL="0">
              <a:buNone/>
            </a:pPr>
            <a:r>
              <a:rPr lang="en-US" sz="1300" dirty="0">
                <a:solidFill>
                  <a:srgbClr val="9CC5AF"/>
                </a:solidFill>
                <a:latin typeface="Meiryo" pitchFamily="34" charset="0"/>
                <a:ea typeface="Meiryo" pitchFamily="34" charset="-122"/>
                <a:cs typeface="Meiryo" pitchFamily="34" charset="-120"/>
              </a:rPr>
              <a:t>投資をこれから始める人・制度を整理したい人向けの解説資料</a:t>
            </a:r>
            <a:endParaRPr lang="en-US" sz="1300" dirty="0"/>
          </a:p>
        </p:txBody>
      </p:sp>
      <p:sp>
        <p:nvSpPr>
          <p:cNvPr id="8" name="Text 6"/>
          <p:cNvSpPr/>
          <p:nvPr/>
        </p:nvSpPr>
        <p:spPr>
          <a:xfrm>
            <a:off x="566928" y="4315968"/>
            <a:ext cx="6766560" cy="320040"/>
          </a:xfrm>
          <a:prstGeom prst="rect">
            <a:avLst/>
          </a:prstGeom>
          <a:noFill/>
          <a:ln/>
        </p:spPr>
        <p:txBody>
          <a:bodyPr wrap="square" lIns="0" tIns="0" rIns="0" bIns="0" rtlCol="0" anchor="ctr"/>
          <a:lstStyle/>
          <a:p>
            <a:pPr indent="0" marL="0">
              <a:buNone/>
            </a:pPr>
            <a:r>
              <a:rPr lang="en-US" sz="1100" dirty="0">
                <a:solidFill>
                  <a:srgbClr val="9CC5AF"/>
                </a:solidFill>
                <a:latin typeface="Meiryo" pitchFamily="34" charset="0"/>
                <a:ea typeface="Meiryo" pitchFamily="34" charset="-122"/>
                <a:cs typeface="Meiryo" pitchFamily="34" charset="-120"/>
              </a:rPr>
              <a:t>2026年7月26日時点の制度にもとづく／出典は最終ページ</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92608"/>
            <a:ext cx="8229600" cy="658368"/>
          </a:xfrm>
          <a:prstGeom prst="rect">
            <a:avLst/>
          </a:prstGeom>
          <a:noFill/>
          <a:ln/>
        </p:spPr>
        <p:txBody>
          <a:bodyPr wrap="square" lIns="0" tIns="0" rIns="0" bIns="0" rtlCol="0" anchor="ctr"/>
          <a:lstStyle/>
          <a:p>
            <a:pPr indent="0" marL="0">
              <a:buNone/>
            </a:pPr>
            <a:r>
              <a:rPr lang="en-US" sz="3200" b="1" dirty="0">
                <a:solidFill>
                  <a:srgbClr val="1F2A24"/>
                </a:solidFill>
                <a:latin typeface="Meiryo" pitchFamily="34" charset="0"/>
                <a:ea typeface="Meiryo" pitchFamily="34" charset="-122"/>
                <a:cs typeface="Meiryo" pitchFamily="34" charset="-120"/>
              </a:rPr>
              <a:t>まず、3つだけ</a:t>
            </a:r>
            <a:endParaRPr lang="en-US" sz="3200" dirty="0"/>
          </a:p>
        </p:txBody>
      </p:sp>
      <p:sp>
        <p:nvSpPr>
          <p:cNvPr id="3" name="Shape 1"/>
          <p:cNvSpPr/>
          <p:nvPr/>
        </p:nvSpPr>
        <p:spPr>
          <a:xfrm>
            <a:off x="457200" y="1207008"/>
            <a:ext cx="2560320" cy="3035808"/>
          </a:xfrm>
          <a:prstGeom prst="roundRect">
            <a:avLst>
              <a:gd name="adj" fmla="val 2143"/>
            </a:avLst>
          </a:prstGeom>
          <a:solidFill>
            <a:srgbClr val="EDF6F0"/>
          </a:solidFill>
          <a:ln w="12700">
            <a:solidFill>
              <a:srgbClr val="EDF6F0"/>
            </a:solidFill>
            <a:prstDash val="solid"/>
          </a:ln>
          <a:effectLst>
            <a:outerShdw sx="100000" sy="100000" kx="0" ky="0" algn="bl" rotWithShape="0" blurRad="101600" dist="25400" dir="5400000">
              <a:srgbClr val="1B4332">
                <a:alpha val="12000"/>
              </a:srgbClr>
            </a:outerShdw>
          </a:effectLst>
        </p:spPr>
      </p:sp>
      <p:sp>
        <p:nvSpPr>
          <p:cNvPr id="4" name="Shape 2"/>
          <p:cNvSpPr/>
          <p:nvPr/>
        </p:nvSpPr>
        <p:spPr>
          <a:xfrm>
            <a:off x="731520" y="1481328"/>
            <a:ext cx="475488" cy="475488"/>
          </a:xfrm>
          <a:prstGeom prst="ellipse">
            <a:avLst/>
          </a:prstGeom>
          <a:solidFill>
            <a:srgbClr val="E9C46A"/>
          </a:solidFill>
          <a:ln w="12700">
            <a:solidFill>
              <a:srgbClr val="E9C46A"/>
            </a:solidFill>
            <a:prstDash val="solid"/>
          </a:ln>
        </p:spPr>
      </p:sp>
      <p:sp>
        <p:nvSpPr>
          <p:cNvPr id="5" name="Text 3"/>
          <p:cNvSpPr/>
          <p:nvPr/>
        </p:nvSpPr>
        <p:spPr>
          <a:xfrm>
            <a:off x="731520" y="1481328"/>
            <a:ext cx="475488" cy="475488"/>
          </a:xfrm>
          <a:prstGeom prst="rect">
            <a:avLst/>
          </a:prstGeom>
          <a:noFill/>
          <a:ln/>
        </p:spPr>
        <p:txBody>
          <a:bodyPr wrap="square" lIns="0" tIns="0" rIns="0" bIns="0" rtlCol="0" anchor="ctr"/>
          <a:lstStyle/>
          <a:p>
            <a:pPr algn="ctr" indent="0" marL="0">
              <a:buNone/>
            </a:pPr>
            <a:r>
              <a:rPr lang="en-US" sz="1500" b="1" dirty="0">
                <a:solidFill>
                  <a:srgbClr val="1B4332"/>
                </a:solidFill>
                <a:latin typeface="Meiryo" pitchFamily="34" charset="0"/>
                <a:ea typeface="Meiryo" pitchFamily="34" charset="-122"/>
                <a:cs typeface="Meiryo" pitchFamily="34" charset="-120"/>
              </a:rPr>
              <a:t>01</a:t>
            </a:r>
            <a:endParaRPr lang="en-US" sz="1500" dirty="0"/>
          </a:p>
        </p:txBody>
      </p:sp>
      <p:sp>
        <p:nvSpPr>
          <p:cNvPr id="6" name="Text 4"/>
          <p:cNvSpPr/>
          <p:nvPr/>
        </p:nvSpPr>
        <p:spPr>
          <a:xfrm>
            <a:off x="731520" y="2103120"/>
            <a:ext cx="2011680" cy="658368"/>
          </a:xfrm>
          <a:prstGeom prst="rect">
            <a:avLst/>
          </a:prstGeom>
          <a:noFill/>
          <a:ln/>
        </p:spPr>
        <p:txBody>
          <a:bodyPr wrap="square" lIns="0" tIns="0" rIns="0" bIns="0" rtlCol="0" anchor="t"/>
          <a:lstStyle/>
          <a:p>
            <a:pPr indent="0" marL="0">
              <a:buNone/>
            </a:pPr>
            <a:r>
              <a:rPr lang="en-US" sz="1500" b="1" dirty="0">
                <a:solidFill>
                  <a:srgbClr val="1B4332"/>
                </a:solidFill>
                <a:latin typeface="Meiryo" pitchFamily="34" charset="0"/>
                <a:ea typeface="Meiryo" pitchFamily="34" charset="-122"/>
                <a:cs typeface="Meiryo" pitchFamily="34" charset="-120"/>
              </a:rPr>
              <a:t>年360万円・生涯1,800万円まで非課税</a:t>
            </a:r>
            <a:endParaRPr lang="en-US" sz="1500" dirty="0"/>
          </a:p>
        </p:txBody>
      </p:sp>
      <p:sp>
        <p:nvSpPr>
          <p:cNvPr id="7" name="Text 5"/>
          <p:cNvSpPr/>
          <p:nvPr/>
        </p:nvSpPr>
        <p:spPr>
          <a:xfrm>
            <a:off x="731520" y="2798064"/>
            <a:ext cx="2011680" cy="1280160"/>
          </a:xfrm>
          <a:prstGeom prst="rect">
            <a:avLst/>
          </a:prstGeom>
          <a:noFill/>
          <a:ln/>
        </p:spPr>
        <p:txBody>
          <a:bodyPr wrap="square" lIns="0" tIns="0" rIns="0" bIns="0" rtlCol="0" anchor="t"/>
          <a:lstStyle/>
          <a:p>
            <a:pPr indent="0" marL="0">
              <a:lnSpc>
                <a:spcPct val="125000"/>
              </a:lnSpc>
              <a:buNone/>
            </a:pPr>
            <a:r>
              <a:rPr lang="en-US" sz="1150" dirty="0">
                <a:solidFill>
                  <a:srgbClr val="5F7168"/>
                </a:solidFill>
                <a:latin typeface="Meiryo" pitchFamily="34" charset="0"/>
                <a:ea typeface="Meiryo" pitchFamily="34" charset="-122"/>
                <a:cs typeface="Meiryo" pitchFamily="34" charset="-120"/>
              </a:rPr>
              <a:t>つみたて投資枠120万円と成長投資枠240万円を合わせて、年間360万円まで。生涯では1,800万円まで投資でき、その運用益に税金がかかりません。</a:t>
            </a:r>
            <a:endParaRPr lang="en-US" sz="1150" dirty="0"/>
          </a:p>
        </p:txBody>
      </p:sp>
      <p:sp>
        <p:nvSpPr>
          <p:cNvPr id="8" name="Shape 6"/>
          <p:cNvSpPr/>
          <p:nvPr/>
        </p:nvSpPr>
        <p:spPr>
          <a:xfrm>
            <a:off x="3291840" y="1207008"/>
            <a:ext cx="2560320" cy="3035808"/>
          </a:xfrm>
          <a:prstGeom prst="roundRect">
            <a:avLst>
              <a:gd name="adj" fmla="val 2143"/>
            </a:avLst>
          </a:prstGeom>
          <a:solidFill>
            <a:srgbClr val="EDF6F0"/>
          </a:solidFill>
          <a:ln w="12700">
            <a:solidFill>
              <a:srgbClr val="EDF6F0"/>
            </a:solidFill>
            <a:prstDash val="solid"/>
          </a:ln>
          <a:effectLst>
            <a:outerShdw sx="100000" sy="100000" kx="0" ky="0" algn="bl" rotWithShape="0" blurRad="101600" dist="25400" dir="5400000">
              <a:srgbClr val="1B4332">
                <a:alpha val="12000"/>
              </a:srgbClr>
            </a:outerShdw>
          </a:effectLst>
        </p:spPr>
      </p:sp>
      <p:sp>
        <p:nvSpPr>
          <p:cNvPr id="9" name="Shape 7"/>
          <p:cNvSpPr/>
          <p:nvPr/>
        </p:nvSpPr>
        <p:spPr>
          <a:xfrm>
            <a:off x="3566160" y="1481328"/>
            <a:ext cx="475488" cy="475488"/>
          </a:xfrm>
          <a:prstGeom prst="ellipse">
            <a:avLst/>
          </a:prstGeom>
          <a:solidFill>
            <a:srgbClr val="E9C46A"/>
          </a:solidFill>
          <a:ln w="12700">
            <a:solidFill>
              <a:srgbClr val="E9C46A"/>
            </a:solidFill>
            <a:prstDash val="solid"/>
          </a:ln>
        </p:spPr>
      </p:sp>
      <p:sp>
        <p:nvSpPr>
          <p:cNvPr id="10" name="Text 8"/>
          <p:cNvSpPr/>
          <p:nvPr/>
        </p:nvSpPr>
        <p:spPr>
          <a:xfrm>
            <a:off x="3566160" y="1481328"/>
            <a:ext cx="475488" cy="475488"/>
          </a:xfrm>
          <a:prstGeom prst="rect">
            <a:avLst/>
          </a:prstGeom>
          <a:noFill/>
          <a:ln/>
        </p:spPr>
        <p:txBody>
          <a:bodyPr wrap="square" lIns="0" tIns="0" rIns="0" bIns="0" rtlCol="0" anchor="ctr"/>
          <a:lstStyle/>
          <a:p>
            <a:pPr algn="ctr" indent="0" marL="0">
              <a:buNone/>
            </a:pPr>
            <a:r>
              <a:rPr lang="en-US" sz="1500" b="1" dirty="0">
                <a:solidFill>
                  <a:srgbClr val="1B4332"/>
                </a:solidFill>
                <a:latin typeface="Meiryo" pitchFamily="34" charset="0"/>
                <a:ea typeface="Meiryo" pitchFamily="34" charset="-122"/>
                <a:cs typeface="Meiryo" pitchFamily="34" charset="-120"/>
              </a:rPr>
              <a:t>02</a:t>
            </a:r>
            <a:endParaRPr lang="en-US" sz="1500" dirty="0"/>
          </a:p>
        </p:txBody>
      </p:sp>
      <p:sp>
        <p:nvSpPr>
          <p:cNvPr id="11" name="Text 9"/>
          <p:cNvSpPr/>
          <p:nvPr/>
        </p:nvSpPr>
        <p:spPr>
          <a:xfrm>
            <a:off x="3566160" y="2103120"/>
            <a:ext cx="2011680" cy="658368"/>
          </a:xfrm>
          <a:prstGeom prst="rect">
            <a:avLst/>
          </a:prstGeom>
          <a:noFill/>
          <a:ln/>
        </p:spPr>
        <p:txBody>
          <a:bodyPr wrap="square" lIns="0" tIns="0" rIns="0" bIns="0" rtlCol="0" anchor="t"/>
          <a:lstStyle/>
          <a:p>
            <a:pPr indent="0" marL="0">
              <a:buNone/>
            </a:pPr>
            <a:r>
              <a:rPr lang="en-US" sz="1500" b="1" dirty="0">
                <a:solidFill>
                  <a:srgbClr val="1B4332"/>
                </a:solidFill>
                <a:latin typeface="Meiryo" pitchFamily="34" charset="0"/>
                <a:ea typeface="Meiryo" pitchFamily="34" charset="-122"/>
                <a:cs typeface="Meiryo" pitchFamily="34" charset="-120"/>
              </a:rPr>
              <a:t>期間の制限がなくなった</a:t>
            </a:r>
            <a:endParaRPr lang="en-US" sz="1500" dirty="0"/>
          </a:p>
        </p:txBody>
      </p:sp>
      <p:sp>
        <p:nvSpPr>
          <p:cNvPr id="12" name="Text 10"/>
          <p:cNvSpPr/>
          <p:nvPr/>
        </p:nvSpPr>
        <p:spPr>
          <a:xfrm>
            <a:off x="3566160" y="2798064"/>
            <a:ext cx="2011680" cy="1280160"/>
          </a:xfrm>
          <a:prstGeom prst="rect">
            <a:avLst/>
          </a:prstGeom>
          <a:noFill/>
          <a:ln/>
        </p:spPr>
        <p:txBody>
          <a:bodyPr wrap="square" lIns="0" tIns="0" rIns="0" bIns="0" rtlCol="0" anchor="t"/>
          <a:lstStyle/>
          <a:p>
            <a:pPr indent="0" marL="0">
              <a:lnSpc>
                <a:spcPct val="125000"/>
              </a:lnSpc>
              <a:buNone/>
            </a:pPr>
            <a:r>
              <a:rPr lang="en-US" sz="1150" dirty="0">
                <a:solidFill>
                  <a:srgbClr val="5F7168"/>
                </a:solidFill>
                <a:latin typeface="Meiryo" pitchFamily="34" charset="0"/>
                <a:ea typeface="Meiryo" pitchFamily="34" charset="-122"/>
                <a:cs typeface="Meiryo" pitchFamily="34" charset="-120"/>
              </a:rPr>
              <a:t>非課税で持ち続けられる期間は無期限。口座を開ける期間も恒久化され、「いつまでに始めるか」を気にする必要がなくなりました。</a:t>
            </a:r>
            <a:endParaRPr lang="en-US" sz="1150" dirty="0"/>
          </a:p>
        </p:txBody>
      </p:sp>
      <p:sp>
        <p:nvSpPr>
          <p:cNvPr id="13" name="Shape 11"/>
          <p:cNvSpPr/>
          <p:nvPr/>
        </p:nvSpPr>
        <p:spPr>
          <a:xfrm>
            <a:off x="6126480" y="1207008"/>
            <a:ext cx="2560320" cy="3035808"/>
          </a:xfrm>
          <a:prstGeom prst="roundRect">
            <a:avLst>
              <a:gd name="adj" fmla="val 2143"/>
            </a:avLst>
          </a:prstGeom>
          <a:solidFill>
            <a:srgbClr val="EDF6F0"/>
          </a:solidFill>
          <a:ln w="12700">
            <a:solidFill>
              <a:srgbClr val="EDF6F0"/>
            </a:solidFill>
            <a:prstDash val="solid"/>
          </a:ln>
          <a:effectLst>
            <a:outerShdw sx="100000" sy="100000" kx="0" ky="0" algn="bl" rotWithShape="0" blurRad="101600" dist="25400" dir="5400000">
              <a:srgbClr val="1B4332">
                <a:alpha val="12000"/>
              </a:srgbClr>
            </a:outerShdw>
          </a:effectLst>
        </p:spPr>
      </p:sp>
      <p:sp>
        <p:nvSpPr>
          <p:cNvPr id="14" name="Shape 12"/>
          <p:cNvSpPr/>
          <p:nvPr/>
        </p:nvSpPr>
        <p:spPr>
          <a:xfrm>
            <a:off x="6400800" y="1481328"/>
            <a:ext cx="475488" cy="475488"/>
          </a:xfrm>
          <a:prstGeom prst="ellipse">
            <a:avLst/>
          </a:prstGeom>
          <a:solidFill>
            <a:srgbClr val="E9C46A"/>
          </a:solidFill>
          <a:ln w="12700">
            <a:solidFill>
              <a:srgbClr val="E9C46A"/>
            </a:solidFill>
            <a:prstDash val="solid"/>
          </a:ln>
        </p:spPr>
      </p:sp>
      <p:sp>
        <p:nvSpPr>
          <p:cNvPr id="15" name="Text 13"/>
          <p:cNvSpPr/>
          <p:nvPr/>
        </p:nvSpPr>
        <p:spPr>
          <a:xfrm>
            <a:off x="6400800" y="1481328"/>
            <a:ext cx="475488" cy="475488"/>
          </a:xfrm>
          <a:prstGeom prst="rect">
            <a:avLst/>
          </a:prstGeom>
          <a:noFill/>
          <a:ln/>
        </p:spPr>
        <p:txBody>
          <a:bodyPr wrap="square" lIns="0" tIns="0" rIns="0" bIns="0" rtlCol="0" anchor="ctr"/>
          <a:lstStyle/>
          <a:p>
            <a:pPr algn="ctr" indent="0" marL="0">
              <a:buNone/>
            </a:pPr>
            <a:r>
              <a:rPr lang="en-US" sz="1500" b="1" dirty="0">
                <a:solidFill>
                  <a:srgbClr val="1B4332"/>
                </a:solidFill>
                <a:latin typeface="Meiryo" pitchFamily="34" charset="0"/>
                <a:ea typeface="Meiryo" pitchFamily="34" charset="-122"/>
                <a:cs typeface="Meiryo" pitchFamily="34" charset="-120"/>
              </a:rPr>
              <a:t>03</a:t>
            </a:r>
            <a:endParaRPr lang="en-US" sz="1500" dirty="0"/>
          </a:p>
        </p:txBody>
      </p:sp>
      <p:sp>
        <p:nvSpPr>
          <p:cNvPr id="16" name="Text 14"/>
          <p:cNvSpPr/>
          <p:nvPr/>
        </p:nvSpPr>
        <p:spPr>
          <a:xfrm>
            <a:off x="6400800" y="2103120"/>
            <a:ext cx="2011680" cy="658368"/>
          </a:xfrm>
          <a:prstGeom prst="rect">
            <a:avLst/>
          </a:prstGeom>
          <a:noFill/>
          <a:ln/>
        </p:spPr>
        <p:txBody>
          <a:bodyPr wrap="square" lIns="0" tIns="0" rIns="0" bIns="0" rtlCol="0" anchor="t"/>
          <a:lstStyle/>
          <a:p>
            <a:pPr indent="0" marL="0">
              <a:buNone/>
            </a:pPr>
            <a:r>
              <a:rPr lang="en-US" sz="1500" b="1" dirty="0">
                <a:solidFill>
                  <a:srgbClr val="1B4332"/>
                </a:solidFill>
                <a:latin typeface="Meiryo" pitchFamily="34" charset="0"/>
                <a:ea typeface="Meiryo" pitchFamily="34" charset="-122"/>
                <a:cs typeface="Meiryo" pitchFamily="34" charset="-120"/>
              </a:rPr>
              <a:t>2027年1月にさらに広がる</a:t>
            </a:r>
            <a:endParaRPr lang="en-US" sz="1500" dirty="0"/>
          </a:p>
        </p:txBody>
      </p:sp>
      <p:sp>
        <p:nvSpPr>
          <p:cNvPr id="17" name="Text 15"/>
          <p:cNvSpPr/>
          <p:nvPr/>
        </p:nvSpPr>
        <p:spPr>
          <a:xfrm>
            <a:off x="6400800" y="2798064"/>
            <a:ext cx="2011680" cy="1280160"/>
          </a:xfrm>
          <a:prstGeom prst="rect">
            <a:avLst/>
          </a:prstGeom>
          <a:noFill/>
          <a:ln/>
        </p:spPr>
        <p:txBody>
          <a:bodyPr wrap="square" lIns="0" tIns="0" rIns="0" bIns="0" rtlCol="0" anchor="t"/>
          <a:lstStyle/>
          <a:p>
            <a:pPr indent="0" marL="0">
              <a:lnSpc>
                <a:spcPct val="125000"/>
              </a:lnSpc>
              <a:buNone/>
            </a:pPr>
            <a:r>
              <a:rPr lang="en-US" sz="1150" dirty="0">
                <a:solidFill>
                  <a:srgbClr val="5F7168"/>
                </a:solidFill>
                <a:latin typeface="Meiryo" pitchFamily="34" charset="0"/>
                <a:ea typeface="Meiryo" pitchFamily="34" charset="-122"/>
                <a:cs typeface="Meiryo" pitchFamily="34" charset="-120"/>
              </a:rPr>
              <a:t>0〜17歳向けのこどもNISAが新設され、売った枠の復活が当年中に早まり、つみたて投資枠の対象商品も増えます。</a:t>
            </a:r>
            <a:endParaRPr lang="en-US" sz="1150" dirty="0"/>
          </a:p>
        </p:txBody>
      </p:sp>
      <p:sp>
        <p:nvSpPr>
          <p:cNvPr id="18" name="Text 16"/>
          <p:cNvSpPr/>
          <p:nvPr/>
        </p:nvSpPr>
        <p:spPr>
          <a:xfrm>
            <a:off x="457200" y="4407408"/>
            <a:ext cx="8229600" cy="320040"/>
          </a:xfrm>
          <a:prstGeom prst="rect">
            <a:avLst/>
          </a:prstGeom>
          <a:noFill/>
          <a:ln/>
        </p:spPr>
        <p:txBody>
          <a:bodyPr wrap="square" lIns="0" tIns="0" rIns="0" bIns="0" rtlCol="0" anchor="ctr"/>
          <a:lstStyle/>
          <a:p>
            <a:pPr indent="0" marL="0">
              <a:buNone/>
            </a:pPr>
            <a:r>
              <a:rPr lang="en-US" sz="1050" dirty="0">
                <a:solidFill>
                  <a:srgbClr val="5F7168"/>
                </a:solidFill>
                <a:latin typeface="Meiryo" pitchFamily="34" charset="0"/>
                <a:ea typeface="Meiryo" pitchFamily="34" charset="-122"/>
                <a:cs typeface="Meiryo" pitchFamily="34" charset="-120"/>
              </a:rPr>
              <a:t>※ 01・02は2024年1月から実施中の内容、03は2027年1月施行予定の改正内容です。</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92608"/>
            <a:ext cx="8229600" cy="658368"/>
          </a:xfrm>
          <a:prstGeom prst="rect">
            <a:avLst/>
          </a:prstGeom>
          <a:noFill/>
          <a:ln/>
        </p:spPr>
        <p:txBody>
          <a:bodyPr wrap="square" lIns="0" tIns="0" rIns="0" bIns="0" rtlCol="0" anchor="ctr"/>
          <a:lstStyle/>
          <a:p>
            <a:pPr indent="0" marL="0">
              <a:buNone/>
            </a:pPr>
            <a:r>
              <a:rPr lang="en-US" sz="3200" b="1" dirty="0">
                <a:solidFill>
                  <a:srgbClr val="1F2A24"/>
                </a:solidFill>
                <a:latin typeface="Meiryo" pitchFamily="34" charset="0"/>
                <a:ea typeface="Meiryo" pitchFamily="34" charset="-122"/>
                <a:cs typeface="Meiryo" pitchFamily="34" charset="-120"/>
              </a:rPr>
              <a:t>そもそも、何が得なのか</a:t>
            </a:r>
            <a:endParaRPr lang="en-US" sz="3200" dirty="0"/>
          </a:p>
        </p:txBody>
      </p:sp>
      <p:sp>
        <p:nvSpPr>
          <p:cNvPr id="3" name="Shape 1"/>
          <p:cNvSpPr/>
          <p:nvPr/>
        </p:nvSpPr>
        <p:spPr>
          <a:xfrm>
            <a:off x="457200" y="1188720"/>
            <a:ext cx="3931920" cy="1371600"/>
          </a:xfrm>
          <a:prstGeom prst="roundRect">
            <a:avLst>
              <a:gd name="adj" fmla="val 4000"/>
            </a:avLst>
          </a:prstGeom>
          <a:solidFill>
            <a:srgbClr val="F2F5F3"/>
          </a:solidFill>
          <a:ln w="12700">
            <a:solidFill>
              <a:srgbClr val="F2F5F3"/>
            </a:solidFill>
            <a:prstDash val="solid"/>
          </a:ln>
          <a:effectLst>
            <a:outerShdw sx="100000" sy="100000" kx="0" ky="0" algn="bl" rotWithShape="0" blurRad="101600" dist="25400" dir="5400000">
              <a:srgbClr val="1B4332">
                <a:alpha val="12000"/>
              </a:srgbClr>
            </a:outerShdw>
          </a:effectLst>
        </p:spPr>
      </p:sp>
      <p:sp>
        <p:nvSpPr>
          <p:cNvPr id="4" name="Text 2"/>
          <p:cNvSpPr/>
          <p:nvPr/>
        </p:nvSpPr>
        <p:spPr>
          <a:xfrm>
            <a:off x="731520" y="1371600"/>
            <a:ext cx="3383280" cy="320040"/>
          </a:xfrm>
          <a:prstGeom prst="rect">
            <a:avLst/>
          </a:prstGeom>
          <a:noFill/>
          <a:ln/>
        </p:spPr>
        <p:txBody>
          <a:bodyPr wrap="square" lIns="0" tIns="0" rIns="0" bIns="0" rtlCol="0" anchor="ctr"/>
          <a:lstStyle/>
          <a:p>
            <a:pPr indent="0" marL="0">
              <a:buNone/>
            </a:pPr>
            <a:r>
              <a:rPr lang="en-US" sz="1200" dirty="0">
                <a:solidFill>
                  <a:srgbClr val="5F7168"/>
                </a:solidFill>
                <a:latin typeface="Meiryo" pitchFamily="34" charset="0"/>
                <a:ea typeface="Meiryo" pitchFamily="34" charset="-122"/>
                <a:cs typeface="Meiryo" pitchFamily="34" charset="-120"/>
              </a:rPr>
              <a:t>課税口座（特定口座・一般口座）</a:t>
            </a:r>
            <a:endParaRPr lang="en-US" sz="1200" dirty="0"/>
          </a:p>
        </p:txBody>
      </p:sp>
      <p:sp>
        <p:nvSpPr>
          <p:cNvPr id="5" name="Text 3"/>
          <p:cNvSpPr/>
          <p:nvPr/>
        </p:nvSpPr>
        <p:spPr>
          <a:xfrm>
            <a:off x="731520" y="1691640"/>
            <a:ext cx="3383280" cy="685800"/>
          </a:xfrm>
          <a:prstGeom prst="rect">
            <a:avLst/>
          </a:prstGeom>
          <a:noFill/>
          <a:ln/>
        </p:spPr>
        <p:txBody>
          <a:bodyPr wrap="square" lIns="0" tIns="0" rIns="0" bIns="0" rtlCol="0" anchor="ctr"/>
          <a:lstStyle/>
          <a:p>
            <a:pPr indent="0" marL="0">
              <a:buNone/>
            </a:pPr>
            <a:r>
              <a:rPr lang="en-US" sz="4000" b="1" dirty="0">
                <a:solidFill>
                  <a:srgbClr val="5F7168"/>
                </a:solidFill>
                <a:latin typeface="Meiryo" pitchFamily="34" charset="0"/>
                <a:ea typeface="Meiryo" pitchFamily="34" charset="-122"/>
                <a:cs typeface="Meiryo" pitchFamily="34" charset="-120"/>
              </a:rPr>
              <a:t>20.315%</a:t>
            </a:r>
            <a:endParaRPr lang="en-US" sz="4000" dirty="0"/>
          </a:p>
        </p:txBody>
      </p:sp>
      <p:sp>
        <p:nvSpPr>
          <p:cNvPr id="6" name="Text 4"/>
          <p:cNvSpPr/>
          <p:nvPr/>
        </p:nvSpPr>
        <p:spPr>
          <a:xfrm>
            <a:off x="457200" y="2578608"/>
            <a:ext cx="3931920" cy="365760"/>
          </a:xfrm>
          <a:prstGeom prst="rect">
            <a:avLst/>
          </a:prstGeom>
          <a:noFill/>
          <a:ln/>
        </p:spPr>
        <p:txBody>
          <a:bodyPr wrap="square" lIns="0" tIns="0" rIns="0" bIns="0" rtlCol="0" anchor="ctr"/>
          <a:lstStyle/>
          <a:p>
            <a:pPr algn="ctr" indent="0" marL="0">
              <a:buNone/>
            </a:pPr>
            <a:r>
              <a:rPr lang="en-US" sz="2000" b="1" dirty="0">
                <a:solidFill>
                  <a:srgbClr val="E9C46A"/>
                </a:solidFill>
                <a:latin typeface="Meiryo" pitchFamily="34" charset="0"/>
                <a:ea typeface="Meiryo" pitchFamily="34" charset="-122"/>
                <a:cs typeface="Meiryo" pitchFamily="34" charset="-120"/>
              </a:rPr>
              <a:t>↓</a:t>
            </a:r>
            <a:endParaRPr lang="en-US" sz="2000" dirty="0"/>
          </a:p>
        </p:txBody>
      </p:sp>
      <p:sp>
        <p:nvSpPr>
          <p:cNvPr id="7" name="Shape 5"/>
          <p:cNvSpPr/>
          <p:nvPr/>
        </p:nvSpPr>
        <p:spPr>
          <a:xfrm>
            <a:off x="457200" y="2944368"/>
            <a:ext cx="3931920" cy="1371600"/>
          </a:xfrm>
          <a:prstGeom prst="roundRect">
            <a:avLst>
              <a:gd name="adj" fmla="val 4000"/>
            </a:avLst>
          </a:prstGeom>
          <a:solidFill>
            <a:srgbClr val="1B4332"/>
          </a:solidFill>
          <a:ln w="12700">
            <a:solidFill>
              <a:srgbClr val="1B4332"/>
            </a:solidFill>
            <a:prstDash val="solid"/>
          </a:ln>
          <a:effectLst>
            <a:outerShdw sx="100000" sy="100000" kx="0" ky="0" algn="bl" rotWithShape="0" blurRad="101600" dist="25400" dir="5400000">
              <a:srgbClr val="1B4332">
                <a:alpha val="12000"/>
              </a:srgbClr>
            </a:outerShdw>
          </a:effectLst>
        </p:spPr>
      </p:sp>
      <p:sp>
        <p:nvSpPr>
          <p:cNvPr id="8" name="Text 6"/>
          <p:cNvSpPr/>
          <p:nvPr/>
        </p:nvSpPr>
        <p:spPr>
          <a:xfrm>
            <a:off x="731520" y="3127248"/>
            <a:ext cx="3383280" cy="320040"/>
          </a:xfrm>
          <a:prstGeom prst="rect">
            <a:avLst/>
          </a:prstGeom>
          <a:noFill/>
          <a:ln/>
        </p:spPr>
        <p:txBody>
          <a:bodyPr wrap="square" lIns="0" tIns="0" rIns="0" bIns="0" rtlCol="0" anchor="ctr"/>
          <a:lstStyle/>
          <a:p>
            <a:pPr indent="0" marL="0">
              <a:buNone/>
            </a:pPr>
            <a:r>
              <a:rPr lang="en-US" sz="1200" dirty="0">
                <a:solidFill>
                  <a:srgbClr val="95D5B2"/>
                </a:solidFill>
                <a:latin typeface="Meiryo" pitchFamily="34" charset="0"/>
                <a:ea typeface="Meiryo" pitchFamily="34" charset="-122"/>
                <a:cs typeface="Meiryo" pitchFamily="34" charset="-120"/>
              </a:rPr>
              <a:t>NISA口座</a:t>
            </a:r>
            <a:endParaRPr lang="en-US" sz="1200" dirty="0"/>
          </a:p>
        </p:txBody>
      </p:sp>
      <p:sp>
        <p:nvSpPr>
          <p:cNvPr id="9" name="Text 7"/>
          <p:cNvSpPr/>
          <p:nvPr/>
        </p:nvSpPr>
        <p:spPr>
          <a:xfrm>
            <a:off x="731520" y="3447288"/>
            <a:ext cx="3383280" cy="6858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0%</a:t>
            </a:r>
            <a:endParaRPr lang="en-US" sz="4000" dirty="0"/>
          </a:p>
        </p:txBody>
      </p:sp>
      <p:sp>
        <p:nvSpPr>
          <p:cNvPr id="10" name="Text 8"/>
          <p:cNvSpPr/>
          <p:nvPr/>
        </p:nvSpPr>
        <p:spPr>
          <a:xfrm>
            <a:off x="4709160" y="1234440"/>
            <a:ext cx="3977640" cy="411480"/>
          </a:xfrm>
          <a:prstGeom prst="rect">
            <a:avLst/>
          </a:prstGeom>
          <a:noFill/>
          <a:ln/>
        </p:spPr>
        <p:txBody>
          <a:bodyPr wrap="square" lIns="0" tIns="0" rIns="0" bIns="0" rtlCol="0" anchor="ctr"/>
          <a:lstStyle/>
          <a:p>
            <a:pPr indent="0" marL="0">
              <a:buNone/>
            </a:pPr>
            <a:r>
              <a:rPr lang="en-US" sz="1700" b="1" dirty="0">
                <a:solidFill>
                  <a:srgbClr val="1B4332"/>
                </a:solidFill>
                <a:latin typeface="Meiryo" pitchFamily="34" charset="0"/>
                <a:ea typeface="Meiryo" pitchFamily="34" charset="-122"/>
                <a:cs typeface="Meiryo" pitchFamily="34" charset="-120"/>
              </a:rPr>
              <a:t>利益が100万円出たとしたら</a:t>
            </a:r>
            <a:endParaRPr lang="en-US" sz="1700" dirty="0"/>
          </a:p>
        </p:txBody>
      </p:sp>
      <p:sp>
        <p:nvSpPr>
          <p:cNvPr id="11" name="Text 9"/>
          <p:cNvSpPr/>
          <p:nvPr/>
        </p:nvSpPr>
        <p:spPr>
          <a:xfrm>
            <a:off x="4709160" y="1737360"/>
            <a:ext cx="3977640" cy="1188720"/>
          </a:xfrm>
          <a:prstGeom prst="rect">
            <a:avLst/>
          </a:prstGeom>
          <a:noFill/>
          <a:ln/>
        </p:spPr>
        <p:txBody>
          <a:bodyPr wrap="square" lIns="0" tIns="0" rIns="0" bIns="0" rtlCol="0" anchor="t"/>
          <a:lstStyle/>
          <a:p>
            <a:pPr indent="0" marL="0">
              <a:lnSpc>
                <a:spcPct val="140000"/>
              </a:lnSpc>
              <a:buNone/>
            </a:pPr>
            <a:r>
              <a:rPr lang="en-US" sz="1350" dirty="0">
                <a:solidFill>
                  <a:srgbClr val="1F2A24"/>
                </a:solidFill>
                <a:latin typeface="Meiryo" pitchFamily="34" charset="0"/>
                <a:ea typeface="Meiryo" pitchFamily="34" charset="-122"/>
                <a:cs typeface="Meiryo" pitchFamily="34" charset="-120"/>
              </a:rPr>
              <a:t>課税口座なら、約20万3千円が税金として引かれ、手元に残るのは約79万7千円。</a:t>
            </a:r>
            <a:endParaRPr lang="en-US" sz="1350" dirty="0"/>
          </a:p>
          <a:p>
            <a:pPr indent="0" marL="0">
              <a:lnSpc>
                <a:spcPct val="140000"/>
              </a:lnSpc>
              <a:buNone/>
            </a:pPr>
            <a:r>
              <a:rPr lang="en-US" sz="1350" dirty="0">
                <a:solidFill>
                  <a:srgbClr val="1F2A24"/>
                </a:solidFill>
                <a:latin typeface="Meiryo" pitchFamily="34" charset="0"/>
                <a:ea typeface="Meiryo" pitchFamily="34" charset="-122"/>
                <a:cs typeface="Meiryo" pitchFamily="34" charset="-120"/>
              </a:rPr>
              <a:t>NISA口座なら、100万円がそのまま残ります。</a:t>
            </a:r>
            <a:endParaRPr lang="en-US" sz="1350" dirty="0"/>
          </a:p>
        </p:txBody>
      </p:sp>
      <p:sp>
        <p:nvSpPr>
          <p:cNvPr id="12" name="Shape 10"/>
          <p:cNvSpPr/>
          <p:nvPr/>
        </p:nvSpPr>
        <p:spPr>
          <a:xfrm>
            <a:off x="4709160" y="3017520"/>
            <a:ext cx="3977640" cy="1298448"/>
          </a:xfrm>
          <a:prstGeom prst="roundRect">
            <a:avLst>
              <a:gd name="adj" fmla="val 4225"/>
            </a:avLst>
          </a:prstGeom>
          <a:solidFill>
            <a:srgbClr val="EDF6F0"/>
          </a:solidFill>
          <a:ln w="12700">
            <a:solidFill>
              <a:srgbClr val="EDF6F0"/>
            </a:solidFill>
            <a:prstDash val="solid"/>
          </a:ln>
          <a:effectLst>
            <a:outerShdw sx="100000" sy="100000" kx="0" ky="0" algn="bl" rotWithShape="0" blurRad="101600" dist="25400" dir="5400000">
              <a:srgbClr val="1B4332">
                <a:alpha val="12000"/>
              </a:srgbClr>
            </a:outerShdw>
          </a:effectLst>
        </p:spPr>
      </p:sp>
      <p:sp>
        <p:nvSpPr>
          <p:cNvPr id="13" name="Text 11"/>
          <p:cNvSpPr/>
          <p:nvPr/>
        </p:nvSpPr>
        <p:spPr>
          <a:xfrm>
            <a:off x="4983480" y="3200400"/>
            <a:ext cx="3429000" cy="914400"/>
          </a:xfrm>
          <a:prstGeom prst="rect">
            <a:avLst/>
          </a:prstGeom>
          <a:noFill/>
          <a:ln/>
        </p:spPr>
        <p:txBody>
          <a:bodyPr wrap="square" lIns="0" tIns="0" rIns="0" bIns="0" rtlCol="0" anchor="t"/>
          <a:lstStyle/>
          <a:p>
            <a:pPr indent="0" marL="0">
              <a:lnSpc>
                <a:spcPct val="130000"/>
              </a:lnSpc>
              <a:buNone/>
            </a:pPr>
            <a:r>
              <a:rPr lang="en-US" sz="1200" b="1" dirty="0">
                <a:solidFill>
                  <a:srgbClr val="1B4332"/>
                </a:solidFill>
                <a:latin typeface="Meiryo" pitchFamily="34" charset="0"/>
                <a:ea typeface="Meiryo" pitchFamily="34" charset="-122"/>
                <a:cs typeface="Meiryo" pitchFamily="34" charset="-120"/>
              </a:rPr>
              <a:t>20.315% の内訳
</a:t>
            </a:r>
            <a:endParaRPr lang="en-US" sz="1200" dirty="0"/>
          </a:p>
          <a:p>
            <a:pPr indent="0" marL="0">
              <a:lnSpc>
                <a:spcPct val="130000"/>
              </a:lnSpc>
              <a:buNone/>
            </a:pPr>
            <a:r>
              <a:rPr lang="en-US" sz="1150" dirty="0">
                <a:solidFill>
                  <a:srgbClr val="5F7168"/>
                </a:solidFill>
                <a:latin typeface="Meiryo" pitchFamily="34" charset="0"/>
                <a:ea typeface="Meiryo" pitchFamily="34" charset="-122"/>
                <a:cs typeface="Meiryo" pitchFamily="34" charset="-120"/>
              </a:rPr>
              <a:t>所得税15% + 復興特別所得税0.315% + 住民税5%</a:t>
            </a:r>
            <a:endParaRPr lang="en-US" sz="1200" dirty="0"/>
          </a:p>
        </p:txBody>
      </p:sp>
      <p:sp>
        <p:nvSpPr>
          <p:cNvPr id="14" name="Text 12"/>
          <p:cNvSpPr/>
          <p:nvPr/>
        </p:nvSpPr>
        <p:spPr>
          <a:xfrm>
            <a:off x="457200" y="4434840"/>
            <a:ext cx="8229600" cy="320040"/>
          </a:xfrm>
          <a:prstGeom prst="rect">
            <a:avLst/>
          </a:prstGeom>
          <a:noFill/>
          <a:ln/>
        </p:spPr>
        <p:txBody>
          <a:bodyPr wrap="square" lIns="0" tIns="0" rIns="0" bIns="0" rtlCol="0" anchor="ctr"/>
          <a:lstStyle/>
          <a:p>
            <a:pPr indent="0" marL="0">
              <a:buNone/>
            </a:pPr>
            <a:r>
              <a:rPr lang="en-US" sz="1050" dirty="0">
                <a:solidFill>
                  <a:srgbClr val="5F7168"/>
                </a:solidFill>
                <a:latin typeface="Meiryo" pitchFamily="34" charset="0"/>
                <a:ea typeface="Meiryo" pitchFamily="34" charset="-122"/>
                <a:cs typeface="Meiryo" pitchFamily="34" charset="-120"/>
              </a:rPr>
              <a:t>※ 金額は税率20.315%で単純計算したもの。実際は手数料等により異なります。</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92608"/>
            <a:ext cx="8229600" cy="658368"/>
          </a:xfrm>
          <a:prstGeom prst="rect">
            <a:avLst/>
          </a:prstGeom>
          <a:noFill/>
          <a:ln/>
        </p:spPr>
        <p:txBody>
          <a:bodyPr wrap="square" lIns="0" tIns="0" rIns="0" bIns="0" rtlCol="0" anchor="ctr"/>
          <a:lstStyle/>
          <a:p>
            <a:pPr indent="0" marL="0">
              <a:buNone/>
            </a:pPr>
            <a:r>
              <a:rPr lang="en-US" sz="3200" b="1" dirty="0">
                <a:solidFill>
                  <a:srgbClr val="1F2A24"/>
                </a:solidFill>
                <a:latin typeface="Meiryo" pitchFamily="34" charset="0"/>
                <a:ea typeface="Meiryo" pitchFamily="34" charset="-122"/>
                <a:cs typeface="Meiryo" pitchFamily="34" charset="-120"/>
              </a:rPr>
              <a:t>いまの制度（2024年1月〜）</a:t>
            </a:r>
            <a:endParaRPr lang="en-US" sz="3200" dirty="0"/>
          </a:p>
        </p:txBody>
      </p:sp>
      <p:sp>
        <p:nvSpPr>
          <p:cNvPr id="3" name="Shape 1"/>
          <p:cNvSpPr/>
          <p:nvPr/>
        </p:nvSpPr>
        <p:spPr>
          <a:xfrm>
            <a:off x="457200" y="1143000"/>
            <a:ext cx="3977640" cy="2971800"/>
          </a:xfrm>
          <a:prstGeom prst="roundRect">
            <a:avLst>
              <a:gd name="adj" fmla="val 1846"/>
            </a:avLst>
          </a:prstGeom>
          <a:solidFill>
            <a:srgbClr val="EDF6F0"/>
          </a:solidFill>
          <a:ln w="12700">
            <a:solidFill>
              <a:srgbClr val="EDF6F0"/>
            </a:solidFill>
            <a:prstDash val="solid"/>
          </a:ln>
          <a:effectLst>
            <a:outerShdw sx="100000" sy="100000" kx="0" ky="0" algn="bl" rotWithShape="0" blurRad="101600" dist="25400" dir="5400000">
              <a:srgbClr val="1B4332">
                <a:alpha val="12000"/>
              </a:srgbClr>
            </a:outerShdw>
          </a:effectLst>
        </p:spPr>
      </p:sp>
      <p:sp>
        <p:nvSpPr>
          <p:cNvPr id="4" name="Text 2"/>
          <p:cNvSpPr/>
          <p:nvPr/>
        </p:nvSpPr>
        <p:spPr>
          <a:xfrm>
            <a:off x="731520" y="1325880"/>
            <a:ext cx="3429000" cy="411480"/>
          </a:xfrm>
          <a:prstGeom prst="rect">
            <a:avLst/>
          </a:prstGeom>
          <a:noFill/>
          <a:ln/>
        </p:spPr>
        <p:txBody>
          <a:bodyPr wrap="square" lIns="0" tIns="0" rIns="0" bIns="0" rtlCol="0" anchor="ctr"/>
          <a:lstStyle/>
          <a:p>
            <a:pPr indent="0" marL="0">
              <a:buNone/>
            </a:pPr>
            <a:r>
              <a:rPr lang="en-US" sz="1900" b="1" dirty="0">
                <a:solidFill>
                  <a:srgbClr val="1B4332"/>
                </a:solidFill>
                <a:latin typeface="Meiryo" pitchFamily="34" charset="0"/>
                <a:ea typeface="Meiryo" pitchFamily="34" charset="-122"/>
                <a:cs typeface="Meiryo" pitchFamily="34" charset="-120"/>
              </a:rPr>
              <a:t>つみたて投資枠</a:t>
            </a:r>
            <a:endParaRPr lang="en-US" sz="1900" dirty="0"/>
          </a:p>
        </p:txBody>
      </p:sp>
      <p:sp>
        <p:nvSpPr>
          <p:cNvPr id="5" name="Text 3"/>
          <p:cNvSpPr/>
          <p:nvPr/>
        </p:nvSpPr>
        <p:spPr>
          <a:xfrm>
            <a:off x="731520" y="1874520"/>
            <a:ext cx="1143000" cy="566928"/>
          </a:xfrm>
          <a:prstGeom prst="rect">
            <a:avLst/>
          </a:prstGeom>
          <a:noFill/>
          <a:ln/>
        </p:spPr>
        <p:txBody>
          <a:bodyPr wrap="square" lIns="0" tIns="0" rIns="0" bIns="0" rtlCol="0" anchor="t"/>
          <a:lstStyle/>
          <a:p>
            <a:pPr indent="0" marL="0">
              <a:buNone/>
            </a:pPr>
            <a:r>
              <a:rPr lang="en-US" sz="1100" dirty="0">
                <a:solidFill>
                  <a:srgbClr val="5F7168"/>
                </a:solidFill>
                <a:latin typeface="Meiryo" pitchFamily="34" charset="0"/>
                <a:ea typeface="Meiryo" pitchFamily="34" charset="-122"/>
                <a:cs typeface="Meiryo" pitchFamily="34" charset="-120"/>
              </a:rPr>
              <a:t>年間投資枠</a:t>
            </a:r>
            <a:endParaRPr lang="en-US" sz="1100" dirty="0"/>
          </a:p>
        </p:txBody>
      </p:sp>
      <p:sp>
        <p:nvSpPr>
          <p:cNvPr id="6" name="Text 4"/>
          <p:cNvSpPr/>
          <p:nvPr/>
        </p:nvSpPr>
        <p:spPr>
          <a:xfrm>
            <a:off x="1920240" y="1874520"/>
            <a:ext cx="2240280" cy="621792"/>
          </a:xfrm>
          <a:prstGeom prst="rect">
            <a:avLst/>
          </a:prstGeom>
          <a:noFill/>
          <a:ln/>
        </p:spPr>
        <p:txBody>
          <a:bodyPr wrap="square" lIns="0" tIns="0" rIns="0" bIns="0" rtlCol="0" anchor="t"/>
          <a:lstStyle/>
          <a:p>
            <a:pPr indent="0" marL="0">
              <a:lnSpc>
                <a:spcPct val="120000"/>
              </a:lnSpc>
              <a:buNone/>
            </a:pPr>
            <a:r>
              <a:rPr lang="en-US" sz="1250" b="1" dirty="0">
                <a:solidFill>
                  <a:srgbClr val="1F2A24"/>
                </a:solidFill>
                <a:latin typeface="Meiryo" pitchFamily="34" charset="0"/>
                <a:ea typeface="Meiryo" pitchFamily="34" charset="-122"/>
                <a:cs typeface="Meiryo" pitchFamily="34" charset="-120"/>
              </a:rPr>
              <a:t>120万円</a:t>
            </a:r>
            <a:endParaRPr lang="en-US" sz="1250" dirty="0"/>
          </a:p>
        </p:txBody>
      </p:sp>
      <p:sp>
        <p:nvSpPr>
          <p:cNvPr id="7" name="Text 5"/>
          <p:cNvSpPr/>
          <p:nvPr/>
        </p:nvSpPr>
        <p:spPr>
          <a:xfrm>
            <a:off x="731520" y="2587752"/>
            <a:ext cx="1143000" cy="566928"/>
          </a:xfrm>
          <a:prstGeom prst="rect">
            <a:avLst/>
          </a:prstGeom>
          <a:noFill/>
          <a:ln/>
        </p:spPr>
        <p:txBody>
          <a:bodyPr wrap="square" lIns="0" tIns="0" rIns="0" bIns="0" rtlCol="0" anchor="t"/>
          <a:lstStyle/>
          <a:p>
            <a:pPr indent="0" marL="0">
              <a:buNone/>
            </a:pPr>
            <a:r>
              <a:rPr lang="en-US" sz="1100" dirty="0">
                <a:solidFill>
                  <a:srgbClr val="5F7168"/>
                </a:solidFill>
                <a:latin typeface="Meiryo" pitchFamily="34" charset="0"/>
                <a:ea typeface="Meiryo" pitchFamily="34" charset="-122"/>
                <a:cs typeface="Meiryo" pitchFamily="34" charset="-120"/>
              </a:rPr>
              <a:t>対象商品</a:t>
            </a:r>
            <a:endParaRPr lang="en-US" sz="1100" dirty="0"/>
          </a:p>
        </p:txBody>
      </p:sp>
      <p:sp>
        <p:nvSpPr>
          <p:cNvPr id="8" name="Text 6"/>
          <p:cNvSpPr/>
          <p:nvPr/>
        </p:nvSpPr>
        <p:spPr>
          <a:xfrm>
            <a:off x="1920240" y="2587752"/>
            <a:ext cx="2240280" cy="621792"/>
          </a:xfrm>
          <a:prstGeom prst="rect">
            <a:avLst/>
          </a:prstGeom>
          <a:noFill/>
          <a:ln/>
        </p:spPr>
        <p:txBody>
          <a:bodyPr wrap="square" lIns="0" tIns="0" rIns="0" bIns="0" rtlCol="0" anchor="t"/>
          <a:lstStyle/>
          <a:p>
            <a:pPr indent="0" marL="0">
              <a:lnSpc>
                <a:spcPct val="120000"/>
              </a:lnSpc>
              <a:buNone/>
            </a:pPr>
            <a:r>
              <a:rPr lang="en-US" sz="1250" b="1" dirty="0">
                <a:solidFill>
                  <a:srgbClr val="1F2A24"/>
                </a:solidFill>
                <a:latin typeface="Meiryo" pitchFamily="34" charset="0"/>
                <a:ea typeface="Meiryo" pitchFamily="34" charset="-122"/>
                <a:cs typeface="Meiryo" pitchFamily="34" charset="-120"/>
              </a:rPr>
              <a:t>金融庁の基準を満たす</a:t>
            </a:r>
            <a:endParaRPr lang="en-US" sz="1250" dirty="0"/>
          </a:p>
          <a:p>
            <a:pPr indent="0" marL="0">
              <a:lnSpc>
                <a:spcPct val="120000"/>
              </a:lnSpc>
              <a:buNone/>
            </a:pPr>
            <a:r>
              <a:rPr lang="en-US" sz="1250" b="1" dirty="0">
                <a:solidFill>
                  <a:srgbClr val="1F2A24"/>
                </a:solidFill>
                <a:latin typeface="Meiryo" pitchFamily="34" charset="0"/>
                <a:ea typeface="Meiryo" pitchFamily="34" charset="-122"/>
                <a:cs typeface="Meiryo" pitchFamily="34" charset="-120"/>
              </a:rPr>
              <a:t>投資信託・ETF（約350本）</a:t>
            </a:r>
            <a:endParaRPr lang="en-US" sz="1250" dirty="0"/>
          </a:p>
        </p:txBody>
      </p:sp>
      <p:sp>
        <p:nvSpPr>
          <p:cNvPr id="9" name="Text 7"/>
          <p:cNvSpPr/>
          <p:nvPr/>
        </p:nvSpPr>
        <p:spPr>
          <a:xfrm>
            <a:off x="731520" y="3300984"/>
            <a:ext cx="1143000" cy="566928"/>
          </a:xfrm>
          <a:prstGeom prst="rect">
            <a:avLst/>
          </a:prstGeom>
          <a:noFill/>
          <a:ln/>
        </p:spPr>
        <p:txBody>
          <a:bodyPr wrap="square" lIns="0" tIns="0" rIns="0" bIns="0" rtlCol="0" anchor="t"/>
          <a:lstStyle/>
          <a:p>
            <a:pPr indent="0" marL="0">
              <a:buNone/>
            </a:pPr>
            <a:r>
              <a:rPr lang="en-US" sz="1100" dirty="0">
                <a:solidFill>
                  <a:srgbClr val="5F7168"/>
                </a:solidFill>
                <a:latin typeface="Meiryo" pitchFamily="34" charset="0"/>
                <a:ea typeface="Meiryo" pitchFamily="34" charset="-122"/>
                <a:cs typeface="Meiryo" pitchFamily="34" charset="-120"/>
              </a:rPr>
              <a:t>買い方</a:t>
            </a:r>
            <a:endParaRPr lang="en-US" sz="1100" dirty="0"/>
          </a:p>
        </p:txBody>
      </p:sp>
      <p:sp>
        <p:nvSpPr>
          <p:cNvPr id="10" name="Text 8"/>
          <p:cNvSpPr/>
          <p:nvPr/>
        </p:nvSpPr>
        <p:spPr>
          <a:xfrm>
            <a:off x="1920240" y="3300984"/>
            <a:ext cx="2240280" cy="621792"/>
          </a:xfrm>
          <a:prstGeom prst="rect">
            <a:avLst/>
          </a:prstGeom>
          <a:noFill/>
          <a:ln/>
        </p:spPr>
        <p:txBody>
          <a:bodyPr wrap="square" lIns="0" tIns="0" rIns="0" bIns="0" rtlCol="0" anchor="t"/>
          <a:lstStyle/>
          <a:p>
            <a:pPr indent="0" marL="0">
              <a:lnSpc>
                <a:spcPct val="120000"/>
              </a:lnSpc>
              <a:buNone/>
            </a:pPr>
            <a:r>
              <a:rPr lang="en-US" sz="1250" b="1" dirty="0">
                <a:solidFill>
                  <a:srgbClr val="1F2A24"/>
                </a:solidFill>
                <a:latin typeface="Meiryo" pitchFamily="34" charset="0"/>
                <a:ea typeface="Meiryo" pitchFamily="34" charset="-122"/>
                <a:cs typeface="Meiryo" pitchFamily="34" charset="-120"/>
              </a:rPr>
              <a:t>積立のみ</a:t>
            </a:r>
            <a:endParaRPr lang="en-US" sz="1250" dirty="0"/>
          </a:p>
        </p:txBody>
      </p:sp>
      <p:sp>
        <p:nvSpPr>
          <p:cNvPr id="11" name="Shape 9"/>
          <p:cNvSpPr/>
          <p:nvPr/>
        </p:nvSpPr>
        <p:spPr>
          <a:xfrm>
            <a:off x="4709160" y="1143000"/>
            <a:ext cx="3977640" cy="2971800"/>
          </a:xfrm>
          <a:prstGeom prst="roundRect">
            <a:avLst>
              <a:gd name="adj" fmla="val 1846"/>
            </a:avLst>
          </a:prstGeom>
          <a:solidFill>
            <a:srgbClr val="EDF6F0"/>
          </a:solidFill>
          <a:ln w="12700">
            <a:solidFill>
              <a:srgbClr val="EDF6F0"/>
            </a:solidFill>
            <a:prstDash val="solid"/>
          </a:ln>
          <a:effectLst>
            <a:outerShdw sx="100000" sy="100000" kx="0" ky="0" algn="bl" rotWithShape="0" blurRad="101600" dist="25400" dir="5400000">
              <a:srgbClr val="1B4332">
                <a:alpha val="12000"/>
              </a:srgbClr>
            </a:outerShdw>
          </a:effectLst>
        </p:spPr>
      </p:sp>
      <p:sp>
        <p:nvSpPr>
          <p:cNvPr id="12" name="Text 10"/>
          <p:cNvSpPr/>
          <p:nvPr/>
        </p:nvSpPr>
        <p:spPr>
          <a:xfrm>
            <a:off x="4983480" y="1325880"/>
            <a:ext cx="3429000" cy="411480"/>
          </a:xfrm>
          <a:prstGeom prst="rect">
            <a:avLst/>
          </a:prstGeom>
          <a:noFill/>
          <a:ln/>
        </p:spPr>
        <p:txBody>
          <a:bodyPr wrap="square" lIns="0" tIns="0" rIns="0" bIns="0" rtlCol="0" anchor="ctr"/>
          <a:lstStyle/>
          <a:p>
            <a:pPr indent="0" marL="0">
              <a:buNone/>
            </a:pPr>
            <a:r>
              <a:rPr lang="en-US" sz="1900" b="1" dirty="0">
                <a:solidFill>
                  <a:srgbClr val="1B4332"/>
                </a:solidFill>
                <a:latin typeface="Meiryo" pitchFamily="34" charset="0"/>
                <a:ea typeface="Meiryo" pitchFamily="34" charset="-122"/>
                <a:cs typeface="Meiryo" pitchFamily="34" charset="-120"/>
              </a:rPr>
              <a:t>成長投資枠</a:t>
            </a:r>
            <a:endParaRPr lang="en-US" sz="1900" dirty="0"/>
          </a:p>
        </p:txBody>
      </p:sp>
      <p:sp>
        <p:nvSpPr>
          <p:cNvPr id="13" name="Text 11"/>
          <p:cNvSpPr/>
          <p:nvPr/>
        </p:nvSpPr>
        <p:spPr>
          <a:xfrm>
            <a:off x="4983480" y="1874520"/>
            <a:ext cx="1143000" cy="566928"/>
          </a:xfrm>
          <a:prstGeom prst="rect">
            <a:avLst/>
          </a:prstGeom>
          <a:noFill/>
          <a:ln/>
        </p:spPr>
        <p:txBody>
          <a:bodyPr wrap="square" lIns="0" tIns="0" rIns="0" bIns="0" rtlCol="0" anchor="t"/>
          <a:lstStyle/>
          <a:p>
            <a:pPr indent="0" marL="0">
              <a:buNone/>
            </a:pPr>
            <a:r>
              <a:rPr lang="en-US" sz="1100" dirty="0">
                <a:solidFill>
                  <a:srgbClr val="5F7168"/>
                </a:solidFill>
                <a:latin typeface="Meiryo" pitchFamily="34" charset="0"/>
                <a:ea typeface="Meiryo" pitchFamily="34" charset="-122"/>
                <a:cs typeface="Meiryo" pitchFamily="34" charset="-120"/>
              </a:rPr>
              <a:t>年間投資枠</a:t>
            </a:r>
            <a:endParaRPr lang="en-US" sz="1100" dirty="0"/>
          </a:p>
        </p:txBody>
      </p:sp>
      <p:sp>
        <p:nvSpPr>
          <p:cNvPr id="14" name="Text 12"/>
          <p:cNvSpPr/>
          <p:nvPr/>
        </p:nvSpPr>
        <p:spPr>
          <a:xfrm>
            <a:off x="6172200" y="1874520"/>
            <a:ext cx="2240280" cy="621792"/>
          </a:xfrm>
          <a:prstGeom prst="rect">
            <a:avLst/>
          </a:prstGeom>
          <a:noFill/>
          <a:ln/>
        </p:spPr>
        <p:txBody>
          <a:bodyPr wrap="square" lIns="0" tIns="0" rIns="0" bIns="0" rtlCol="0" anchor="t"/>
          <a:lstStyle/>
          <a:p>
            <a:pPr indent="0" marL="0">
              <a:lnSpc>
                <a:spcPct val="120000"/>
              </a:lnSpc>
              <a:buNone/>
            </a:pPr>
            <a:r>
              <a:rPr lang="en-US" sz="1250" b="1" dirty="0">
                <a:solidFill>
                  <a:srgbClr val="1F2A24"/>
                </a:solidFill>
                <a:latin typeface="Meiryo" pitchFamily="34" charset="0"/>
                <a:ea typeface="Meiryo" pitchFamily="34" charset="-122"/>
                <a:cs typeface="Meiryo" pitchFamily="34" charset="-120"/>
              </a:rPr>
              <a:t>240万円</a:t>
            </a:r>
            <a:endParaRPr lang="en-US" sz="1250" dirty="0"/>
          </a:p>
        </p:txBody>
      </p:sp>
      <p:sp>
        <p:nvSpPr>
          <p:cNvPr id="15" name="Text 13"/>
          <p:cNvSpPr/>
          <p:nvPr/>
        </p:nvSpPr>
        <p:spPr>
          <a:xfrm>
            <a:off x="4983480" y="2587752"/>
            <a:ext cx="1143000" cy="566928"/>
          </a:xfrm>
          <a:prstGeom prst="rect">
            <a:avLst/>
          </a:prstGeom>
          <a:noFill/>
          <a:ln/>
        </p:spPr>
        <p:txBody>
          <a:bodyPr wrap="square" lIns="0" tIns="0" rIns="0" bIns="0" rtlCol="0" anchor="t"/>
          <a:lstStyle/>
          <a:p>
            <a:pPr indent="0" marL="0">
              <a:buNone/>
            </a:pPr>
            <a:r>
              <a:rPr lang="en-US" sz="1100" dirty="0">
                <a:solidFill>
                  <a:srgbClr val="5F7168"/>
                </a:solidFill>
                <a:latin typeface="Meiryo" pitchFamily="34" charset="0"/>
                <a:ea typeface="Meiryo" pitchFamily="34" charset="-122"/>
                <a:cs typeface="Meiryo" pitchFamily="34" charset="-120"/>
              </a:rPr>
              <a:t>対象商品</a:t>
            </a:r>
            <a:endParaRPr lang="en-US" sz="1100" dirty="0"/>
          </a:p>
        </p:txBody>
      </p:sp>
      <p:sp>
        <p:nvSpPr>
          <p:cNvPr id="16" name="Text 14"/>
          <p:cNvSpPr/>
          <p:nvPr/>
        </p:nvSpPr>
        <p:spPr>
          <a:xfrm>
            <a:off x="6172200" y="2587752"/>
            <a:ext cx="2240280" cy="621792"/>
          </a:xfrm>
          <a:prstGeom prst="rect">
            <a:avLst/>
          </a:prstGeom>
          <a:noFill/>
          <a:ln/>
        </p:spPr>
        <p:txBody>
          <a:bodyPr wrap="square" lIns="0" tIns="0" rIns="0" bIns="0" rtlCol="0" anchor="t"/>
          <a:lstStyle/>
          <a:p>
            <a:pPr indent="0" marL="0">
              <a:lnSpc>
                <a:spcPct val="120000"/>
              </a:lnSpc>
              <a:buNone/>
            </a:pPr>
            <a:r>
              <a:rPr lang="en-US" sz="1250" b="1" dirty="0">
                <a:solidFill>
                  <a:srgbClr val="1F2A24"/>
                </a:solidFill>
                <a:latin typeface="Meiryo" pitchFamily="34" charset="0"/>
                <a:ea typeface="Meiryo" pitchFamily="34" charset="-122"/>
                <a:cs typeface="Meiryo" pitchFamily="34" charset="-120"/>
              </a:rPr>
              <a:t>上場株式・投資信託</a:t>
            </a:r>
            <a:endParaRPr lang="en-US" sz="1250" dirty="0"/>
          </a:p>
          <a:p>
            <a:pPr indent="0" marL="0">
              <a:lnSpc>
                <a:spcPct val="120000"/>
              </a:lnSpc>
              <a:buNone/>
            </a:pPr>
            <a:r>
              <a:rPr lang="en-US" sz="1250" b="1" dirty="0">
                <a:solidFill>
                  <a:srgbClr val="1F2A24"/>
                </a:solidFill>
                <a:latin typeface="Meiryo" pitchFamily="34" charset="0"/>
                <a:ea typeface="Meiryo" pitchFamily="34" charset="-122"/>
                <a:cs typeface="Meiryo" pitchFamily="34" charset="-120"/>
              </a:rPr>
              <a:t>ETF・REIT など</a:t>
            </a:r>
            <a:endParaRPr lang="en-US" sz="1250" dirty="0"/>
          </a:p>
        </p:txBody>
      </p:sp>
      <p:sp>
        <p:nvSpPr>
          <p:cNvPr id="17" name="Text 15"/>
          <p:cNvSpPr/>
          <p:nvPr/>
        </p:nvSpPr>
        <p:spPr>
          <a:xfrm>
            <a:off x="4983480" y="3300984"/>
            <a:ext cx="1143000" cy="566928"/>
          </a:xfrm>
          <a:prstGeom prst="rect">
            <a:avLst/>
          </a:prstGeom>
          <a:noFill/>
          <a:ln/>
        </p:spPr>
        <p:txBody>
          <a:bodyPr wrap="square" lIns="0" tIns="0" rIns="0" bIns="0" rtlCol="0" anchor="t"/>
          <a:lstStyle/>
          <a:p>
            <a:pPr indent="0" marL="0">
              <a:buNone/>
            </a:pPr>
            <a:r>
              <a:rPr lang="en-US" sz="1100" dirty="0">
                <a:solidFill>
                  <a:srgbClr val="5F7168"/>
                </a:solidFill>
                <a:latin typeface="Meiryo" pitchFamily="34" charset="0"/>
                <a:ea typeface="Meiryo" pitchFamily="34" charset="-122"/>
                <a:cs typeface="Meiryo" pitchFamily="34" charset="-120"/>
              </a:rPr>
              <a:t>買い方</a:t>
            </a:r>
            <a:endParaRPr lang="en-US" sz="1100" dirty="0"/>
          </a:p>
        </p:txBody>
      </p:sp>
      <p:sp>
        <p:nvSpPr>
          <p:cNvPr id="18" name="Text 16"/>
          <p:cNvSpPr/>
          <p:nvPr/>
        </p:nvSpPr>
        <p:spPr>
          <a:xfrm>
            <a:off x="6172200" y="3300984"/>
            <a:ext cx="2240280" cy="621792"/>
          </a:xfrm>
          <a:prstGeom prst="rect">
            <a:avLst/>
          </a:prstGeom>
          <a:noFill/>
          <a:ln/>
        </p:spPr>
        <p:txBody>
          <a:bodyPr wrap="square" lIns="0" tIns="0" rIns="0" bIns="0" rtlCol="0" anchor="t"/>
          <a:lstStyle/>
          <a:p>
            <a:pPr indent="0" marL="0">
              <a:lnSpc>
                <a:spcPct val="120000"/>
              </a:lnSpc>
              <a:buNone/>
            </a:pPr>
            <a:r>
              <a:rPr lang="en-US" sz="1250" b="1" dirty="0">
                <a:solidFill>
                  <a:srgbClr val="1F2A24"/>
                </a:solidFill>
                <a:latin typeface="Meiryo" pitchFamily="34" charset="0"/>
                <a:ea typeface="Meiryo" pitchFamily="34" charset="-122"/>
                <a:cs typeface="Meiryo" pitchFamily="34" charset="-120"/>
              </a:rPr>
              <a:t>一括・積立どちらも</a:t>
            </a:r>
            <a:endParaRPr lang="en-US" sz="1250" dirty="0"/>
          </a:p>
        </p:txBody>
      </p:sp>
      <p:sp>
        <p:nvSpPr>
          <p:cNvPr id="19" name="Shape 17"/>
          <p:cNvSpPr/>
          <p:nvPr/>
        </p:nvSpPr>
        <p:spPr>
          <a:xfrm>
            <a:off x="457200" y="4224528"/>
            <a:ext cx="8229600" cy="502920"/>
          </a:xfrm>
          <a:prstGeom prst="roundRect">
            <a:avLst>
              <a:gd name="adj" fmla="val 9091"/>
            </a:avLst>
          </a:prstGeom>
          <a:solidFill>
            <a:srgbClr val="1B4332"/>
          </a:solidFill>
          <a:ln w="12700">
            <a:solidFill>
              <a:srgbClr val="1B4332"/>
            </a:solidFill>
            <a:prstDash val="solid"/>
          </a:ln>
        </p:spPr>
      </p:sp>
      <p:sp>
        <p:nvSpPr>
          <p:cNvPr id="20" name="Text 18"/>
          <p:cNvSpPr/>
          <p:nvPr/>
        </p:nvSpPr>
        <p:spPr>
          <a:xfrm>
            <a:off x="640080" y="4224528"/>
            <a:ext cx="7863840" cy="502920"/>
          </a:xfrm>
          <a:prstGeom prst="rect">
            <a:avLst/>
          </a:prstGeom>
          <a:noFill/>
          <a:ln/>
        </p:spPr>
        <p:txBody>
          <a:bodyPr wrap="square" lIns="0" tIns="0" rIns="0" bIns="0" rtlCol="0" anchor="ctr"/>
          <a:lstStyle/>
          <a:p>
            <a:pPr indent="0" marL="0">
              <a:buNone/>
            </a:pPr>
            <a:r>
              <a:rPr lang="en-US" sz="1200" b="1" dirty="0">
                <a:solidFill>
                  <a:srgbClr val="FFFFFF"/>
                </a:solidFill>
                <a:latin typeface="Meiryo" pitchFamily="34" charset="0"/>
                <a:ea typeface="Meiryo" pitchFamily="34" charset="-122"/>
                <a:cs typeface="Meiryo" pitchFamily="34" charset="-120"/>
              </a:rPr>
              <a:t>2つの枠は併用できます。合わせて年間360万円まで。対象は口座を開く年の1月1日時点で18歳以上の国内居住者です。</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92608"/>
            <a:ext cx="8229600" cy="658368"/>
          </a:xfrm>
          <a:prstGeom prst="rect">
            <a:avLst/>
          </a:prstGeom>
          <a:noFill/>
          <a:ln/>
        </p:spPr>
        <p:txBody>
          <a:bodyPr wrap="square" lIns="0" tIns="0" rIns="0" bIns="0" rtlCol="0" anchor="ctr"/>
          <a:lstStyle/>
          <a:p>
            <a:pPr indent="0" marL="0">
              <a:buNone/>
            </a:pPr>
            <a:r>
              <a:rPr lang="en-US" sz="3200" b="1" dirty="0">
                <a:solidFill>
                  <a:srgbClr val="1F2A24"/>
                </a:solidFill>
                <a:latin typeface="Meiryo" pitchFamily="34" charset="0"/>
                <a:ea typeface="Meiryo" pitchFamily="34" charset="-122"/>
                <a:cs typeface="Meiryo" pitchFamily="34" charset="-120"/>
              </a:rPr>
              <a:t>生涯で1,800万円まで</a:t>
            </a:r>
            <a:endParaRPr lang="en-US" sz="3200" dirty="0"/>
          </a:p>
        </p:txBody>
      </p:sp>
      <p:sp>
        <p:nvSpPr>
          <p:cNvPr id="3" name="Shape 1"/>
          <p:cNvSpPr/>
          <p:nvPr/>
        </p:nvSpPr>
        <p:spPr>
          <a:xfrm>
            <a:off x="457200" y="1234440"/>
            <a:ext cx="8229600" cy="777240"/>
          </a:xfrm>
          <a:prstGeom prst="roundRect">
            <a:avLst>
              <a:gd name="adj" fmla="val 4706"/>
            </a:avLst>
          </a:prstGeom>
          <a:solidFill>
            <a:srgbClr val="95D5B2"/>
          </a:solidFill>
          <a:ln w="12700">
            <a:solidFill>
              <a:srgbClr val="95D5B2"/>
            </a:solidFill>
            <a:prstDash val="solid"/>
          </a:ln>
        </p:spPr>
      </p:sp>
      <p:sp>
        <p:nvSpPr>
          <p:cNvPr id="4" name="Text 2"/>
          <p:cNvSpPr/>
          <p:nvPr/>
        </p:nvSpPr>
        <p:spPr>
          <a:xfrm>
            <a:off x="640080" y="1234440"/>
            <a:ext cx="7863840" cy="777240"/>
          </a:xfrm>
          <a:prstGeom prst="rect">
            <a:avLst/>
          </a:prstGeom>
          <a:noFill/>
          <a:ln/>
        </p:spPr>
        <p:txBody>
          <a:bodyPr wrap="square" lIns="0" tIns="0" rIns="0" bIns="0" rtlCol="0" anchor="ctr"/>
          <a:lstStyle/>
          <a:p>
            <a:pPr indent="0" marL="0">
              <a:buNone/>
            </a:pPr>
            <a:r>
              <a:rPr lang="en-US" sz="1600" b="1" dirty="0">
                <a:solidFill>
                  <a:srgbClr val="1B4332"/>
                </a:solidFill>
                <a:latin typeface="Meiryo" pitchFamily="34" charset="0"/>
                <a:ea typeface="Meiryo" pitchFamily="34" charset="-122"/>
                <a:cs typeface="Meiryo" pitchFamily="34" charset="-120"/>
              </a:rPr>
              <a:t>非課税保有限度額　1,800万円</a:t>
            </a:r>
            <a:endParaRPr lang="en-US" sz="1600" dirty="0"/>
          </a:p>
        </p:txBody>
      </p:sp>
      <p:sp>
        <p:nvSpPr>
          <p:cNvPr id="5" name="Shape 3"/>
          <p:cNvSpPr/>
          <p:nvPr/>
        </p:nvSpPr>
        <p:spPr>
          <a:xfrm>
            <a:off x="457200" y="2121408"/>
            <a:ext cx="5486400" cy="566928"/>
          </a:xfrm>
          <a:prstGeom prst="roundRect">
            <a:avLst>
              <a:gd name="adj" fmla="val 6452"/>
            </a:avLst>
          </a:prstGeom>
          <a:solidFill>
            <a:srgbClr val="E9C46A"/>
          </a:solidFill>
          <a:ln w="12700">
            <a:solidFill>
              <a:srgbClr val="E9C46A"/>
            </a:solidFill>
            <a:prstDash val="solid"/>
          </a:ln>
        </p:spPr>
      </p:sp>
      <p:sp>
        <p:nvSpPr>
          <p:cNvPr id="6" name="Text 4"/>
          <p:cNvSpPr/>
          <p:nvPr/>
        </p:nvSpPr>
        <p:spPr>
          <a:xfrm>
            <a:off x="640080" y="2121408"/>
            <a:ext cx="5120640" cy="566928"/>
          </a:xfrm>
          <a:prstGeom prst="rect">
            <a:avLst/>
          </a:prstGeom>
          <a:noFill/>
          <a:ln/>
        </p:spPr>
        <p:txBody>
          <a:bodyPr wrap="square" lIns="0" tIns="0" rIns="0" bIns="0" rtlCol="0" anchor="ctr"/>
          <a:lstStyle/>
          <a:p>
            <a:pPr indent="0" marL="0">
              <a:buNone/>
            </a:pPr>
            <a:r>
              <a:rPr lang="en-US" sz="1300" b="1" dirty="0">
                <a:solidFill>
                  <a:srgbClr val="1B4332"/>
                </a:solidFill>
                <a:latin typeface="Meiryo" pitchFamily="34" charset="0"/>
                <a:ea typeface="Meiryo" pitchFamily="34" charset="-122"/>
                <a:cs typeface="Meiryo" pitchFamily="34" charset="-120"/>
              </a:rPr>
              <a:t>うち成長投資枠は 1,200万円まで</a:t>
            </a:r>
            <a:endParaRPr lang="en-US" sz="1300" dirty="0"/>
          </a:p>
        </p:txBody>
      </p:sp>
      <p:sp>
        <p:nvSpPr>
          <p:cNvPr id="7" name="Text 5"/>
          <p:cNvSpPr/>
          <p:nvPr/>
        </p:nvSpPr>
        <p:spPr>
          <a:xfrm>
            <a:off x="6126480" y="2084832"/>
            <a:ext cx="2560320" cy="640080"/>
          </a:xfrm>
          <a:prstGeom prst="rect">
            <a:avLst/>
          </a:prstGeom>
          <a:noFill/>
          <a:ln/>
        </p:spPr>
        <p:txBody>
          <a:bodyPr wrap="square" lIns="0" tIns="0" rIns="0" bIns="0" rtlCol="0" anchor="ctr"/>
          <a:lstStyle/>
          <a:p>
            <a:pPr indent="0" marL="0">
              <a:lnSpc>
                <a:spcPct val="120000"/>
              </a:lnSpc>
              <a:buNone/>
            </a:pPr>
            <a:r>
              <a:rPr lang="en-US" sz="1100" dirty="0">
                <a:solidFill>
                  <a:srgbClr val="5F7168"/>
                </a:solidFill>
                <a:latin typeface="Meiryo" pitchFamily="34" charset="0"/>
                <a:ea typeface="Meiryo" pitchFamily="34" charset="-122"/>
                <a:cs typeface="Meiryo" pitchFamily="34" charset="-120"/>
              </a:rPr>
              <a:t>つみたて投資枠だけなら</a:t>
            </a:r>
            <a:endParaRPr lang="en-US" sz="1100" dirty="0"/>
          </a:p>
          <a:p>
            <a:pPr indent="0" marL="0">
              <a:lnSpc>
                <a:spcPct val="120000"/>
              </a:lnSpc>
              <a:buNone/>
            </a:pPr>
            <a:r>
              <a:rPr lang="en-US" sz="1100" dirty="0">
                <a:solidFill>
                  <a:srgbClr val="5F7168"/>
                </a:solidFill>
                <a:latin typeface="Meiryo" pitchFamily="34" charset="0"/>
                <a:ea typeface="Meiryo" pitchFamily="34" charset="-122"/>
                <a:cs typeface="Meiryo" pitchFamily="34" charset="-120"/>
              </a:rPr>
              <a:t>1,800万円すべて使えます</a:t>
            </a:r>
            <a:endParaRPr lang="en-US" sz="1100" dirty="0"/>
          </a:p>
        </p:txBody>
      </p:sp>
      <p:sp>
        <p:nvSpPr>
          <p:cNvPr id="8" name="Shape 6"/>
          <p:cNvSpPr/>
          <p:nvPr/>
        </p:nvSpPr>
        <p:spPr>
          <a:xfrm>
            <a:off x="457200" y="3118104"/>
            <a:ext cx="201168" cy="201168"/>
          </a:xfrm>
          <a:prstGeom prst="ellipse">
            <a:avLst/>
          </a:prstGeom>
          <a:solidFill>
            <a:srgbClr val="1B4332"/>
          </a:solidFill>
          <a:ln w="12700">
            <a:solidFill>
              <a:srgbClr val="1B4332"/>
            </a:solidFill>
            <a:prstDash val="solid"/>
          </a:ln>
        </p:spPr>
      </p:sp>
      <p:sp>
        <p:nvSpPr>
          <p:cNvPr id="9" name="Text 7"/>
          <p:cNvSpPr/>
          <p:nvPr/>
        </p:nvSpPr>
        <p:spPr>
          <a:xfrm>
            <a:off x="841248" y="3063240"/>
            <a:ext cx="7772400" cy="310896"/>
          </a:xfrm>
          <a:prstGeom prst="rect">
            <a:avLst/>
          </a:prstGeom>
          <a:noFill/>
          <a:ln/>
        </p:spPr>
        <p:txBody>
          <a:bodyPr wrap="square" lIns="0" tIns="0" rIns="0" bIns="0" rtlCol="0" anchor="ctr"/>
          <a:lstStyle/>
          <a:p>
            <a:pPr indent="0" marL="0">
              <a:buNone/>
            </a:pPr>
            <a:r>
              <a:rPr lang="en-US" sz="1400" b="1" dirty="0">
                <a:solidFill>
                  <a:srgbClr val="1B4332"/>
                </a:solidFill>
                <a:latin typeface="Meiryo" pitchFamily="34" charset="0"/>
                <a:ea typeface="Meiryo" pitchFamily="34" charset="-122"/>
                <a:cs typeface="Meiryo" pitchFamily="34" charset="-120"/>
              </a:rPr>
              <a:t>枠は「買ったときの値段」で数えます</a:t>
            </a:r>
            <a:endParaRPr lang="en-US" sz="1400" dirty="0"/>
          </a:p>
        </p:txBody>
      </p:sp>
      <p:sp>
        <p:nvSpPr>
          <p:cNvPr id="10" name="Text 8"/>
          <p:cNvSpPr/>
          <p:nvPr/>
        </p:nvSpPr>
        <p:spPr>
          <a:xfrm>
            <a:off x="841248" y="3374136"/>
            <a:ext cx="7772400" cy="384048"/>
          </a:xfrm>
          <a:prstGeom prst="rect">
            <a:avLst/>
          </a:prstGeom>
          <a:noFill/>
          <a:ln/>
        </p:spPr>
        <p:txBody>
          <a:bodyPr wrap="square" lIns="0" tIns="0" rIns="0" bIns="0" rtlCol="0" anchor="ctr"/>
          <a:lstStyle/>
          <a:p>
            <a:pPr indent="0" marL="0">
              <a:buNone/>
            </a:pPr>
            <a:r>
              <a:rPr lang="en-US" sz="1150" dirty="0">
                <a:solidFill>
                  <a:srgbClr val="5F7168"/>
                </a:solidFill>
                <a:latin typeface="Meiryo" pitchFamily="34" charset="0"/>
                <a:ea typeface="Meiryo" pitchFamily="34" charset="-122"/>
                <a:cs typeface="Meiryo" pitchFamily="34" charset="-120"/>
              </a:rPr>
              <a:t>取得価額（簿価）で管理するため、値上がりしても使った枠が増えることはありません。</a:t>
            </a:r>
            <a:endParaRPr lang="en-US" sz="1150" dirty="0"/>
          </a:p>
        </p:txBody>
      </p:sp>
      <p:sp>
        <p:nvSpPr>
          <p:cNvPr id="11" name="Shape 9"/>
          <p:cNvSpPr/>
          <p:nvPr/>
        </p:nvSpPr>
        <p:spPr>
          <a:xfrm>
            <a:off x="457200" y="3867912"/>
            <a:ext cx="201168" cy="201168"/>
          </a:xfrm>
          <a:prstGeom prst="ellipse">
            <a:avLst/>
          </a:prstGeom>
          <a:solidFill>
            <a:srgbClr val="1B4332"/>
          </a:solidFill>
          <a:ln w="12700">
            <a:solidFill>
              <a:srgbClr val="1B4332"/>
            </a:solidFill>
            <a:prstDash val="solid"/>
          </a:ln>
        </p:spPr>
      </p:sp>
      <p:sp>
        <p:nvSpPr>
          <p:cNvPr id="12" name="Text 10"/>
          <p:cNvSpPr/>
          <p:nvPr/>
        </p:nvSpPr>
        <p:spPr>
          <a:xfrm>
            <a:off x="841248" y="3813048"/>
            <a:ext cx="7772400" cy="310896"/>
          </a:xfrm>
          <a:prstGeom prst="rect">
            <a:avLst/>
          </a:prstGeom>
          <a:noFill/>
          <a:ln/>
        </p:spPr>
        <p:txBody>
          <a:bodyPr wrap="square" lIns="0" tIns="0" rIns="0" bIns="0" rtlCol="0" anchor="ctr"/>
          <a:lstStyle/>
          <a:p>
            <a:pPr indent="0" marL="0">
              <a:buNone/>
            </a:pPr>
            <a:r>
              <a:rPr lang="en-US" sz="1400" b="1" dirty="0">
                <a:solidFill>
                  <a:srgbClr val="1B4332"/>
                </a:solidFill>
                <a:latin typeface="Meiryo" pitchFamily="34" charset="0"/>
                <a:ea typeface="Meiryo" pitchFamily="34" charset="-122"/>
                <a:cs typeface="Meiryo" pitchFamily="34" charset="-120"/>
              </a:rPr>
              <a:t>売れば、その分の枠は戻ります</a:t>
            </a:r>
            <a:endParaRPr lang="en-US" sz="1400" dirty="0"/>
          </a:p>
        </p:txBody>
      </p:sp>
      <p:sp>
        <p:nvSpPr>
          <p:cNvPr id="13" name="Text 11"/>
          <p:cNvSpPr/>
          <p:nvPr/>
        </p:nvSpPr>
        <p:spPr>
          <a:xfrm>
            <a:off x="841248" y="4123944"/>
            <a:ext cx="7772400" cy="384048"/>
          </a:xfrm>
          <a:prstGeom prst="rect">
            <a:avLst/>
          </a:prstGeom>
          <a:noFill/>
          <a:ln/>
        </p:spPr>
        <p:txBody>
          <a:bodyPr wrap="square" lIns="0" tIns="0" rIns="0" bIns="0" rtlCol="0" anchor="ctr"/>
          <a:lstStyle/>
          <a:p>
            <a:pPr indent="0" marL="0">
              <a:buNone/>
            </a:pPr>
            <a:r>
              <a:rPr lang="en-US" sz="1150" dirty="0">
                <a:solidFill>
                  <a:srgbClr val="5F7168"/>
                </a:solidFill>
                <a:latin typeface="Meiryo" pitchFamily="34" charset="0"/>
                <a:ea typeface="Meiryo" pitchFamily="34" charset="-122"/>
                <a:cs typeface="Meiryo" pitchFamily="34" charset="-120"/>
              </a:rPr>
              <a:t>売却した商品の簿価分だけ枠が復活します。復活は現在は翌年ですが、2027年から当年中に早まります。</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92608"/>
            <a:ext cx="8229600" cy="658368"/>
          </a:xfrm>
          <a:prstGeom prst="rect">
            <a:avLst/>
          </a:prstGeom>
          <a:noFill/>
          <a:ln/>
        </p:spPr>
        <p:txBody>
          <a:bodyPr wrap="square" lIns="0" tIns="0" rIns="0" bIns="0" rtlCol="0" anchor="ctr"/>
          <a:lstStyle/>
          <a:p>
            <a:pPr indent="0" marL="0">
              <a:buNone/>
            </a:pPr>
            <a:r>
              <a:rPr lang="en-US" sz="3200" b="1" dirty="0">
                <a:solidFill>
                  <a:srgbClr val="1F2A24"/>
                </a:solidFill>
                <a:latin typeface="Meiryo" pitchFamily="34" charset="0"/>
                <a:ea typeface="Meiryo" pitchFamily="34" charset="-122"/>
                <a:cs typeface="Meiryo" pitchFamily="34" charset="-120"/>
              </a:rPr>
              <a:t>旧NISAとの違い</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920240"/>
                <a:gridCol w="3017520"/>
                <a:gridCol w="3291840"/>
              </a:tblGrid>
              <a:tr h="402336">
                <a:tc>
                  <a:txBody>
                    <a:bodyPr/>
                    <a:lstStyle/>
                    <a:p>
                      <a:pPr indent="0" marL="0">
                        <a:buNone/>
                      </a:pPr>
                      <a:r>
                        <a:rPr lang="en-US" sz="1200" b="1" dirty="0">
                          <a:solidFill>
                            <a:srgbClr val="FFFFFF"/>
                          </a:solidFill>
                          <a:latin typeface="Meiryo" pitchFamily="34" charset="0"/>
                          <a:ea typeface="Meiryo" pitchFamily="34" charset="-122"/>
                          <a:cs typeface="Meiryo" pitchFamily="34" charset="-120"/>
                        </a:rPr>
                        <a:t>項目</a:t>
                      </a:r>
                      <a:endParaRPr lang="en-US" sz="1200" dirty="0">
                        <a:latin typeface="Meiryo" charset="0"/>
                        <a:ea typeface="Meiryo" charset="0"/>
                        <a:cs typeface="Meiryo" charset="0"/>
                      </a:endParaRPr>
                    </a:p>
                  </a:txBody>
                  <a:tcPr marL="82296" marR="82296" marT="82296" marB="82296" anchor="ctr">
                    <a:lnL w="12700" cap="flat" cmpd="sng" algn="ctr">
                      <a:solidFill>
                        <a:srgbClr val="DDE6E0"/>
                      </a:solidFill>
                      <a:prstDash val="solid"/>
                      <a:round/>
                      <a:headEnd type="none" w="med" len="med"/>
                      <a:tailEnd type="none" w="med" len="med"/>
                    </a:lnL>
                    <a:lnR w="12700" cap="flat" cmpd="sng" algn="ctr">
                      <a:solidFill>
                        <a:srgbClr val="DDE6E0"/>
                      </a:solidFill>
                      <a:prstDash val="solid"/>
                      <a:round/>
                      <a:headEnd type="none" w="med" len="med"/>
                      <a:tailEnd type="none" w="med" len="med"/>
                    </a:lnR>
                    <a:lnT w="12700" cap="flat" cmpd="sng" algn="ctr">
                      <a:solidFill>
                        <a:srgbClr val="DDE6E0"/>
                      </a:solidFill>
                      <a:prstDash val="solid"/>
                      <a:round/>
                      <a:headEnd type="none" w="med" len="med"/>
                      <a:tailEnd type="none" w="med" len="med"/>
                    </a:lnT>
                    <a:lnB w="12700" cap="flat" cmpd="sng" algn="ctr">
                      <a:solidFill>
                        <a:srgbClr val="DDE6E0"/>
                      </a:solidFill>
                      <a:prstDash val="solid"/>
                      <a:round/>
                      <a:headEnd type="none" w="med" len="med"/>
                      <a:tailEnd type="none" w="med" len="med"/>
                    </a:lnB>
                    <a:solidFill>
                      <a:srgbClr val="1B4332"/>
                    </a:solidFill>
                  </a:tcPr>
                </a:tc>
                <a:tc>
                  <a:txBody>
                    <a:bodyPr/>
                    <a:lstStyle/>
                    <a:p>
                      <a:pPr indent="0" marL="0">
                        <a:buNone/>
                      </a:pPr>
                      <a:r>
                        <a:rPr lang="en-US" sz="1200" b="1" dirty="0">
                          <a:solidFill>
                            <a:srgbClr val="FFFFFF"/>
                          </a:solidFill>
                          <a:latin typeface="Meiryo" pitchFamily="34" charset="0"/>
                          <a:ea typeface="Meiryo" pitchFamily="34" charset="-122"/>
                          <a:cs typeface="Meiryo" pitchFamily="34" charset="-120"/>
                        </a:rPr>
                        <a:t>〜2023年（旧NISA）</a:t>
                      </a:r>
                      <a:endParaRPr lang="en-US" sz="1200" dirty="0">
                        <a:latin typeface="Meiryo" charset="0"/>
                        <a:ea typeface="Meiryo" charset="0"/>
                        <a:cs typeface="Meiryo" charset="0"/>
                      </a:endParaRPr>
                    </a:p>
                  </a:txBody>
                  <a:tcPr marL="82296" marR="82296" marT="82296" marB="82296" anchor="ctr">
                    <a:lnL w="12700" cap="flat" cmpd="sng" algn="ctr">
                      <a:solidFill>
                        <a:srgbClr val="DDE6E0"/>
                      </a:solidFill>
                      <a:prstDash val="solid"/>
                      <a:round/>
                      <a:headEnd type="none" w="med" len="med"/>
                      <a:tailEnd type="none" w="med" len="med"/>
                    </a:lnL>
                    <a:lnR w="12700" cap="flat" cmpd="sng" algn="ctr">
                      <a:solidFill>
                        <a:srgbClr val="DDE6E0"/>
                      </a:solidFill>
                      <a:prstDash val="solid"/>
                      <a:round/>
                      <a:headEnd type="none" w="med" len="med"/>
                      <a:tailEnd type="none" w="med" len="med"/>
                    </a:lnR>
                    <a:lnT w="12700" cap="flat" cmpd="sng" algn="ctr">
                      <a:solidFill>
                        <a:srgbClr val="DDE6E0"/>
                      </a:solidFill>
                      <a:prstDash val="solid"/>
                      <a:round/>
                      <a:headEnd type="none" w="med" len="med"/>
                      <a:tailEnd type="none" w="med" len="med"/>
                    </a:lnT>
                    <a:lnB w="12700" cap="flat" cmpd="sng" algn="ctr">
                      <a:solidFill>
                        <a:srgbClr val="DDE6E0"/>
                      </a:solidFill>
                      <a:prstDash val="solid"/>
                      <a:round/>
                      <a:headEnd type="none" w="med" len="med"/>
                      <a:tailEnd type="none" w="med" len="med"/>
                    </a:lnB>
                    <a:solidFill>
                      <a:srgbClr val="1B4332"/>
                    </a:solidFill>
                  </a:tcPr>
                </a:tc>
                <a:tc>
                  <a:txBody>
                    <a:bodyPr/>
                    <a:lstStyle/>
                    <a:p>
                      <a:pPr indent="0" marL="0">
                        <a:buNone/>
                      </a:pPr>
                      <a:r>
                        <a:rPr lang="en-US" sz="1200" b="1" dirty="0">
                          <a:solidFill>
                            <a:srgbClr val="FFFFFF"/>
                          </a:solidFill>
                          <a:latin typeface="Meiryo" pitchFamily="34" charset="0"/>
                          <a:ea typeface="Meiryo" pitchFamily="34" charset="-122"/>
                          <a:cs typeface="Meiryo" pitchFamily="34" charset="-120"/>
                        </a:rPr>
                        <a:t>2024年〜（新NISA）</a:t>
                      </a:r>
                      <a:endParaRPr lang="en-US" sz="1200" dirty="0">
                        <a:latin typeface="Meiryo" charset="0"/>
                        <a:ea typeface="Meiryo" charset="0"/>
                        <a:cs typeface="Meiryo" charset="0"/>
                      </a:endParaRPr>
                    </a:p>
                  </a:txBody>
                  <a:tcPr marL="82296" marR="82296" marT="82296" marB="82296" anchor="ctr">
                    <a:lnL w="12700" cap="flat" cmpd="sng" algn="ctr">
                      <a:solidFill>
                        <a:srgbClr val="DDE6E0"/>
                      </a:solidFill>
                      <a:prstDash val="solid"/>
                      <a:round/>
                      <a:headEnd type="none" w="med" len="med"/>
                      <a:tailEnd type="none" w="med" len="med"/>
                    </a:lnL>
                    <a:lnR w="12700" cap="flat" cmpd="sng" algn="ctr">
                      <a:solidFill>
                        <a:srgbClr val="DDE6E0"/>
                      </a:solidFill>
                      <a:prstDash val="solid"/>
                      <a:round/>
                      <a:headEnd type="none" w="med" len="med"/>
                      <a:tailEnd type="none" w="med" len="med"/>
                    </a:lnR>
                    <a:lnT w="12700" cap="flat" cmpd="sng" algn="ctr">
                      <a:solidFill>
                        <a:srgbClr val="DDE6E0"/>
                      </a:solidFill>
                      <a:prstDash val="solid"/>
                      <a:round/>
                      <a:headEnd type="none" w="med" len="med"/>
                      <a:tailEnd type="none" w="med" len="med"/>
                    </a:lnT>
                    <a:lnB w="12700" cap="flat" cmpd="sng" algn="ctr">
                      <a:solidFill>
                        <a:srgbClr val="DDE6E0"/>
                      </a:solidFill>
                      <a:prstDash val="solid"/>
                      <a:round/>
                      <a:headEnd type="none" w="med" len="med"/>
                      <a:tailEnd type="none" w="med" len="med"/>
                    </a:lnB>
                    <a:solidFill>
                      <a:srgbClr val="1B4332"/>
                    </a:solidFill>
                  </a:tcPr>
                </a:tc>
              </a:tr>
              <a:tr h="402336">
                <a:tc>
                  <a:txBody>
                    <a:bodyPr/>
                    <a:lstStyle/>
                    <a:p>
                      <a:pPr indent="0" marL="0">
                        <a:buNone/>
                      </a:pPr>
                      <a:r>
                        <a:rPr lang="en-US" sz="1150" dirty="0">
                          <a:solidFill>
                            <a:srgbClr val="1F2A24"/>
                          </a:solidFill>
                          <a:latin typeface="Meiryo" pitchFamily="34" charset="0"/>
                          <a:ea typeface="Meiryo" pitchFamily="34" charset="-122"/>
                          <a:cs typeface="Meiryo" pitchFamily="34" charset="-120"/>
                        </a:rPr>
                        <a:t>年間投資枠</a:t>
                      </a:r>
                      <a:endParaRPr lang="en-US" sz="1150" dirty="0">
                        <a:latin typeface="Meiryo" charset="0"/>
                        <a:ea typeface="Meiryo" charset="0"/>
                        <a:cs typeface="Meiryo" charset="0"/>
                      </a:endParaRPr>
                    </a:p>
                  </a:txBody>
                  <a:tcPr marL="82296" marR="82296" marT="82296" marB="82296" anchor="ctr">
                    <a:lnL w="12700" cap="flat" cmpd="sng" algn="ctr">
                      <a:solidFill>
                        <a:srgbClr val="DDE6E0"/>
                      </a:solidFill>
                      <a:prstDash val="solid"/>
                      <a:round/>
                      <a:headEnd type="none" w="med" len="med"/>
                      <a:tailEnd type="none" w="med" len="med"/>
                    </a:lnL>
                    <a:lnR w="12700" cap="flat" cmpd="sng" algn="ctr">
                      <a:solidFill>
                        <a:srgbClr val="DDE6E0"/>
                      </a:solidFill>
                      <a:prstDash val="solid"/>
                      <a:round/>
                      <a:headEnd type="none" w="med" len="med"/>
                      <a:tailEnd type="none" w="med" len="med"/>
                    </a:lnR>
                    <a:lnT w="12700" cap="flat" cmpd="sng" algn="ctr">
                      <a:solidFill>
                        <a:srgbClr val="DDE6E0"/>
                      </a:solidFill>
                      <a:prstDash val="solid"/>
                      <a:round/>
                      <a:headEnd type="none" w="med" len="med"/>
                      <a:tailEnd type="none" w="med" len="med"/>
                    </a:lnT>
                    <a:lnB w="12700" cap="flat" cmpd="sng" algn="ctr">
                      <a:solidFill>
                        <a:srgbClr val="DDE6E0"/>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Meiryo" pitchFamily="34" charset="0"/>
                          <a:ea typeface="Meiryo" pitchFamily="34" charset="-122"/>
                          <a:cs typeface="Meiryo" pitchFamily="34" charset="-120"/>
                        </a:rPr>
                        <a:t>一般120万円 または つみたて40万円</a:t>
                      </a:r>
                      <a:endParaRPr lang="en-US" sz="1150" dirty="0">
                        <a:latin typeface="Meiryo" charset="0"/>
                        <a:ea typeface="Meiryo" charset="0"/>
                        <a:cs typeface="Meiryo" charset="0"/>
                      </a:endParaRPr>
                    </a:p>
                  </a:txBody>
                  <a:tcPr marL="82296" marR="82296" marT="82296" marB="82296" anchor="ctr">
                    <a:lnL w="12700" cap="flat" cmpd="sng" algn="ctr">
                      <a:solidFill>
                        <a:srgbClr val="DDE6E0"/>
                      </a:solidFill>
                      <a:prstDash val="solid"/>
                      <a:round/>
                      <a:headEnd type="none" w="med" len="med"/>
                      <a:tailEnd type="none" w="med" len="med"/>
                    </a:lnL>
                    <a:lnR w="12700" cap="flat" cmpd="sng" algn="ctr">
                      <a:solidFill>
                        <a:srgbClr val="DDE6E0"/>
                      </a:solidFill>
                      <a:prstDash val="solid"/>
                      <a:round/>
                      <a:headEnd type="none" w="med" len="med"/>
                      <a:tailEnd type="none" w="med" len="med"/>
                    </a:lnR>
                    <a:lnT w="12700" cap="flat" cmpd="sng" algn="ctr">
                      <a:solidFill>
                        <a:srgbClr val="DDE6E0"/>
                      </a:solidFill>
                      <a:prstDash val="solid"/>
                      <a:round/>
                      <a:headEnd type="none" w="med" len="med"/>
                      <a:tailEnd type="none" w="med" len="med"/>
                    </a:lnT>
                    <a:lnB w="12700" cap="flat" cmpd="sng" algn="ctr">
                      <a:solidFill>
                        <a:srgbClr val="DDE6E0"/>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Meiryo" pitchFamily="34" charset="0"/>
                          <a:ea typeface="Meiryo" pitchFamily="34" charset="-122"/>
                          <a:cs typeface="Meiryo" pitchFamily="34" charset="-120"/>
                        </a:rPr>
                        <a:t>合計360万円（120万円＋240万円）</a:t>
                      </a:r>
                      <a:endParaRPr lang="en-US" sz="1150" dirty="0">
                        <a:latin typeface="Meiryo" charset="0"/>
                        <a:ea typeface="Meiryo" charset="0"/>
                        <a:cs typeface="Meiryo" charset="0"/>
                      </a:endParaRPr>
                    </a:p>
                  </a:txBody>
                  <a:tcPr marL="82296" marR="82296" marT="82296" marB="82296" anchor="ctr">
                    <a:lnL w="12700" cap="flat" cmpd="sng" algn="ctr">
                      <a:solidFill>
                        <a:srgbClr val="DDE6E0"/>
                      </a:solidFill>
                      <a:prstDash val="solid"/>
                      <a:round/>
                      <a:headEnd type="none" w="med" len="med"/>
                      <a:tailEnd type="none" w="med" len="med"/>
                    </a:lnL>
                    <a:lnR w="12700" cap="flat" cmpd="sng" algn="ctr">
                      <a:solidFill>
                        <a:srgbClr val="DDE6E0"/>
                      </a:solidFill>
                      <a:prstDash val="solid"/>
                      <a:round/>
                      <a:headEnd type="none" w="med" len="med"/>
                      <a:tailEnd type="none" w="med" len="med"/>
                    </a:lnR>
                    <a:lnT w="12700" cap="flat" cmpd="sng" algn="ctr">
                      <a:solidFill>
                        <a:srgbClr val="DDE6E0"/>
                      </a:solidFill>
                      <a:prstDash val="solid"/>
                      <a:round/>
                      <a:headEnd type="none" w="med" len="med"/>
                      <a:tailEnd type="none" w="med" len="med"/>
                    </a:lnT>
                    <a:lnB w="12700" cap="flat" cmpd="sng" algn="ctr">
                      <a:solidFill>
                        <a:srgbClr val="DDE6E0"/>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1F2A24"/>
                          </a:solidFill>
                          <a:latin typeface="Meiryo" pitchFamily="34" charset="0"/>
                          <a:ea typeface="Meiryo" pitchFamily="34" charset="-122"/>
                          <a:cs typeface="Meiryo" pitchFamily="34" charset="-120"/>
                        </a:rPr>
                        <a:t>非課税保有期間</a:t>
                      </a:r>
                      <a:endParaRPr lang="en-US" sz="1150" dirty="0">
                        <a:latin typeface="Meiryo" charset="0"/>
                        <a:ea typeface="Meiryo" charset="0"/>
                        <a:cs typeface="Meiryo" charset="0"/>
                      </a:endParaRPr>
                    </a:p>
                  </a:txBody>
                  <a:tcPr marL="82296" marR="82296" marT="82296" marB="82296" anchor="ctr">
                    <a:lnL w="12700" cap="flat" cmpd="sng" algn="ctr">
                      <a:solidFill>
                        <a:srgbClr val="DDE6E0"/>
                      </a:solidFill>
                      <a:prstDash val="solid"/>
                      <a:round/>
                      <a:headEnd type="none" w="med" len="med"/>
                      <a:tailEnd type="none" w="med" len="med"/>
                    </a:lnL>
                    <a:lnR w="12700" cap="flat" cmpd="sng" algn="ctr">
                      <a:solidFill>
                        <a:srgbClr val="DDE6E0"/>
                      </a:solidFill>
                      <a:prstDash val="solid"/>
                      <a:round/>
                      <a:headEnd type="none" w="med" len="med"/>
                      <a:tailEnd type="none" w="med" len="med"/>
                    </a:lnR>
                    <a:lnT w="12700" cap="flat" cmpd="sng" algn="ctr">
                      <a:solidFill>
                        <a:srgbClr val="DDE6E0"/>
                      </a:solidFill>
                      <a:prstDash val="solid"/>
                      <a:round/>
                      <a:headEnd type="none" w="med" len="med"/>
                      <a:tailEnd type="none" w="med" len="med"/>
                    </a:lnT>
                    <a:lnB w="12700" cap="flat" cmpd="sng" algn="ctr">
                      <a:solidFill>
                        <a:srgbClr val="DDE6E0"/>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Meiryo" pitchFamily="34" charset="0"/>
                          <a:ea typeface="Meiryo" pitchFamily="34" charset="-122"/>
                          <a:cs typeface="Meiryo" pitchFamily="34" charset="-120"/>
                        </a:rPr>
                        <a:t>一般5年／つみたて20年</a:t>
                      </a:r>
                      <a:endParaRPr lang="en-US" sz="1150" dirty="0">
                        <a:latin typeface="Meiryo" charset="0"/>
                        <a:ea typeface="Meiryo" charset="0"/>
                        <a:cs typeface="Meiryo" charset="0"/>
                      </a:endParaRPr>
                    </a:p>
                  </a:txBody>
                  <a:tcPr marL="82296" marR="82296" marT="82296" marB="82296" anchor="ctr">
                    <a:lnL w="12700" cap="flat" cmpd="sng" algn="ctr">
                      <a:solidFill>
                        <a:srgbClr val="DDE6E0"/>
                      </a:solidFill>
                      <a:prstDash val="solid"/>
                      <a:round/>
                      <a:headEnd type="none" w="med" len="med"/>
                      <a:tailEnd type="none" w="med" len="med"/>
                    </a:lnL>
                    <a:lnR w="12700" cap="flat" cmpd="sng" algn="ctr">
                      <a:solidFill>
                        <a:srgbClr val="DDE6E0"/>
                      </a:solidFill>
                      <a:prstDash val="solid"/>
                      <a:round/>
                      <a:headEnd type="none" w="med" len="med"/>
                      <a:tailEnd type="none" w="med" len="med"/>
                    </a:lnR>
                    <a:lnT w="12700" cap="flat" cmpd="sng" algn="ctr">
                      <a:solidFill>
                        <a:srgbClr val="DDE6E0"/>
                      </a:solidFill>
                      <a:prstDash val="solid"/>
                      <a:round/>
                      <a:headEnd type="none" w="med" len="med"/>
                      <a:tailEnd type="none" w="med" len="med"/>
                    </a:lnT>
                    <a:lnB w="12700" cap="flat" cmpd="sng" algn="ctr">
                      <a:solidFill>
                        <a:srgbClr val="DDE6E0"/>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Meiryo" pitchFamily="34" charset="0"/>
                          <a:ea typeface="Meiryo" pitchFamily="34" charset="-122"/>
                          <a:cs typeface="Meiryo" pitchFamily="34" charset="-120"/>
                        </a:rPr>
                        <a:t>無期限</a:t>
                      </a:r>
                      <a:endParaRPr lang="en-US" sz="1150" dirty="0">
                        <a:latin typeface="Meiryo" charset="0"/>
                        <a:ea typeface="Meiryo" charset="0"/>
                        <a:cs typeface="Meiryo" charset="0"/>
                      </a:endParaRPr>
                    </a:p>
                  </a:txBody>
                  <a:tcPr marL="82296" marR="82296" marT="82296" marB="82296" anchor="ctr">
                    <a:lnL w="12700" cap="flat" cmpd="sng" algn="ctr">
                      <a:solidFill>
                        <a:srgbClr val="DDE6E0"/>
                      </a:solidFill>
                      <a:prstDash val="solid"/>
                      <a:round/>
                      <a:headEnd type="none" w="med" len="med"/>
                      <a:tailEnd type="none" w="med" len="med"/>
                    </a:lnL>
                    <a:lnR w="12700" cap="flat" cmpd="sng" algn="ctr">
                      <a:solidFill>
                        <a:srgbClr val="DDE6E0"/>
                      </a:solidFill>
                      <a:prstDash val="solid"/>
                      <a:round/>
                      <a:headEnd type="none" w="med" len="med"/>
                      <a:tailEnd type="none" w="med" len="med"/>
                    </a:lnR>
                    <a:lnT w="12700" cap="flat" cmpd="sng" algn="ctr">
                      <a:solidFill>
                        <a:srgbClr val="DDE6E0"/>
                      </a:solidFill>
                      <a:prstDash val="solid"/>
                      <a:round/>
                      <a:headEnd type="none" w="med" len="med"/>
                      <a:tailEnd type="none" w="med" len="med"/>
                    </a:lnT>
                    <a:lnB w="12700" cap="flat" cmpd="sng" algn="ctr">
                      <a:solidFill>
                        <a:srgbClr val="DDE6E0"/>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1F2A24"/>
                          </a:solidFill>
                          <a:latin typeface="Meiryo" pitchFamily="34" charset="0"/>
                          <a:ea typeface="Meiryo" pitchFamily="34" charset="-122"/>
                          <a:cs typeface="Meiryo" pitchFamily="34" charset="-120"/>
                        </a:rPr>
                        <a:t>非課税保有限度額</a:t>
                      </a:r>
                      <a:endParaRPr lang="en-US" sz="1150" dirty="0">
                        <a:latin typeface="Meiryo" charset="0"/>
                        <a:ea typeface="Meiryo" charset="0"/>
                        <a:cs typeface="Meiryo" charset="0"/>
                      </a:endParaRPr>
                    </a:p>
                  </a:txBody>
                  <a:tcPr marL="82296" marR="82296" marT="82296" marB="82296" anchor="ctr">
                    <a:lnL w="12700" cap="flat" cmpd="sng" algn="ctr">
                      <a:solidFill>
                        <a:srgbClr val="DDE6E0"/>
                      </a:solidFill>
                      <a:prstDash val="solid"/>
                      <a:round/>
                      <a:headEnd type="none" w="med" len="med"/>
                      <a:tailEnd type="none" w="med" len="med"/>
                    </a:lnL>
                    <a:lnR w="12700" cap="flat" cmpd="sng" algn="ctr">
                      <a:solidFill>
                        <a:srgbClr val="DDE6E0"/>
                      </a:solidFill>
                      <a:prstDash val="solid"/>
                      <a:round/>
                      <a:headEnd type="none" w="med" len="med"/>
                      <a:tailEnd type="none" w="med" len="med"/>
                    </a:lnR>
                    <a:lnT w="12700" cap="flat" cmpd="sng" algn="ctr">
                      <a:solidFill>
                        <a:srgbClr val="DDE6E0"/>
                      </a:solidFill>
                      <a:prstDash val="solid"/>
                      <a:round/>
                      <a:headEnd type="none" w="med" len="med"/>
                      <a:tailEnd type="none" w="med" len="med"/>
                    </a:lnT>
                    <a:lnB w="12700" cap="flat" cmpd="sng" algn="ctr">
                      <a:solidFill>
                        <a:srgbClr val="DDE6E0"/>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Meiryo" pitchFamily="34" charset="0"/>
                          <a:ea typeface="Meiryo" pitchFamily="34" charset="-122"/>
                          <a:cs typeface="Meiryo" pitchFamily="34" charset="-120"/>
                        </a:rPr>
                        <a:t>実質600万円／800万円</a:t>
                      </a:r>
                      <a:endParaRPr lang="en-US" sz="1150" dirty="0">
                        <a:latin typeface="Meiryo" charset="0"/>
                        <a:ea typeface="Meiryo" charset="0"/>
                        <a:cs typeface="Meiryo" charset="0"/>
                      </a:endParaRPr>
                    </a:p>
                  </a:txBody>
                  <a:tcPr marL="82296" marR="82296" marT="82296" marB="82296" anchor="ctr">
                    <a:lnL w="12700" cap="flat" cmpd="sng" algn="ctr">
                      <a:solidFill>
                        <a:srgbClr val="DDE6E0"/>
                      </a:solidFill>
                      <a:prstDash val="solid"/>
                      <a:round/>
                      <a:headEnd type="none" w="med" len="med"/>
                      <a:tailEnd type="none" w="med" len="med"/>
                    </a:lnL>
                    <a:lnR w="12700" cap="flat" cmpd="sng" algn="ctr">
                      <a:solidFill>
                        <a:srgbClr val="DDE6E0"/>
                      </a:solidFill>
                      <a:prstDash val="solid"/>
                      <a:round/>
                      <a:headEnd type="none" w="med" len="med"/>
                      <a:tailEnd type="none" w="med" len="med"/>
                    </a:lnR>
                    <a:lnT w="12700" cap="flat" cmpd="sng" algn="ctr">
                      <a:solidFill>
                        <a:srgbClr val="DDE6E0"/>
                      </a:solidFill>
                      <a:prstDash val="solid"/>
                      <a:round/>
                      <a:headEnd type="none" w="med" len="med"/>
                      <a:tailEnd type="none" w="med" len="med"/>
                    </a:lnT>
                    <a:lnB w="12700" cap="flat" cmpd="sng" algn="ctr">
                      <a:solidFill>
                        <a:srgbClr val="DDE6E0"/>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Meiryo" pitchFamily="34" charset="0"/>
                          <a:ea typeface="Meiryo" pitchFamily="34" charset="-122"/>
                          <a:cs typeface="Meiryo" pitchFamily="34" charset="-120"/>
                        </a:rPr>
                        <a:t>1,800万円（成長投資枠は1,200万円まで）</a:t>
                      </a:r>
                      <a:endParaRPr lang="en-US" sz="1150" dirty="0">
                        <a:latin typeface="Meiryo" charset="0"/>
                        <a:ea typeface="Meiryo" charset="0"/>
                        <a:cs typeface="Meiryo" charset="0"/>
                      </a:endParaRPr>
                    </a:p>
                  </a:txBody>
                  <a:tcPr marL="82296" marR="82296" marT="82296" marB="82296" anchor="ctr">
                    <a:lnL w="12700" cap="flat" cmpd="sng" algn="ctr">
                      <a:solidFill>
                        <a:srgbClr val="DDE6E0"/>
                      </a:solidFill>
                      <a:prstDash val="solid"/>
                      <a:round/>
                      <a:headEnd type="none" w="med" len="med"/>
                      <a:tailEnd type="none" w="med" len="med"/>
                    </a:lnL>
                    <a:lnR w="12700" cap="flat" cmpd="sng" algn="ctr">
                      <a:solidFill>
                        <a:srgbClr val="DDE6E0"/>
                      </a:solidFill>
                      <a:prstDash val="solid"/>
                      <a:round/>
                      <a:headEnd type="none" w="med" len="med"/>
                      <a:tailEnd type="none" w="med" len="med"/>
                    </a:lnR>
                    <a:lnT w="12700" cap="flat" cmpd="sng" algn="ctr">
                      <a:solidFill>
                        <a:srgbClr val="DDE6E0"/>
                      </a:solidFill>
                      <a:prstDash val="solid"/>
                      <a:round/>
                      <a:headEnd type="none" w="med" len="med"/>
                      <a:tailEnd type="none" w="med" len="med"/>
                    </a:lnT>
                    <a:lnB w="12700" cap="flat" cmpd="sng" algn="ctr">
                      <a:solidFill>
                        <a:srgbClr val="DDE6E0"/>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1F2A24"/>
                          </a:solidFill>
                          <a:latin typeface="Meiryo" pitchFamily="34" charset="0"/>
                          <a:ea typeface="Meiryo" pitchFamily="34" charset="-122"/>
                          <a:cs typeface="Meiryo" pitchFamily="34" charset="-120"/>
                        </a:rPr>
                        <a:t>2つの枠の併用</a:t>
                      </a:r>
                      <a:endParaRPr lang="en-US" sz="1150" dirty="0">
                        <a:latin typeface="Meiryo" charset="0"/>
                        <a:ea typeface="Meiryo" charset="0"/>
                        <a:cs typeface="Meiryo" charset="0"/>
                      </a:endParaRPr>
                    </a:p>
                  </a:txBody>
                  <a:tcPr marL="82296" marR="82296" marT="82296" marB="82296" anchor="ctr">
                    <a:lnL w="12700" cap="flat" cmpd="sng" algn="ctr">
                      <a:solidFill>
                        <a:srgbClr val="DDE6E0"/>
                      </a:solidFill>
                      <a:prstDash val="solid"/>
                      <a:round/>
                      <a:headEnd type="none" w="med" len="med"/>
                      <a:tailEnd type="none" w="med" len="med"/>
                    </a:lnL>
                    <a:lnR w="12700" cap="flat" cmpd="sng" algn="ctr">
                      <a:solidFill>
                        <a:srgbClr val="DDE6E0"/>
                      </a:solidFill>
                      <a:prstDash val="solid"/>
                      <a:round/>
                      <a:headEnd type="none" w="med" len="med"/>
                      <a:tailEnd type="none" w="med" len="med"/>
                    </a:lnR>
                    <a:lnT w="12700" cap="flat" cmpd="sng" algn="ctr">
                      <a:solidFill>
                        <a:srgbClr val="DDE6E0"/>
                      </a:solidFill>
                      <a:prstDash val="solid"/>
                      <a:round/>
                      <a:headEnd type="none" w="med" len="med"/>
                      <a:tailEnd type="none" w="med" len="med"/>
                    </a:lnT>
                    <a:lnB w="12700" cap="flat" cmpd="sng" algn="ctr">
                      <a:solidFill>
                        <a:srgbClr val="DDE6E0"/>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Meiryo" pitchFamily="34" charset="0"/>
                          <a:ea typeface="Meiryo" pitchFamily="34" charset="-122"/>
                          <a:cs typeface="Meiryo" pitchFamily="34" charset="-120"/>
                        </a:rPr>
                        <a:t>できない</a:t>
                      </a:r>
                      <a:endParaRPr lang="en-US" sz="1150" dirty="0">
                        <a:latin typeface="Meiryo" charset="0"/>
                        <a:ea typeface="Meiryo" charset="0"/>
                        <a:cs typeface="Meiryo" charset="0"/>
                      </a:endParaRPr>
                    </a:p>
                  </a:txBody>
                  <a:tcPr marL="82296" marR="82296" marT="82296" marB="82296" anchor="ctr">
                    <a:lnL w="12700" cap="flat" cmpd="sng" algn="ctr">
                      <a:solidFill>
                        <a:srgbClr val="DDE6E0"/>
                      </a:solidFill>
                      <a:prstDash val="solid"/>
                      <a:round/>
                      <a:headEnd type="none" w="med" len="med"/>
                      <a:tailEnd type="none" w="med" len="med"/>
                    </a:lnL>
                    <a:lnR w="12700" cap="flat" cmpd="sng" algn="ctr">
                      <a:solidFill>
                        <a:srgbClr val="DDE6E0"/>
                      </a:solidFill>
                      <a:prstDash val="solid"/>
                      <a:round/>
                      <a:headEnd type="none" w="med" len="med"/>
                      <a:tailEnd type="none" w="med" len="med"/>
                    </a:lnR>
                    <a:lnT w="12700" cap="flat" cmpd="sng" algn="ctr">
                      <a:solidFill>
                        <a:srgbClr val="DDE6E0"/>
                      </a:solidFill>
                      <a:prstDash val="solid"/>
                      <a:round/>
                      <a:headEnd type="none" w="med" len="med"/>
                      <a:tailEnd type="none" w="med" len="med"/>
                    </a:lnT>
                    <a:lnB w="12700" cap="flat" cmpd="sng" algn="ctr">
                      <a:solidFill>
                        <a:srgbClr val="DDE6E0"/>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Meiryo" pitchFamily="34" charset="0"/>
                          <a:ea typeface="Meiryo" pitchFamily="34" charset="-122"/>
                          <a:cs typeface="Meiryo" pitchFamily="34" charset="-120"/>
                        </a:rPr>
                        <a:t>できる</a:t>
                      </a:r>
                      <a:endParaRPr lang="en-US" sz="1150" dirty="0">
                        <a:latin typeface="Meiryo" charset="0"/>
                        <a:ea typeface="Meiryo" charset="0"/>
                        <a:cs typeface="Meiryo" charset="0"/>
                      </a:endParaRPr>
                    </a:p>
                  </a:txBody>
                  <a:tcPr marL="82296" marR="82296" marT="82296" marB="82296" anchor="ctr">
                    <a:lnL w="12700" cap="flat" cmpd="sng" algn="ctr">
                      <a:solidFill>
                        <a:srgbClr val="DDE6E0"/>
                      </a:solidFill>
                      <a:prstDash val="solid"/>
                      <a:round/>
                      <a:headEnd type="none" w="med" len="med"/>
                      <a:tailEnd type="none" w="med" len="med"/>
                    </a:lnL>
                    <a:lnR w="12700" cap="flat" cmpd="sng" algn="ctr">
                      <a:solidFill>
                        <a:srgbClr val="DDE6E0"/>
                      </a:solidFill>
                      <a:prstDash val="solid"/>
                      <a:round/>
                      <a:headEnd type="none" w="med" len="med"/>
                      <a:tailEnd type="none" w="med" len="med"/>
                    </a:lnR>
                    <a:lnT w="12700" cap="flat" cmpd="sng" algn="ctr">
                      <a:solidFill>
                        <a:srgbClr val="DDE6E0"/>
                      </a:solidFill>
                      <a:prstDash val="solid"/>
                      <a:round/>
                      <a:headEnd type="none" w="med" len="med"/>
                      <a:tailEnd type="none" w="med" len="med"/>
                    </a:lnT>
                    <a:lnB w="12700" cap="flat" cmpd="sng" algn="ctr">
                      <a:solidFill>
                        <a:srgbClr val="DDE6E0"/>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1F2A24"/>
                          </a:solidFill>
                          <a:latin typeface="Meiryo" pitchFamily="34" charset="0"/>
                          <a:ea typeface="Meiryo" pitchFamily="34" charset="-122"/>
                          <a:cs typeface="Meiryo" pitchFamily="34" charset="-120"/>
                        </a:rPr>
                        <a:t>口座開設期間</a:t>
                      </a:r>
                      <a:endParaRPr lang="en-US" sz="1150" dirty="0">
                        <a:latin typeface="Meiryo" charset="0"/>
                        <a:ea typeface="Meiryo" charset="0"/>
                        <a:cs typeface="Meiryo" charset="0"/>
                      </a:endParaRPr>
                    </a:p>
                  </a:txBody>
                  <a:tcPr marL="82296" marR="82296" marT="82296" marB="82296" anchor="ctr">
                    <a:lnL w="12700" cap="flat" cmpd="sng" algn="ctr">
                      <a:solidFill>
                        <a:srgbClr val="DDE6E0"/>
                      </a:solidFill>
                      <a:prstDash val="solid"/>
                      <a:round/>
                      <a:headEnd type="none" w="med" len="med"/>
                      <a:tailEnd type="none" w="med" len="med"/>
                    </a:lnL>
                    <a:lnR w="12700" cap="flat" cmpd="sng" algn="ctr">
                      <a:solidFill>
                        <a:srgbClr val="DDE6E0"/>
                      </a:solidFill>
                      <a:prstDash val="solid"/>
                      <a:round/>
                      <a:headEnd type="none" w="med" len="med"/>
                      <a:tailEnd type="none" w="med" len="med"/>
                    </a:lnR>
                    <a:lnT w="12700" cap="flat" cmpd="sng" algn="ctr">
                      <a:solidFill>
                        <a:srgbClr val="DDE6E0"/>
                      </a:solidFill>
                      <a:prstDash val="solid"/>
                      <a:round/>
                      <a:headEnd type="none" w="med" len="med"/>
                      <a:tailEnd type="none" w="med" len="med"/>
                    </a:lnT>
                    <a:lnB w="12700" cap="flat" cmpd="sng" algn="ctr">
                      <a:solidFill>
                        <a:srgbClr val="DDE6E0"/>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Meiryo" pitchFamily="34" charset="0"/>
                          <a:ea typeface="Meiryo" pitchFamily="34" charset="-122"/>
                          <a:cs typeface="Meiryo" pitchFamily="34" charset="-120"/>
                        </a:rPr>
                        <a:t>期限あり（2023年で終了）</a:t>
                      </a:r>
                      <a:endParaRPr lang="en-US" sz="1150" dirty="0">
                        <a:latin typeface="Meiryo" charset="0"/>
                        <a:ea typeface="Meiryo" charset="0"/>
                        <a:cs typeface="Meiryo" charset="0"/>
                      </a:endParaRPr>
                    </a:p>
                  </a:txBody>
                  <a:tcPr marL="82296" marR="82296" marT="82296" marB="82296" anchor="ctr">
                    <a:lnL w="12700" cap="flat" cmpd="sng" algn="ctr">
                      <a:solidFill>
                        <a:srgbClr val="DDE6E0"/>
                      </a:solidFill>
                      <a:prstDash val="solid"/>
                      <a:round/>
                      <a:headEnd type="none" w="med" len="med"/>
                      <a:tailEnd type="none" w="med" len="med"/>
                    </a:lnL>
                    <a:lnR w="12700" cap="flat" cmpd="sng" algn="ctr">
                      <a:solidFill>
                        <a:srgbClr val="DDE6E0"/>
                      </a:solidFill>
                      <a:prstDash val="solid"/>
                      <a:round/>
                      <a:headEnd type="none" w="med" len="med"/>
                      <a:tailEnd type="none" w="med" len="med"/>
                    </a:lnR>
                    <a:lnT w="12700" cap="flat" cmpd="sng" algn="ctr">
                      <a:solidFill>
                        <a:srgbClr val="DDE6E0"/>
                      </a:solidFill>
                      <a:prstDash val="solid"/>
                      <a:round/>
                      <a:headEnd type="none" w="med" len="med"/>
                      <a:tailEnd type="none" w="med" len="med"/>
                    </a:lnT>
                    <a:lnB w="12700" cap="flat" cmpd="sng" algn="ctr">
                      <a:solidFill>
                        <a:srgbClr val="DDE6E0"/>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Meiryo" pitchFamily="34" charset="0"/>
                          <a:ea typeface="Meiryo" pitchFamily="34" charset="-122"/>
                          <a:cs typeface="Meiryo" pitchFamily="34" charset="-120"/>
                        </a:rPr>
                        <a:t>恒久化</a:t>
                      </a:r>
                      <a:endParaRPr lang="en-US" sz="1150" dirty="0">
                        <a:latin typeface="Meiryo" charset="0"/>
                        <a:ea typeface="Meiryo" charset="0"/>
                        <a:cs typeface="Meiryo" charset="0"/>
                      </a:endParaRPr>
                    </a:p>
                  </a:txBody>
                  <a:tcPr marL="82296" marR="82296" marT="82296" marB="82296" anchor="ctr">
                    <a:lnL w="12700" cap="flat" cmpd="sng" algn="ctr">
                      <a:solidFill>
                        <a:srgbClr val="DDE6E0"/>
                      </a:solidFill>
                      <a:prstDash val="solid"/>
                      <a:round/>
                      <a:headEnd type="none" w="med" len="med"/>
                      <a:tailEnd type="none" w="med" len="med"/>
                    </a:lnL>
                    <a:lnR w="12700" cap="flat" cmpd="sng" algn="ctr">
                      <a:solidFill>
                        <a:srgbClr val="DDE6E0"/>
                      </a:solidFill>
                      <a:prstDash val="solid"/>
                      <a:round/>
                      <a:headEnd type="none" w="med" len="med"/>
                      <a:tailEnd type="none" w="med" len="med"/>
                    </a:lnR>
                    <a:lnT w="12700" cap="flat" cmpd="sng" algn="ctr">
                      <a:solidFill>
                        <a:srgbClr val="DDE6E0"/>
                      </a:solidFill>
                      <a:prstDash val="solid"/>
                      <a:round/>
                      <a:headEnd type="none" w="med" len="med"/>
                      <a:tailEnd type="none" w="med" len="med"/>
                    </a:lnT>
                    <a:lnB w="12700" cap="flat" cmpd="sng" algn="ctr">
                      <a:solidFill>
                        <a:srgbClr val="DDE6E0"/>
                      </a:solidFill>
                      <a:prstDash val="solid"/>
                      <a:round/>
                      <a:headEnd type="none" w="med" len="med"/>
                      <a:tailEnd type="none" w="med" len="med"/>
                    </a:lnB>
                    <a:solidFill>
                      <a:srgbClr val="FFFFFF"/>
                    </a:solidFill>
                  </a:tcPr>
                </a:tc>
              </a:tr>
            </a:tbl>
          </a:graphicData>
        </a:graphic>
      </p:graphicFrame>
      <p:sp>
        <p:nvSpPr>
          <p:cNvPr id="4" name="Text 1"/>
          <p:cNvSpPr/>
          <p:nvPr/>
        </p:nvSpPr>
        <p:spPr>
          <a:xfrm>
            <a:off x="457200" y="3977640"/>
            <a:ext cx="8229600" cy="548640"/>
          </a:xfrm>
          <a:prstGeom prst="rect">
            <a:avLst/>
          </a:prstGeom>
          <a:noFill/>
          <a:ln/>
        </p:spPr>
        <p:txBody>
          <a:bodyPr wrap="square" lIns="0" tIns="0" rIns="0" bIns="0" rtlCol="0" anchor="t"/>
          <a:lstStyle/>
          <a:p>
            <a:pPr indent="0" marL="0">
              <a:buNone/>
            </a:pPr>
            <a:r>
              <a:rPr lang="en-US" sz="1200" dirty="0">
                <a:solidFill>
                  <a:srgbClr val="1F2A24"/>
                </a:solidFill>
                <a:latin typeface="Meiryo" pitchFamily="34" charset="0"/>
                <a:ea typeface="Meiryo" pitchFamily="34" charset="-122"/>
                <a:cs typeface="Meiryo" pitchFamily="34" charset="-120"/>
              </a:rPr>
              <a:t>旧NISAで買った分は新NISAの枠とは別扱いです。それぞれの非課税期間が終わるまで、そのまま非課税で持ち続けられます。</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92608"/>
            <a:ext cx="8229600" cy="658368"/>
          </a:xfrm>
          <a:prstGeom prst="rect">
            <a:avLst/>
          </a:prstGeom>
          <a:noFill/>
          <a:ln/>
        </p:spPr>
        <p:txBody>
          <a:bodyPr wrap="square" lIns="0" tIns="0" rIns="0" bIns="0" rtlCol="0" anchor="ctr"/>
          <a:lstStyle/>
          <a:p>
            <a:pPr indent="0" marL="0">
              <a:buNone/>
            </a:pPr>
            <a:r>
              <a:rPr lang="en-US" sz="3200" b="1" dirty="0">
                <a:solidFill>
                  <a:srgbClr val="1F2A24"/>
                </a:solidFill>
                <a:latin typeface="Meiryo" pitchFamily="34" charset="0"/>
                <a:ea typeface="Meiryo" pitchFamily="34" charset="-122"/>
                <a:cs typeface="Meiryo" pitchFamily="34" charset="-120"/>
              </a:rPr>
              <a:t>2027年1月から、3つ変わります</a:t>
            </a:r>
            <a:endParaRPr lang="en-US" sz="3200" dirty="0"/>
          </a:p>
        </p:txBody>
      </p:sp>
      <p:sp>
        <p:nvSpPr>
          <p:cNvPr id="3" name="Text 1"/>
          <p:cNvSpPr/>
          <p:nvPr/>
        </p:nvSpPr>
        <p:spPr>
          <a:xfrm>
            <a:off x="457200" y="932688"/>
            <a:ext cx="8229600" cy="310896"/>
          </a:xfrm>
          <a:prstGeom prst="rect">
            <a:avLst/>
          </a:prstGeom>
          <a:noFill/>
          <a:ln/>
        </p:spPr>
        <p:txBody>
          <a:bodyPr wrap="square" lIns="0" tIns="0" rIns="0" bIns="0" rtlCol="0" anchor="ctr"/>
          <a:lstStyle/>
          <a:p>
            <a:pPr indent="0" marL="0">
              <a:buNone/>
            </a:pPr>
            <a:r>
              <a:rPr lang="en-US" sz="1150" dirty="0">
                <a:solidFill>
                  <a:srgbClr val="5F7168"/>
                </a:solidFill>
                <a:latin typeface="Meiryo" pitchFamily="34" charset="0"/>
                <a:ea typeface="Meiryo" pitchFamily="34" charset="-122"/>
                <a:cs typeface="Meiryo" pitchFamily="34" charset="-120"/>
              </a:rPr>
              <a:t>令和8年度税制改正で決定した内容です（2025年12月の税制改正大綱を経て、改正法が成立）。</a:t>
            </a:r>
            <a:endParaRPr lang="en-US" sz="1150" dirty="0"/>
          </a:p>
        </p:txBody>
      </p:sp>
      <p:sp>
        <p:nvSpPr>
          <p:cNvPr id="4" name="Shape 2"/>
          <p:cNvSpPr/>
          <p:nvPr/>
        </p:nvSpPr>
        <p:spPr>
          <a:xfrm>
            <a:off x="457200" y="1417320"/>
            <a:ext cx="8229600" cy="932688"/>
          </a:xfrm>
          <a:prstGeom prst="roundRect">
            <a:avLst>
              <a:gd name="adj" fmla="val 5882"/>
            </a:avLst>
          </a:prstGeom>
          <a:solidFill>
            <a:srgbClr val="EDF6F0"/>
          </a:solidFill>
          <a:ln w="12700">
            <a:solidFill>
              <a:srgbClr val="EDF6F0"/>
            </a:solidFill>
            <a:prstDash val="solid"/>
          </a:ln>
          <a:effectLst>
            <a:outerShdw sx="100000" sy="100000" kx="0" ky="0" algn="bl" rotWithShape="0" blurRad="101600" dist="25400" dir="5400000">
              <a:srgbClr val="1B4332">
                <a:alpha val="12000"/>
              </a:srgbClr>
            </a:outerShdw>
          </a:effectLst>
        </p:spPr>
      </p:sp>
      <p:sp>
        <p:nvSpPr>
          <p:cNvPr id="5" name="Shape 3"/>
          <p:cNvSpPr/>
          <p:nvPr/>
        </p:nvSpPr>
        <p:spPr>
          <a:xfrm>
            <a:off x="713232" y="1645920"/>
            <a:ext cx="475488" cy="475488"/>
          </a:xfrm>
          <a:prstGeom prst="ellipse">
            <a:avLst/>
          </a:prstGeom>
          <a:solidFill>
            <a:srgbClr val="E9C46A"/>
          </a:solidFill>
          <a:ln w="12700">
            <a:solidFill>
              <a:srgbClr val="E9C46A"/>
            </a:solidFill>
            <a:prstDash val="solid"/>
          </a:ln>
        </p:spPr>
      </p:sp>
      <p:sp>
        <p:nvSpPr>
          <p:cNvPr id="6" name="Text 4"/>
          <p:cNvSpPr/>
          <p:nvPr/>
        </p:nvSpPr>
        <p:spPr>
          <a:xfrm>
            <a:off x="713232" y="1645920"/>
            <a:ext cx="475488" cy="475488"/>
          </a:xfrm>
          <a:prstGeom prst="rect">
            <a:avLst/>
          </a:prstGeom>
          <a:noFill/>
          <a:ln/>
        </p:spPr>
        <p:txBody>
          <a:bodyPr wrap="square" lIns="0" tIns="0" rIns="0" bIns="0" rtlCol="0" anchor="ctr"/>
          <a:lstStyle/>
          <a:p>
            <a:pPr algn="ctr" indent="0" marL="0">
              <a:buNone/>
            </a:pPr>
            <a:r>
              <a:rPr lang="en-US" sz="1500" b="1" dirty="0">
                <a:solidFill>
                  <a:srgbClr val="1B4332"/>
                </a:solidFill>
                <a:latin typeface="Meiryo" pitchFamily="34" charset="0"/>
                <a:ea typeface="Meiryo" pitchFamily="34" charset="-122"/>
                <a:cs typeface="Meiryo" pitchFamily="34" charset="-120"/>
              </a:rPr>
              <a:t>01</a:t>
            </a:r>
            <a:endParaRPr lang="en-US" sz="1500" dirty="0"/>
          </a:p>
        </p:txBody>
      </p:sp>
      <p:sp>
        <p:nvSpPr>
          <p:cNvPr id="7" name="Text 5"/>
          <p:cNvSpPr/>
          <p:nvPr/>
        </p:nvSpPr>
        <p:spPr>
          <a:xfrm>
            <a:off x="1417320" y="1545336"/>
            <a:ext cx="7040880" cy="329184"/>
          </a:xfrm>
          <a:prstGeom prst="rect">
            <a:avLst/>
          </a:prstGeom>
          <a:noFill/>
          <a:ln/>
        </p:spPr>
        <p:txBody>
          <a:bodyPr wrap="square" lIns="0" tIns="0" rIns="0" bIns="0" rtlCol="0" anchor="ctr"/>
          <a:lstStyle/>
          <a:p>
            <a:pPr indent="0" marL="0">
              <a:buNone/>
            </a:pPr>
            <a:r>
              <a:rPr lang="en-US" sz="1500" b="1" dirty="0">
                <a:solidFill>
                  <a:srgbClr val="1B4332"/>
                </a:solidFill>
                <a:latin typeface="Meiryo" pitchFamily="34" charset="0"/>
                <a:ea typeface="Meiryo" pitchFamily="34" charset="-122"/>
                <a:cs typeface="Meiryo" pitchFamily="34" charset="-120"/>
              </a:rPr>
              <a:t>こどもNISAの新設</a:t>
            </a:r>
            <a:endParaRPr lang="en-US" sz="1500" dirty="0"/>
          </a:p>
        </p:txBody>
      </p:sp>
      <p:sp>
        <p:nvSpPr>
          <p:cNvPr id="8" name="Text 6"/>
          <p:cNvSpPr/>
          <p:nvPr/>
        </p:nvSpPr>
        <p:spPr>
          <a:xfrm>
            <a:off x="1417320" y="1874520"/>
            <a:ext cx="7040880" cy="384048"/>
          </a:xfrm>
          <a:prstGeom prst="rect">
            <a:avLst/>
          </a:prstGeom>
          <a:noFill/>
          <a:ln/>
        </p:spPr>
        <p:txBody>
          <a:bodyPr wrap="square" lIns="0" tIns="0" rIns="0" bIns="0" rtlCol="0" anchor="ctr"/>
          <a:lstStyle/>
          <a:p>
            <a:pPr indent="0" marL="0">
              <a:buNone/>
            </a:pPr>
            <a:r>
              <a:rPr lang="en-US" sz="1150" dirty="0">
                <a:solidFill>
                  <a:srgbClr val="5F7168"/>
                </a:solidFill>
                <a:latin typeface="Meiryo" pitchFamily="34" charset="0"/>
                <a:ea typeface="Meiryo" pitchFamily="34" charset="-122"/>
                <a:cs typeface="Meiryo" pitchFamily="34" charset="-120"/>
              </a:rPr>
              <a:t>つみたて投資枠の対象年齢が広がり、0〜17歳も利用できるようになります。年間60万円、非課税保有限度額600万円。</a:t>
            </a:r>
            <a:endParaRPr lang="en-US" sz="1150" dirty="0"/>
          </a:p>
        </p:txBody>
      </p:sp>
      <p:sp>
        <p:nvSpPr>
          <p:cNvPr id="9" name="Shape 7"/>
          <p:cNvSpPr/>
          <p:nvPr/>
        </p:nvSpPr>
        <p:spPr>
          <a:xfrm>
            <a:off x="457200" y="2478024"/>
            <a:ext cx="8229600" cy="932688"/>
          </a:xfrm>
          <a:prstGeom prst="roundRect">
            <a:avLst>
              <a:gd name="adj" fmla="val 5882"/>
            </a:avLst>
          </a:prstGeom>
          <a:solidFill>
            <a:srgbClr val="EDF6F0"/>
          </a:solidFill>
          <a:ln w="12700">
            <a:solidFill>
              <a:srgbClr val="EDF6F0"/>
            </a:solidFill>
            <a:prstDash val="solid"/>
          </a:ln>
          <a:effectLst>
            <a:outerShdw sx="100000" sy="100000" kx="0" ky="0" algn="bl" rotWithShape="0" blurRad="101600" dist="25400" dir="5400000">
              <a:srgbClr val="1B4332">
                <a:alpha val="12000"/>
              </a:srgbClr>
            </a:outerShdw>
          </a:effectLst>
        </p:spPr>
      </p:sp>
      <p:sp>
        <p:nvSpPr>
          <p:cNvPr id="10" name="Shape 8"/>
          <p:cNvSpPr/>
          <p:nvPr/>
        </p:nvSpPr>
        <p:spPr>
          <a:xfrm>
            <a:off x="713232" y="2706624"/>
            <a:ext cx="475488" cy="475488"/>
          </a:xfrm>
          <a:prstGeom prst="ellipse">
            <a:avLst/>
          </a:prstGeom>
          <a:solidFill>
            <a:srgbClr val="E9C46A"/>
          </a:solidFill>
          <a:ln w="12700">
            <a:solidFill>
              <a:srgbClr val="E9C46A"/>
            </a:solidFill>
            <a:prstDash val="solid"/>
          </a:ln>
        </p:spPr>
      </p:sp>
      <p:sp>
        <p:nvSpPr>
          <p:cNvPr id="11" name="Text 9"/>
          <p:cNvSpPr/>
          <p:nvPr/>
        </p:nvSpPr>
        <p:spPr>
          <a:xfrm>
            <a:off x="713232" y="2706624"/>
            <a:ext cx="475488" cy="475488"/>
          </a:xfrm>
          <a:prstGeom prst="rect">
            <a:avLst/>
          </a:prstGeom>
          <a:noFill/>
          <a:ln/>
        </p:spPr>
        <p:txBody>
          <a:bodyPr wrap="square" lIns="0" tIns="0" rIns="0" bIns="0" rtlCol="0" anchor="ctr"/>
          <a:lstStyle/>
          <a:p>
            <a:pPr algn="ctr" indent="0" marL="0">
              <a:buNone/>
            </a:pPr>
            <a:r>
              <a:rPr lang="en-US" sz="1500" b="1" dirty="0">
                <a:solidFill>
                  <a:srgbClr val="1B4332"/>
                </a:solidFill>
                <a:latin typeface="Meiryo" pitchFamily="34" charset="0"/>
                <a:ea typeface="Meiryo" pitchFamily="34" charset="-122"/>
                <a:cs typeface="Meiryo" pitchFamily="34" charset="-120"/>
              </a:rPr>
              <a:t>02</a:t>
            </a:r>
            <a:endParaRPr lang="en-US" sz="1500" dirty="0"/>
          </a:p>
        </p:txBody>
      </p:sp>
      <p:sp>
        <p:nvSpPr>
          <p:cNvPr id="12" name="Text 10"/>
          <p:cNvSpPr/>
          <p:nvPr/>
        </p:nvSpPr>
        <p:spPr>
          <a:xfrm>
            <a:off x="1417320" y="2606040"/>
            <a:ext cx="7040880" cy="329184"/>
          </a:xfrm>
          <a:prstGeom prst="rect">
            <a:avLst/>
          </a:prstGeom>
          <a:noFill/>
          <a:ln/>
        </p:spPr>
        <p:txBody>
          <a:bodyPr wrap="square" lIns="0" tIns="0" rIns="0" bIns="0" rtlCol="0" anchor="ctr"/>
          <a:lstStyle/>
          <a:p>
            <a:pPr indent="0" marL="0">
              <a:buNone/>
            </a:pPr>
            <a:r>
              <a:rPr lang="en-US" sz="1500" b="1" dirty="0">
                <a:solidFill>
                  <a:srgbClr val="1B4332"/>
                </a:solidFill>
                <a:latin typeface="Meiryo" pitchFamily="34" charset="0"/>
                <a:ea typeface="Meiryo" pitchFamily="34" charset="-122"/>
                <a:cs typeface="Meiryo" pitchFamily="34" charset="-120"/>
              </a:rPr>
              <a:t>売った枠の復活が「当年中」に</a:t>
            </a:r>
            <a:endParaRPr lang="en-US" sz="1500" dirty="0"/>
          </a:p>
        </p:txBody>
      </p:sp>
      <p:sp>
        <p:nvSpPr>
          <p:cNvPr id="13" name="Text 11"/>
          <p:cNvSpPr/>
          <p:nvPr/>
        </p:nvSpPr>
        <p:spPr>
          <a:xfrm>
            <a:off x="1417320" y="2935224"/>
            <a:ext cx="7040880" cy="384048"/>
          </a:xfrm>
          <a:prstGeom prst="rect">
            <a:avLst/>
          </a:prstGeom>
          <a:noFill/>
          <a:ln/>
        </p:spPr>
        <p:txBody>
          <a:bodyPr wrap="square" lIns="0" tIns="0" rIns="0" bIns="0" rtlCol="0" anchor="ctr"/>
          <a:lstStyle/>
          <a:p>
            <a:pPr indent="0" marL="0">
              <a:buNone/>
            </a:pPr>
            <a:r>
              <a:rPr lang="en-US" sz="1150" dirty="0">
                <a:solidFill>
                  <a:srgbClr val="5F7168"/>
                </a:solidFill>
                <a:latin typeface="Meiryo" pitchFamily="34" charset="0"/>
                <a:ea typeface="Meiryo" pitchFamily="34" charset="-122"/>
                <a:cs typeface="Meiryo" pitchFamily="34" charset="-120"/>
              </a:rPr>
              <a:t>これまで枠の復活は翌年でしたが、売却した年のうちに使えるようになります。商品の入れ替えがしやすくなります。</a:t>
            </a:r>
            <a:endParaRPr lang="en-US" sz="1150" dirty="0"/>
          </a:p>
        </p:txBody>
      </p:sp>
      <p:sp>
        <p:nvSpPr>
          <p:cNvPr id="14" name="Shape 12"/>
          <p:cNvSpPr/>
          <p:nvPr/>
        </p:nvSpPr>
        <p:spPr>
          <a:xfrm>
            <a:off x="457200" y="3538728"/>
            <a:ext cx="8229600" cy="932688"/>
          </a:xfrm>
          <a:prstGeom prst="roundRect">
            <a:avLst>
              <a:gd name="adj" fmla="val 5882"/>
            </a:avLst>
          </a:prstGeom>
          <a:solidFill>
            <a:srgbClr val="EDF6F0"/>
          </a:solidFill>
          <a:ln w="12700">
            <a:solidFill>
              <a:srgbClr val="EDF6F0"/>
            </a:solidFill>
            <a:prstDash val="solid"/>
          </a:ln>
          <a:effectLst>
            <a:outerShdw sx="100000" sy="100000" kx="0" ky="0" algn="bl" rotWithShape="0" blurRad="101600" dist="25400" dir="5400000">
              <a:srgbClr val="1B4332">
                <a:alpha val="12000"/>
              </a:srgbClr>
            </a:outerShdw>
          </a:effectLst>
        </p:spPr>
      </p:sp>
      <p:sp>
        <p:nvSpPr>
          <p:cNvPr id="15" name="Shape 13"/>
          <p:cNvSpPr/>
          <p:nvPr/>
        </p:nvSpPr>
        <p:spPr>
          <a:xfrm>
            <a:off x="713232" y="3767328"/>
            <a:ext cx="475488" cy="475488"/>
          </a:xfrm>
          <a:prstGeom prst="ellipse">
            <a:avLst/>
          </a:prstGeom>
          <a:solidFill>
            <a:srgbClr val="E9C46A"/>
          </a:solidFill>
          <a:ln w="12700">
            <a:solidFill>
              <a:srgbClr val="E9C46A"/>
            </a:solidFill>
            <a:prstDash val="solid"/>
          </a:ln>
        </p:spPr>
      </p:sp>
      <p:sp>
        <p:nvSpPr>
          <p:cNvPr id="16" name="Text 14"/>
          <p:cNvSpPr/>
          <p:nvPr/>
        </p:nvSpPr>
        <p:spPr>
          <a:xfrm>
            <a:off x="713232" y="3767328"/>
            <a:ext cx="475488" cy="475488"/>
          </a:xfrm>
          <a:prstGeom prst="rect">
            <a:avLst/>
          </a:prstGeom>
          <a:noFill/>
          <a:ln/>
        </p:spPr>
        <p:txBody>
          <a:bodyPr wrap="square" lIns="0" tIns="0" rIns="0" bIns="0" rtlCol="0" anchor="ctr"/>
          <a:lstStyle/>
          <a:p>
            <a:pPr algn="ctr" indent="0" marL="0">
              <a:buNone/>
            </a:pPr>
            <a:r>
              <a:rPr lang="en-US" sz="1500" b="1" dirty="0">
                <a:solidFill>
                  <a:srgbClr val="1B4332"/>
                </a:solidFill>
                <a:latin typeface="Meiryo" pitchFamily="34" charset="0"/>
                <a:ea typeface="Meiryo" pitchFamily="34" charset="-122"/>
                <a:cs typeface="Meiryo" pitchFamily="34" charset="-120"/>
              </a:rPr>
              <a:t>03</a:t>
            </a:r>
            <a:endParaRPr lang="en-US" sz="1500" dirty="0"/>
          </a:p>
        </p:txBody>
      </p:sp>
      <p:sp>
        <p:nvSpPr>
          <p:cNvPr id="17" name="Text 15"/>
          <p:cNvSpPr/>
          <p:nvPr/>
        </p:nvSpPr>
        <p:spPr>
          <a:xfrm>
            <a:off x="1417320" y="3666744"/>
            <a:ext cx="7040880" cy="329184"/>
          </a:xfrm>
          <a:prstGeom prst="rect">
            <a:avLst/>
          </a:prstGeom>
          <a:noFill/>
          <a:ln/>
        </p:spPr>
        <p:txBody>
          <a:bodyPr wrap="square" lIns="0" tIns="0" rIns="0" bIns="0" rtlCol="0" anchor="ctr"/>
          <a:lstStyle/>
          <a:p>
            <a:pPr indent="0" marL="0">
              <a:buNone/>
            </a:pPr>
            <a:r>
              <a:rPr lang="en-US" sz="1500" b="1" dirty="0">
                <a:solidFill>
                  <a:srgbClr val="1B4332"/>
                </a:solidFill>
                <a:latin typeface="Meiryo" pitchFamily="34" charset="0"/>
                <a:ea typeface="Meiryo" pitchFamily="34" charset="-122"/>
                <a:cs typeface="Meiryo" pitchFamily="34" charset="-120"/>
              </a:rPr>
              <a:t>つみたて投資枠の対象商品の拡充</a:t>
            </a:r>
            <a:endParaRPr lang="en-US" sz="1500" dirty="0"/>
          </a:p>
        </p:txBody>
      </p:sp>
      <p:sp>
        <p:nvSpPr>
          <p:cNvPr id="18" name="Text 16"/>
          <p:cNvSpPr/>
          <p:nvPr/>
        </p:nvSpPr>
        <p:spPr>
          <a:xfrm>
            <a:off x="1417320" y="3995928"/>
            <a:ext cx="7040880" cy="384048"/>
          </a:xfrm>
          <a:prstGeom prst="rect">
            <a:avLst/>
          </a:prstGeom>
          <a:noFill/>
          <a:ln/>
        </p:spPr>
        <p:txBody>
          <a:bodyPr wrap="square" lIns="0" tIns="0" rIns="0" bIns="0" rtlCol="0" anchor="ctr"/>
          <a:lstStyle/>
          <a:p>
            <a:pPr indent="0" marL="0">
              <a:buNone/>
            </a:pPr>
            <a:r>
              <a:rPr lang="en-US" sz="1150" dirty="0">
                <a:solidFill>
                  <a:srgbClr val="5F7168"/>
                </a:solidFill>
                <a:latin typeface="Meiryo" pitchFamily="34" charset="0"/>
                <a:ea typeface="Meiryo" pitchFamily="34" charset="-122"/>
                <a:cs typeface="Meiryo" pitchFamily="34" charset="-120"/>
              </a:rPr>
              <a:t>債券だけで運用するファンドや、地域別の株価指数に連動するファンドなどを加える方向で検討されています。</a:t>
            </a:r>
            <a:endParaRPr lang="en-US" sz="1150" dirty="0"/>
          </a:p>
        </p:txBody>
      </p:sp>
      <p:sp>
        <p:nvSpPr>
          <p:cNvPr id="19" name="Text 17"/>
          <p:cNvSpPr/>
          <p:nvPr/>
        </p:nvSpPr>
        <p:spPr>
          <a:xfrm>
            <a:off x="457200" y="4617720"/>
            <a:ext cx="8229600" cy="292608"/>
          </a:xfrm>
          <a:prstGeom prst="rect">
            <a:avLst/>
          </a:prstGeom>
          <a:noFill/>
          <a:ln/>
        </p:spPr>
        <p:txBody>
          <a:bodyPr wrap="square" lIns="0" tIns="0" rIns="0" bIns="0" rtlCol="0" anchor="ctr"/>
          <a:lstStyle/>
          <a:p>
            <a:pPr indent="0" marL="0">
              <a:buNone/>
            </a:pPr>
            <a:r>
              <a:rPr lang="en-US" sz="1050" dirty="0">
                <a:solidFill>
                  <a:srgbClr val="5F7168"/>
                </a:solidFill>
                <a:latin typeface="Meiryo" pitchFamily="34" charset="0"/>
                <a:ea typeface="Meiryo" pitchFamily="34" charset="-122"/>
                <a:cs typeface="Meiryo" pitchFamily="34" charset="-120"/>
              </a:rPr>
              <a:t>※ 03の対象商品の具体的な中身は、今後の政省令等で決まる部分があります。</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92608"/>
            <a:ext cx="8229600" cy="658368"/>
          </a:xfrm>
          <a:prstGeom prst="rect">
            <a:avLst/>
          </a:prstGeom>
          <a:noFill/>
          <a:ln/>
        </p:spPr>
        <p:txBody>
          <a:bodyPr wrap="square" lIns="0" tIns="0" rIns="0" bIns="0" rtlCol="0" anchor="ctr"/>
          <a:lstStyle/>
          <a:p>
            <a:pPr indent="0" marL="0">
              <a:buNone/>
            </a:pPr>
            <a:r>
              <a:rPr lang="en-US" sz="3200" b="1" dirty="0">
                <a:solidFill>
                  <a:srgbClr val="1F2A24"/>
                </a:solidFill>
                <a:latin typeface="Meiryo" pitchFamily="34" charset="0"/>
                <a:ea typeface="Meiryo" pitchFamily="34" charset="-122"/>
                <a:cs typeface="Meiryo" pitchFamily="34" charset="-120"/>
              </a:rPr>
              <a:t>こどもNISA（2027年1月〜）</a:t>
            </a:r>
            <a:endParaRPr lang="en-US" sz="3200" dirty="0"/>
          </a:p>
        </p:txBody>
      </p:sp>
      <p:sp>
        <p:nvSpPr>
          <p:cNvPr id="3" name="Shape 1"/>
          <p:cNvSpPr/>
          <p:nvPr/>
        </p:nvSpPr>
        <p:spPr>
          <a:xfrm>
            <a:off x="457200" y="1143000"/>
            <a:ext cx="3977640" cy="3246120"/>
          </a:xfrm>
          <a:prstGeom prst="roundRect">
            <a:avLst>
              <a:gd name="adj" fmla="val 1690"/>
            </a:avLst>
          </a:prstGeom>
          <a:solidFill>
            <a:srgbClr val="EDF6F0"/>
          </a:solidFill>
          <a:ln w="12700">
            <a:solidFill>
              <a:srgbClr val="EDF6F0"/>
            </a:solidFill>
            <a:prstDash val="solid"/>
          </a:ln>
          <a:effectLst>
            <a:outerShdw sx="100000" sy="100000" kx="0" ky="0" algn="bl" rotWithShape="0" blurRad="101600" dist="25400" dir="5400000">
              <a:srgbClr val="1B4332">
                <a:alpha val="12000"/>
              </a:srgbClr>
            </a:outerShdw>
          </a:effectLst>
        </p:spPr>
      </p:sp>
      <p:sp>
        <p:nvSpPr>
          <p:cNvPr id="4" name="Text 2"/>
          <p:cNvSpPr/>
          <p:nvPr/>
        </p:nvSpPr>
        <p:spPr>
          <a:xfrm>
            <a:off x="731520" y="1371600"/>
            <a:ext cx="3429000" cy="274320"/>
          </a:xfrm>
          <a:prstGeom prst="rect">
            <a:avLst/>
          </a:prstGeom>
          <a:noFill/>
          <a:ln/>
        </p:spPr>
        <p:txBody>
          <a:bodyPr wrap="square" lIns="0" tIns="0" rIns="0" bIns="0" rtlCol="0" anchor="ctr"/>
          <a:lstStyle/>
          <a:p>
            <a:pPr indent="0" marL="0">
              <a:buNone/>
            </a:pPr>
            <a:r>
              <a:rPr lang="en-US" sz="1100" dirty="0">
                <a:solidFill>
                  <a:srgbClr val="5F7168"/>
                </a:solidFill>
                <a:latin typeface="Meiryo" pitchFamily="34" charset="0"/>
                <a:ea typeface="Meiryo" pitchFamily="34" charset="-122"/>
                <a:cs typeface="Meiryo" pitchFamily="34" charset="-120"/>
              </a:rPr>
              <a:t>対象年齢</a:t>
            </a:r>
            <a:endParaRPr lang="en-US" sz="1100" dirty="0"/>
          </a:p>
        </p:txBody>
      </p:sp>
      <p:sp>
        <p:nvSpPr>
          <p:cNvPr id="5" name="Text 3"/>
          <p:cNvSpPr/>
          <p:nvPr/>
        </p:nvSpPr>
        <p:spPr>
          <a:xfrm>
            <a:off x="731520" y="1627632"/>
            <a:ext cx="3429000" cy="384048"/>
          </a:xfrm>
          <a:prstGeom prst="rect">
            <a:avLst/>
          </a:prstGeom>
          <a:noFill/>
          <a:ln/>
        </p:spPr>
        <p:txBody>
          <a:bodyPr wrap="square" lIns="0" tIns="0" rIns="0" bIns="0" rtlCol="0" anchor="ctr"/>
          <a:lstStyle/>
          <a:p>
            <a:pPr indent="0" marL="0">
              <a:buNone/>
            </a:pPr>
            <a:r>
              <a:rPr lang="en-US" sz="1500" b="1" dirty="0">
                <a:solidFill>
                  <a:srgbClr val="1B4332"/>
                </a:solidFill>
                <a:latin typeface="Meiryo" pitchFamily="34" charset="0"/>
                <a:ea typeface="Meiryo" pitchFamily="34" charset="-122"/>
                <a:cs typeface="Meiryo" pitchFamily="34" charset="-120"/>
              </a:rPr>
              <a:t>0〜17歳</a:t>
            </a:r>
            <a:endParaRPr lang="en-US" sz="1500" dirty="0"/>
          </a:p>
        </p:txBody>
      </p:sp>
      <p:sp>
        <p:nvSpPr>
          <p:cNvPr id="6" name="Text 4"/>
          <p:cNvSpPr/>
          <p:nvPr/>
        </p:nvSpPr>
        <p:spPr>
          <a:xfrm>
            <a:off x="731520" y="2103120"/>
            <a:ext cx="3429000" cy="274320"/>
          </a:xfrm>
          <a:prstGeom prst="rect">
            <a:avLst/>
          </a:prstGeom>
          <a:noFill/>
          <a:ln/>
        </p:spPr>
        <p:txBody>
          <a:bodyPr wrap="square" lIns="0" tIns="0" rIns="0" bIns="0" rtlCol="0" anchor="ctr"/>
          <a:lstStyle/>
          <a:p>
            <a:pPr indent="0" marL="0">
              <a:buNone/>
            </a:pPr>
            <a:r>
              <a:rPr lang="en-US" sz="1100" dirty="0">
                <a:solidFill>
                  <a:srgbClr val="5F7168"/>
                </a:solidFill>
                <a:latin typeface="Meiryo" pitchFamily="34" charset="0"/>
                <a:ea typeface="Meiryo" pitchFamily="34" charset="-122"/>
                <a:cs typeface="Meiryo" pitchFamily="34" charset="-120"/>
              </a:rPr>
              <a:t>年間投資枠</a:t>
            </a:r>
            <a:endParaRPr lang="en-US" sz="1100" dirty="0"/>
          </a:p>
        </p:txBody>
      </p:sp>
      <p:sp>
        <p:nvSpPr>
          <p:cNvPr id="7" name="Text 5"/>
          <p:cNvSpPr/>
          <p:nvPr/>
        </p:nvSpPr>
        <p:spPr>
          <a:xfrm>
            <a:off x="731520" y="2359152"/>
            <a:ext cx="3429000" cy="384048"/>
          </a:xfrm>
          <a:prstGeom prst="rect">
            <a:avLst/>
          </a:prstGeom>
          <a:noFill/>
          <a:ln/>
        </p:spPr>
        <p:txBody>
          <a:bodyPr wrap="square" lIns="0" tIns="0" rIns="0" bIns="0" rtlCol="0" anchor="ctr"/>
          <a:lstStyle/>
          <a:p>
            <a:pPr indent="0" marL="0">
              <a:buNone/>
            </a:pPr>
            <a:r>
              <a:rPr lang="en-US" sz="1500" b="1" dirty="0">
                <a:solidFill>
                  <a:srgbClr val="1B4332"/>
                </a:solidFill>
                <a:latin typeface="Meiryo" pitchFamily="34" charset="0"/>
                <a:ea typeface="Meiryo" pitchFamily="34" charset="-122"/>
                <a:cs typeface="Meiryo" pitchFamily="34" charset="-120"/>
              </a:rPr>
              <a:t>60万円</a:t>
            </a:r>
            <a:endParaRPr lang="en-US" sz="1500" dirty="0"/>
          </a:p>
        </p:txBody>
      </p:sp>
      <p:sp>
        <p:nvSpPr>
          <p:cNvPr id="8" name="Text 6"/>
          <p:cNvSpPr/>
          <p:nvPr/>
        </p:nvSpPr>
        <p:spPr>
          <a:xfrm>
            <a:off x="731520" y="2834640"/>
            <a:ext cx="3429000" cy="274320"/>
          </a:xfrm>
          <a:prstGeom prst="rect">
            <a:avLst/>
          </a:prstGeom>
          <a:noFill/>
          <a:ln/>
        </p:spPr>
        <p:txBody>
          <a:bodyPr wrap="square" lIns="0" tIns="0" rIns="0" bIns="0" rtlCol="0" anchor="ctr"/>
          <a:lstStyle/>
          <a:p>
            <a:pPr indent="0" marL="0">
              <a:buNone/>
            </a:pPr>
            <a:r>
              <a:rPr lang="en-US" sz="1100" dirty="0">
                <a:solidFill>
                  <a:srgbClr val="5F7168"/>
                </a:solidFill>
                <a:latin typeface="Meiryo" pitchFamily="34" charset="0"/>
                <a:ea typeface="Meiryo" pitchFamily="34" charset="-122"/>
                <a:cs typeface="Meiryo" pitchFamily="34" charset="-120"/>
              </a:rPr>
              <a:t>非課税保有限度額</a:t>
            </a:r>
            <a:endParaRPr lang="en-US" sz="1100" dirty="0"/>
          </a:p>
        </p:txBody>
      </p:sp>
      <p:sp>
        <p:nvSpPr>
          <p:cNvPr id="9" name="Text 7"/>
          <p:cNvSpPr/>
          <p:nvPr/>
        </p:nvSpPr>
        <p:spPr>
          <a:xfrm>
            <a:off x="731520" y="3090672"/>
            <a:ext cx="3429000" cy="384048"/>
          </a:xfrm>
          <a:prstGeom prst="rect">
            <a:avLst/>
          </a:prstGeom>
          <a:noFill/>
          <a:ln/>
        </p:spPr>
        <p:txBody>
          <a:bodyPr wrap="square" lIns="0" tIns="0" rIns="0" bIns="0" rtlCol="0" anchor="ctr"/>
          <a:lstStyle/>
          <a:p>
            <a:pPr indent="0" marL="0">
              <a:buNone/>
            </a:pPr>
            <a:r>
              <a:rPr lang="en-US" sz="1500" b="1" dirty="0">
                <a:solidFill>
                  <a:srgbClr val="1B4332"/>
                </a:solidFill>
                <a:latin typeface="Meiryo" pitchFamily="34" charset="0"/>
                <a:ea typeface="Meiryo" pitchFamily="34" charset="-122"/>
                <a:cs typeface="Meiryo" pitchFamily="34" charset="-120"/>
              </a:rPr>
              <a:t>600万円</a:t>
            </a:r>
            <a:endParaRPr lang="en-US" sz="1500" dirty="0"/>
          </a:p>
        </p:txBody>
      </p:sp>
      <p:sp>
        <p:nvSpPr>
          <p:cNvPr id="10" name="Text 8"/>
          <p:cNvSpPr/>
          <p:nvPr/>
        </p:nvSpPr>
        <p:spPr>
          <a:xfrm>
            <a:off x="731520" y="3566160"/>
            <a:ext cx="3429000" cy="274320"/>
          </a:xfrm>
          <a:prstGeom prst="rect">
            <a:avLst/>
          </a:prstGeom>
          <a:noFill/>
          <a:ln/>
        </p:spPr>
        <p:txBody>
          <a:bodyPr wrap="square" lIns="0" tIns="0" rIns="0" bIns="0" rtlCol="0" anchor="ctr"/>
          <a:lstStyle/>
          <a:p>
            <a:pPr indent="0" marL="0">
              <a:buNone/>
            </a:pPr>
            <a:r>
              <a:rPr lang="en-US" sz="1100" dirty="0">
                <a:solidFill>
                  <a:srgbClr val="5F7168"/>
                </a:solidFill>
                <a:latin typeface="Meiryo" pitchFamily="34" charset="0"/>
                <a:ea typeface="Meiryo" pitchFamily="34" charset="-122"/>
                <a:cs typeface="Meiryo" pitchFamily="34" charset="-120"/>
              </a:rPr>
              <a:t>買い方</a:t>
            </a:r>
            <a:endParaRPr lang="en-US" sz="1100" dirty="0"/>
          </a:p>
        </p:txBody>
      </p:sp>
      <p:sp>
        <p:nvSpPr>
          <p:cNvPr id="11" name="Text 9"/>
          <p:cNvSpPr/>
          <p:nvPr/>
        </p:nvSpPr>
        <p:spPr>
          <a:xfrm>
            <a:off x="731520" y="3822192"/>
            <a:ext cx="3429000" cy="384048"/>
          </a:xfrm>
          <a:prstGeom prst="rect">
            <a:avLst/>
          </a:prstGeom>
          <a:noFill/>
          <a:ln/>
        </p:spPr>
        <p:txBody>
          <a:bodyPr wrap="square" lIns="0" tIns="0" rIns="0" bIns="0" rtlCol="0" anchor="ctr"/>
          <a:lstStyle/>
          <a:p>
            <a:pPr indent="0" marL="0">
              <a:buNone/>
            </a:pPr>
            <a:r>
              <a:rPr lang="en-US" sz="1500" b="1" dirty="0">
                <a:solidFill>
                  <a:srgbClr val="1B4332"/>
                </a:solidFill>
                <a:latin typeface="Meiryo" pitchFamily="34" charset="0"/>
                <a:ea typeface="Meiryo" pitchFamily="34" charset="-122"/>
                <a:cs typeface="Meiryo" pitchFamily="34" charset="-120"/>
              </a:rPr>
              <a:t>つみたて投資枠の対象商品を積立で</a:t>
            </a:r>
            <a:endParaRPr lang="en-US" sz="1500" dirty="0"/>
          </a:p>
        </p:txBody>
      </p:sp>
      <p:sp>
        <p:nvSpPr>
          <p:cNvPr id="12" name="Shape 10"/>
          <p:cNvSpPr/>
          <p:nvPr/>
        </p:nvSpPr>
        <p:spPr>
          <a:xfrm>
            <a:off x="4709160" y="1143000"/>
            <a:ext cx="3977640" cy="3246120"/>
          </a:xfrm>
          <a:prstGeom prst="roundRect">
            <a:avLst>
              <a:gd name="adj" fmla="val 1690"/>
            </a:avLst>
          </a:prstGeom>
          <a:solidFill>
            <a:srgbClr val="1B4332"/>
          </a:solidFill>
          <a:ln w="12700">
            <a:solidFill>
              <a:srgbClr val="1B4332"/>
            </a:solidFill>
            <a:prstDash val="solid"/>
          </a:ln>
          <a:effectLst>
            <a:outerShdw sx="100000" sy="100000" kx="0" ky="0" algn="bl" rotWithShape="0" blurRad="101600" dist="25400" dir="5400000">
              <a:srgbClr val="1B4332">
                <a:alpha val="12000"/>
              </a:srgbClr>
            </a:outerShdw>
          </a:effectLst>
        </p:spPr>
      </p:sp>
      <p:sp>
        <p:nvSpPr>
          <p:cNvPr id="13" name="Text 11"/>
          <p:cNvSpPr/>
          <p:nvPr/>
        </p:nvSpPr>
        <p:spPr>
          <a:xfrm>
            <a:off x="4983480" y="1353312"/>
            <a:ext cx="3429000" cy="347472"/>
          </a:xfrm>
          <a:prstGeom prst="rect">
            <a:avLst/>
          </a:prstGeom>
          <a:noFill/>
          <a:ln/>
        </p:spPr>
        <p:txBody>
          <a:bodyPr wrap="square" lIns="0" tIns="0" rIns="0" bIns="0" rtlCol="0" anchor="ctr"/>
          <a:lstStyle/>
          <a:p>
            <a:pPr indent="0" marL="0">
              <a:buNone/>
            </a:pPr>
            <a:r>
              <a:rPr lang="en-US" sz="1500" b="1" dirty="0">
                <a:solidFill>
                  <a:srgbClr val="E9C46A"/>
                </a:solidFill>
                <a:latin typeface="Meiryo" pitchFamily="34" charset="0"/>
                <a:ea typeface="Meiryo" pitchFamily="34" charset="-122"/>
                <a:cs typeface="Meiryo" pitchFamily="34" charset="-120"/>
              </a:rPr>
              <a:t>引き出しには制限があります</a:t>
            </a:r>
            <a:endParaRPr lang="en-US" sz="1500" dirty="0"/>
          </a:p>
        </p:txBody>
      </p:sp>
      <p:sp>
        <p:nvSpPr>
          <p:cNvPr id="14" name="Text 12"/>
          <p:cNvSpPr/>
          <p:nvPr/>
        </p:nvSpPr>
        <p:spPr>
          <a:xfrm>
            <a:off x="4983480" y="1783080"/>
            <a:ext cx="3429000" cy="2468880"/>
          </a:xfrm>
          <a:prstGeom prst="rect">
            <a:avLst/>
          </a:prstGeom>
          <a:noFill/>
          <a:ln/>
        </p:spPr>
        <p:txBody>
          <a:bodyPr wrap="square" lIns="0" tIns="0" rIns="0" bIns="0" rtlCol="0" anchor="t"/>
          <a:lstStyle/>
          <a:p>
            <a:pPr indent="0" marL="0">
              <a:lnSpc>
                <a:spcPct val="122000"/>
              </a:lnSpc>
              <a:buNone/>
            </a:pPr>
            <a:r>
              <a:rPr lang="en-US" sz="1200" b="1" dirty="0">
                <a:solidFill>
                  <a:srgbClr val="FFFFFF"/>
                </a:solidFill>
                <a:latin typeface="Meiryo" pitchFamily="34" charset="0"/>
                <a:ea typeface="Meiryo" pitchFamily="34" charset="-122"/>
                <a:cs typeface="Meiryo" pitchFamily="34" charset="-120"/>
              </a:rPr>
              <a:t>0〜11歳</a:t>
            </a:r>
            <a:endParaRPr lang="en-US" sz="1200" dirty="0"/>
          </a:p>
          <a:p>
            <a:pPr indent="0" marL="0">
              <a:lnSpc>
                <a:spcPct val="122000"/>
              </a:lnSpc>
              <a:buNone/>
            </a:pPr>
            <a:r>
              <a:rPr lang="en-US" sz="1100" dirty="0">
                <a:solidFill>
                  <a:srgbClr val="95D5B2"/>
                </a:solidFill>
                <a:latin typeface="Meiryo" pitchFamily="34" charset="0"/>
                <a:ea typeface="Meiryo" pitchFamily="34" charset="-122"/>
                <a:cs typeface="Meiryo" pitchFamily="34" charset="-120"/>
              </a:rPr>
              <a:t>災害等で税務署長の確認を受けた場合のみ。
</a:t>
            </a:r>
            <a:endParaRPr lang="en-US" sz="1200" dirty="0"/>
          </a:p>
          <a:p>
            <a:pPr indent="0" marL="0">
              <a:lnSpc>
                <a:spcPct val="122000"/>
              </a:lnSpc>
              <a:buNone/>
            </a:pPr>
            <a:r>
              <a:rPr lang="en-US" sz="1200" b="1" dirty="0">
                <a:solidFill>
                  <a:srgbClr val="FFFFFF"/>
                </a:solidFill>
                <a:latin typeface="Meiryo" pitchFamily="34" charset="0"/>
                <a:ea typeface="Meiryo" pitchFamily="34" charset="-122"/>
                <a:cs typeface="Meiryo" pitchFamily="34" charset="-120"/>
              </a:rPr>
              <a:t>12歳以降</a:t>
            </a:r>
            <a:endParaRPr lang="en-US" sz="1200" dirty="0"/>
          </a:p>
          <a:p>
            <a:pPr indent="0" marL="0">
              <a:lnSpc>
                <a:spcPct val="122000"/>
              </a:lnSpc>
              <a:buNone/>
            </a:pPr>
            <a:r>
              <a:rPr lang="en-US" sz="1100" dirty="0">
                <a:solidFill>
                  <a:srgbClr val="95D5B2"/>
                </a:solidFill>
                <a:latin typeface="Meiryo" pitchFamily="34" charset="0"/>
                <a:ea typeface="Meiryo" pitchFamily="34" charset="-122"/>
                <a:cs typeface="Meiryo" pitchFamily="34" charset="-120"/>
              </a:rPr>
              <a:t>使い道が子どものためであること、子の同意書面、親権者等からの申出書の提出といった要件を満たせば引き出せます。
</a:t>
            </a:r>
            <a:endParaRPr lang="en-US" sz="1200" dirty="0"/>
          </a:p>
          <a:p>
            <a:pPr indent="0" marL="0">
              <a:lnSpc>
                <a:spcPct val="122000"/>
              </a:lnSpc>
              <a:buNone/>
            </a:pPr>
            <a:r>
              <a:rPr lang="en-US" sz="1200" b="1" dirty="0">
                <a:solidFill>
                  <a:srgbClr val="FFFFFF"/>
                </a:solidFill>
                <a:latin typeface="Meiryo" pitchFamily="34" charset="0"/>
                <a:ea typeface="Meiryo" pitchFamily="34" charset="-122"/>
                <a:cs typeface="Meiryo" pitchFamily="34" charset="-120"/>
              </a:rPr>
              <a:t>18歳になったら</a:t>
            </a:r>
            <a:endParaRPr lang="en-US" sz="1200" dirty="0"/>
          </a:p>
          <a:p>
            <a:pPr indent="0" marL="0">
              <a:lnSpc>
                <a:spcPct val="122000"/>
              </a:lnSpc>
              <a:buNone/>
            </a:pPr>
            <a:r>
              <a:rPr lang="en-US" sz="1100" dirty="0">
                <a:solidFill>
                  <a:srgbClr val="95D5B2"/>
                </a:solidFill>
                <a:latin typeface="Meiryo" pitchFamily="34" charset="0"/>
                <a:ea typeface="Meiryo" pitchFamily="34" charset="-122"/>
                <a:cs typeface="Meiryo" pitchFamily="34" charset="-120"/>
              </a:rPr>
              <a:t>成人NISAのつみたて投資枠へ自動的に移り、自由に引き出せるようになります。</a:t>
            </a:r>
            <a:endParaRPr lang="en-US" sz="1200" dirty="0"/>
          </a:p>
        </p:txBody>
      </p:sp>
      <p:sp>
        <p:nvSpPr>
          <p:cNvPr id="15" name="Text 13"/>
          <p:cNvSpPr/>
          <p:nvPr/>
        </p:nvSpPr>
        <p:spPr>
          <a:xfrm>
            <a:off x="457200" y="4498848"/>
            <a:ext cx="8229600" cy="320040"/>
          </a:xfrm>
          <a:prstGeom prst="rect">
            <a:avLst/>
          </a:prstGeom>
          <a:noFill/>
          <a:ln/>
        </p:spPr>
        <p:txBody>
          <a:bodyPr wrap="square" lIns="0" tIns="0" rIns="0" bIns="0" rtlCol="0" anchor="ctr"/>
          <a:lstStyle/>
          <a:p>
            <a:pPr indent="0" marL="0">
              <a:buNone/>
            </a:pPr>
            <a:r>
              <a:rPr lang="en-US" sz="1150" dirty="0">
                <a:solidFill>
                  <a:srgbClr val="1F2A24"/>
                </a:solidFill>
                <a:latin typeface="Meiryo" pitchFamily="34" charset="0"/>
                <a:ea typeface="Meiryo" pitchFamily="34" charset="-122"/>
                <a:cs typeface="Meiryo" pitchFamily="34" charset="-120"/>
              </a:rPr>
              <a:t>ジュニアNISAと違い、非課税で持てる期間に制限はありません。0歳から始めれば18年間の長期運用ができます。</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92608"/>
            <a:ext cx="8229600" cy="658368"/>
          </a:xfrm>
          <a:prstGeom prst="rect">
            <a:avLst/>
          </a:prstGeom>
          <a:noFill/>
          <a:ln/>
        </p:spPr>
        <p:txBody>
          <a:bodyPr wrap="square" lIns="0" tIns="0" rIns="0" bIns="0" rtlCol="0" anchor="ctr"/>
          <a:lstStyle/>
          <a:p>
            <a:pPr indent="0" marL="0">
              <a:buNone/>
            </a:pPr>
            <a:r>
              <a:rPr lang="en-US" sz="3200" b="1" dirty="0">
                <a:solidFill>
                  <a:srgbClr val="1F2A24"/>
                </a:solidFill>
                <a:latin typeface="Meiryo" pitchFamily="34" charset="0"/>
                <a:ea typeface="Meiryo" pitchFamily="34" charset="-122"/>
                <a:cs typeface="Meiryo" pitchFamily="34" charset="-120"/>
              </a:rPr>
              <a:t>注意しておきたいこと</a:t>
            </a:r>
            <a:endParaRPr lang="en-US" sz="3200" dirty="0"/>
          </a:p>
        </p:txBody>
      </p:sp>
      <p:sp>
        <p:nvSpPr>
          <p:cNvPr id="3" name="Shape 1"/>
          <p:cNvSpPr/>
          <p:nvPr/>
        </p:nvSpPr>
        <p:spPr>
          <a:xfrm>
            <a:off x="457200" y="1188720"/>
            <a:ext cx="3977640" cy="1536192"/>
          </a:xfrm>
          <a:prstGeom prst="roundRect">
            <a:avLst>
              <a:gd name="adj" fmla="val 3571"/>
            </a:avLst>
          </a:prstGeom>
          <a:solidFill>
            <a:srgbClr val="EDF6F0"/>
          </a:solidFill>
          <a:ln w="12700">
            <a:solidFill>
              <a:srgbClr val="EDF6F0"/>
            </a:solidFill>
            <a:prstDash val="solid"/>
          </a:ln>
          <a:effectLst>
            <a:outerShdw sx="100000" sy="100000" kx="0" ky="0" algn="bl" rotWithShape="0" blurRad="101600" dist="25400" dir="5400000">
              <a:srgbClr val="1B4332">
                <a:alpha val="12000"/>
              </a:srgbClr>
            </a:outerShdw>
          </a:effectLst>
        </p:spPr>
      </p:sp>
      <p:sp>
        <p:nvSpPr>
          <p:cNvPr id="4" name="Text 2"/>
          <p:cNvSpPr/>
          <p:nvPr/>
        </p:nvSpPr>
        <p:spPr>
          <a:xfrm>
            <a:off x="731520" y="1371600"/>
            <a:ext cx="3429000" cy="457200"/>
          </a:xfrm>
          <a:prstGeom prst="rect">
            <a:avLst/>
          </a:prstGeom>
          <a:noFill/>
          <a:ln/>
        </p:spPr>
        <p:txBody>
          <a:bodyPr wrap="square" lIns="0" tIns="0" rIns="0" bIns="0" rtlCol="0" anchor="t"/>
          <a:lstStyle/>
          <a:p>
            <a:pPr indent="0" marL="0">
              <a:buNone/>
            </a:pPr>
            <a:r>
              <a:rPr lang="en-US" sz="1350" b="1" dirty="0">
                <a:solidFill>
                  <a:srgbClr val="1B4332"/>
                </a:solidFill>
                <a:latin typeface="Meiryo" pitchFamily="34" charset="0"/>
                <a:ea typeface="Meiryo" pitchFamily="34" charset="-122"/>
                <a:cs typeface="Meiryo" pitchFamily="34" charset="-120"/>
              </a:rPr>
              <a:t>損失は税務上いっさい救済されない</a:t>
            </a:r>
            <a:endParaRPr lang="en-US" sz="1350" dirty="0"/>
          </a:p>
        </p:txBody>
      </p:sp>
      <p:sp>
        <p:nvSpPr>
          <p:cNvPr id="5" name="Text 3"/>
          <p:cNvSpPr/>
          <p:nvPr/>
        </p:nvSpPr>
        <p:spPr>
          <a:xfrm>
            <a:off x="731520" y="1847088"/>
            <a:ext cx="3429000" cy="749808"/>
          </a:xfrm>
          <a:prstGeom prst="rect">
            <a:avLst/>
          </a:prstGeom>
          <a:noFill/>
          <a:ln/>
        </p:spPr>
        <p:txBody>
          <a:bodyPr wrap="square" lIns="0" tIns="0" rIns="0" bIns="0" rtlCol="0" anchor="t"/>
          <a:lstStyle/>
          <a:p>
            <a:pPr indent="0" marL="0">
              <a:lnSpc>
                <a:spcPct val="125000"/>
              </a:lnSpc>
              <a:buNone/>
            </a:pPr>
            <a:r>
              <a:rPr lang="en-US" sz="1100" dirty="0">
                <a:solidFill>
                  <a:srgbClr val="5F7168"/>
                </a:solidFill>
                <a:latin typeface="Meiryo" pitchFamily="34" charset="0"/>
                <a:ea typeface="Meiryo" pitchFamily="34" charset="-122"/>
                <a:cs typeface="Meiryo" pitchFamily="34" charset="-120"/>
              </a:rPr>
              <a:t>NISA口座の損失は、特定口座や一般口座の利益との損益通算も、翌年以降への繰越控除もできません。</a:t>
            </a:r>
            <a:endParaRPr lang="en-US" sz="1100" dirty="0"/>
          </a:p>
        </p:txBody>
      </p:sp>
      <p:sp>
        <p:nvSpPr>
          <p:cNvPr id="6" name="Shape 4"/>
          <p:cNvSpPr/>
          <p:nvPr/>
        </p:nvSpPr>
        <p:spPr>
          <a:xfrm>
            <a:off x="4709160" y="1188720"/>
            <a:ext cx="3977640" cy="1536192"/>
          </a:xfrm>
          <a:prstGeom prst="roundRect">
            <a:avLst>
              <a:gd name="adj" fmla="val 3571"/>
            </a:avLst>
          </a:prstGeom>
          <a:solidFill>
            <a:srgbClr val="EDF6F0"/>
          </a:solidFill>
          <a:ln w="12700">
            <a:solidFill>
              <a:srgbClr val="EDF6F0"/>
            </a:solidFill>
            <a:prstDash val="solid"/>
          </a:ln>
          <a:effectLst>
            <a:outerShdw sx="100000" sy="100000" kx="0" ky="0" algn="bl" rotWithShape="0" blurRad="101600" dist="25400" dir="5400000">
              <a:srgbClr val="1B4332">
                <a:alpha val="12000"/>
              </a:srgbClr>
            </a:outerShdw>
          </a:effectLst>
        </p:spPr>
      </p:sp>
      <p:sp>
        <p:nvSpPr>
          <p:cNvPr id="7" name="Text 5"/>
          <p:cNvSpPr/>
          <p:nvPr/>
        </p:nvSpPr>
        <p:spPr>
          <a:xfrm>
            <a:off x="4983480" y="1371600"/>
            <a:ext cx="3429000" cy="457200"/>
          </a:xfrm>
          <a:prstGeom prst="rect">
            <a:avLst/>
          </a:prstGeom>
          <a:noFill/>
          <a:ln/>
        </p:spPr>
        <p:txBody>
          <a:bodyPr wrap="square" lIns="0" tIns="0" rIns="0" bIns="0" rtlCol="0" anchor="t"/>
          <a:lstStyle/>
          <a:p>
            <a:pPr indent="0" marL="0">
              <a:buNone/>
            </a:pPr>
            <a:r>
              <a:rPr lang="en-US" sz="1350" b="1" dirty="0">
                <a:solidFill>
                  <a:srgbClr val="1B4332"/>
                </a:solidFill>
                <a:latin typeface="Meiryo" pitchFamily="34" charset="0"/>
                <a:ea typeface="Meiryo" pitchFamily="34" charset="-122"/>
                <a:cs typeface="Meiryo" pitchFamily="34" charset="-120"/>
              </a:rPr>
              <a:t>元本は保証されない</a:t>
            </a:r>
            <a:endParaRPr lang="en-US" sz="1350" dirty="0"/>
          </a:p>
        </p:txBody>
      </p:sp>
      <p:sp>
        <p:nvSpPr>
          <p:cNvPr id="8" name="Text 6"/>
          <p:cNvSpPr/>
          <p:nvPr/>
        </p:nvSpPr>
        <p:spPr>
          <a:xfrm>
            <a:off x="4983480" y="1847088"/>
            <a:ext cx="3429000" cy="749808"/>
          </a:xfrm>
          <a:prstGeom prst="rect">
            <a:avLst/>
          </a:prstGeom>
          <a:noFill/>
          <a:ln/>
        </p:spPr>
        <p:txBody>
          <a:bodyPr wrap="square" lIns="0" tIns="0" rIns="0" bIns="0" rtlCol="0" anchor="t"/>
          <a:lstStyle/>
          <a:p>
            <a:pPr indent="0" marL="0">
              <a:lnSpc>
                <a:spcPct val="125000"/>
              </a:lnSpc>
              <a:buNone/>
            </a:pPr>
            <a:r>
              <a:rPr lang="en-US" sz="1100" dirty="0">
                <a:solidFill>
                  <a:srgbClr val="5F7168"/>
                </a:solidFill>
                <a:latin typeface="Meiryo" pitchFamily="34" charset="0"/>
                <a:ea typeface="Meiryo" pitchFamily="34" charset="-122"/>
                <a:cs typeface="Meiryo" pitchFamily="34" charset="-120"/>
              </a:rPr>
              <a:t>非課税なのは「利益が出たとき」の話です。値下がりすれば元本を割り込むこともあります。</a:t>
            </a:r>
            <a:endParaRPr lang="en-US" sz="1100" dirty="0"/>
          </a:p>
        </p:txBody>
      </p:sp>
      <p:sp>
        <p:nvSpPr>
          <p:cNvPr id="9" name="Shape 7"/>
          <p:cNvSpPr/>
          <p:nvPr/>
        </p:nvSpPr>
        <p:spPr>
          <a:xfrm>
            <a:off x="457200" y="2852928"/>
            <a:ext cx="3977640" cy="1536192"/>
          </a:xfrm>
          <a:prstGeom prst="roundRect">
            <a:avLst>
              <a:gd name="adj" fmla="val 3571"/>
            </a:avLst>
          </a:prstGeom>
          <a:solidFill>
            <a:srgbClr val="EDF6F0"/>
          </a:solidFill>
          <a:ln w="12700">
            <a:solidFill>
              <a:srgbClr val="EDF6F0"/>
            </a:solidFill>
            <a:prstDash val="solid"/>
          </a:ln>
          <a:effectLst>
            <a:outerShdw sx="100000" sy="100000" kx="0" ky="0" algn="bl" rotWithShape="0" blurRad="101600" dist="25400" dir="5400000">
              <a:srgbClr val="1B4332">
                <a:alpha val="12000"/>
              </a:srgbClr>
            </a:outerShdw>
          </a:effectLst>
        </p:spPr>
      </p:sp>
      <p:sp>
        <p:nvSpPr>
          <p:cNvPr id="10" name="Text 8"/>
          <p:cNvSpPr/>
          <p:nvPr/>
        </p:nvSpPr>
        <p:spPr>
          <a:xfrm>
            <a:off x="731520" y="3035808"/>
            <a:ext cx="3429000" cy="457200"/>
          </a:xfrm>
          <a:prstGeom prst="rect">
            <a:avLst/>
          </a:prstGeom>
          <a:noFill/>
          <a:ln/>
        </p:spPr>
        <p:txBody>
          <a:bodyPr wrap="square" lIns="0" tIns="0" rIns="0" bIns="0" rtlCol="0" anchor="t"/>
          <a:lstStyle/>
          <a:p>
            <a:pPr indent="0" marL="0">
              <a:buNone/>
            </a:pPr>
            <a:r>
              <a:rPr lang="en-US" sz="1350" b="1" dirty="0">
                <a:solidFill>
                  <a:srgbClr val="1B4332"/>
                </a:solidFill>
                <a:latin typeface="Meiryo" pitchFamily="34" charset="0"/>
                <a:ea typeface="Meiryo" pitchFamily="34" charset="-122"/>
                <a:cs typeface="Meiryo" pitchFamily="34" charset="-120"/>
              </a:rPr>
              <a:t>復活する枠は簿価の分だけ</a:t>
            </a:r>
            <a:endParaRPr lang="en-US" sz="1350" dirty="0"/>
          </a:p>
        </p:txBody>
      </p:sp>
      <p:sp>
        <p:nvSpPr>
          <p:cNvPr id="11" name="Text 9"/>
          <p:cNvSpPr/>
          <p:nvPr/>
        </p:nvSpPr>
        <p:spPr>
          <a:xfrm>
            <a:off x="731520" y="3511296"/>
            <a:ext cx="3429000" cy="749808"/>
          </a:xfrm>
          <a:prstGeom prst="rect">
            <a:avLst/>
          </a:prstGeom>
          <a:noFill/>
          <a:ln/>
        </p:spPr>
        <p:txBody>
          <a:bodyPr wrap="square" lIns="0" tIns="0" rIns="0" bIns="0" rtlCol="0" anchor="t"/>
          <a:lstStyle/>
          <a:p>
            <a:pPr indent="0" marL="0">
              <a:lnSpc>
                <a:spcPct val="125000"/>
              </a:lnSpc>
              <a:buNone/>
            </a:pPr>
            <a:r>
              <a:rPr lang="en-US" sz="1100" dirty="0">
                <a:solidFill>
                  <a:srgbClr val="5F7168"/>
                </a:solidFill>
                <a:latin typeface="Meiryo" pitchFamily="34" charset="0"/>
                <a:ea typeface="Meiryo" pitchFamily="34" charset="-122"/>
                <a:cs typeface="Meiryo" pitchFamily="34" charset="-120"/>
              </a:rPr>
              <a:t>値上がりして売っても、戻ってくるのは買ったときの値段の分。増えた分の枠は戻りません。</a:t>
            </a:r>
            <a:endParaRPr lang="en-US" sz="1100" dirty="0"/>
          </a:p>
        </p:txBody>
      </p:sp>
      <p:sp>
        <p:nvSpPr>
          <p:cNvPr id="12" name="Shape 10"/>
          <p:cNvSpPr/>
          <p:nvPr/>
        </p:nvSpPr>
        <p:spPr>
          <a:xfrm>
            <a:off x="4709160" y="2852928"/>
            <a:ext cx="3977640" cy="1536192"/>
          </a:xfrm>
          <a:prstGeom prst="roundRect">
            <a:avLst>
              <a:gd name="adj" fmla="val 3571"/>
            </a:avLst>
          </a:prstGeom>
          <a:solidFill>
            <a:srgbClr val="EDF6F0"/>
          </a:solidFill>
          <a:ln w="12700">
            <a:solidFill>
              <a:srgbClr val="EDF6F0"/>
            </a:solidFill>
            <a:prstDash val="solid"/>
          </a:ln>
          <a:effectLst>
            <a:outerShdw sx="100000" sy="100000" kx="0" ky="0" algn="bl" rotWithShape="0" blurRad="101600" dist="25400" dir="5400000">
              <a:srgbClr val="1B4332">
                <a:alpha val="12000"/>
              </a:srgbClr>
            </a:outerShdw>
          </a:effectLst>
        </p:spPr>
      </p:sp>
      <p:sp>
        <p:nvSpPr>
          <p:cNvPr id="13" name="Text 11"/>
          <p:cNvSpPr/>
          <p:nvPr/>
        </p:nvSpPr>
        <p:spPr>
          <a:xfrm>
            <a:off x="4983480" y="3035808"/>
            <a:ext cx="3429000" cy="457200"/>
          </a:xfrm>
          <a:prstGeom prst="rect">
            <a:avLst/>
          </a:prstGeom>
          <a:noFill/>
          <a:ln/>
        </p:spPr>
        <p:txBody>
          <a:bodyPr wrap="square" lIns="0" tIns="0" rIns="0" bIns="0" rtlCol="0" anchor="t"/>
          <a:lstStyle/>
          <a:p>
            <a:pPr indent="0" marL="0">
              <a:buNone/>
            </a:pPr>
            <a:r>
              <a:rPr lang="en-US" sz="1350" b="1" dirty="0">
                <a:solidFill>
                  <a:srgbClr val="1B4332"/>
                </a:solidFill>
                <a:latin typeface="Meiryo" pitchFamily="34" charset="0"/>
                <a:ea typeface="Meiryo" pitchFamily="34" charset="-122"/>
                <a:cs typeface="Meiryo" pitchFamily="34" charset="-120"/>
              </a:rPr>
              <a:t>成長投資枠には対象外の商品がある</a:t>
            </a:r>
            <a:endParaRPr lang="en-US" sz="1350" dirty="0"/>
          </a:p>
        </p:txBody>
      </p:sp>
      <p:sp>
        <p:nvSpPr>
          <p:cNvPr id="14" name="Text 12"/>
          <p:cNvSpPr/>
          <p:nvPr/>
        </p:nvSpPr>
        <p:spPr>
          <a:xfrm>
            <a:off x="4983480" y="3511296"/>
            <a:ext cx="3429000" cy="749808"/>
          </a:xfrm>
          <a:prstGeom prst="rect">
            <a:avLst/>
          </a:prstGeom>
          <a:noFill/>
          <a:ln/>
        </p:spPr>
        <p:txBody>
          <a:bodyPr wrap="square" lIns="0" tIns="0" rIns="0" bIns="0" rtlCol="0" anchor="t"/>
          <a:lstStyle/>
          <a:p>
            <a:pPr indent="0" marL="0">
              <a:lnSpc>
                <a:spcPct val="125000"/>
              </a:lnSpc>
              <a:buNone/>
            </a:pPr>
            <a:r>
              <a:rPr lang="en-US" sz="1100" dirty="0">
                <a:solidFill>
                  <a:srgbClr val="5F7168"/>
                </a:solidFill>
                <a:latin typeface="Meiryo" pitchFamily="34" charset="0"/>
                <a:ea typeface="Meiryo" pitchFamily="34" charset="-122"/>
                <a:cs typeface="Meiryo" pitchFamily="34" charset="-120"/>
              </a:rPr>
              <a:t>整理・監理銘柄、信託期間20年未満、毎月分配型、デリバティブを用いた一定の投資信託などは除かれています。</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7498080" y="-822960"/>
            <a:ext cx="2651760" cy="2651760"/>
          </a:xfrm>
          <a:prstGeom prst="ellipse">
            <a:avLst/>
          </a:prstGeom>
          <a:solidFill>
            <a:srgbClr val="2D6A4F"/>
          </a:solidFill>
          <a:ln w="12700">
            <a:solidFill>
              <a:srgbClr val="2D6A4F"/>
            </a:solidFill>
            <a:prstDash val="solid"/>
          </a:ln>
        </p:spPr>
      </p:sp>
      <p:sp>
        <p:nvSpPr>
          <p:cNvPr id="3" name="Text 1"/>
          <p:cNvSpPr/>
          <p:nvPr/>
        </p:nvSpPr>
        <p:spPr>
          <a:xfrm>
            <a:off x="457200" y="292608"/>
            <a:ext cx="8229600" cy="658368"/>
          </a:xfrm>
          <a:prstGeom prst="rect">
            <a:avLst/>
          </a:prstGeom>
          <a:noFill/>
          <a:ln/>
        </p:spPr>
        <p:txBody>
          <a:bodyPr wrap="square" lIns="0" tIns="0" rIns="0" bIns="0" rtlCol="0" anchor="ctr"/>
          <a:lstStyle/>
          <a:p>
            <a:pPr indent="0" marL="0">
              <a:buNone/>
            </a:pPr>
            <a:r>
              <a:rPr lang="en-US" sz="3200" b="1" dirty="0">
                <a:solidFill>
                  <a:srgbClr val="FFFFFF"/>
                </a:solidFill>
                <a:latin typeface="Meiryo" pitchFamily="34" charset="0"/>
                <a:ea typeface="Meiryo" pitchFamily="34" charset="-122"/>
                <a:cs typeface="Meiryo" pitchFamily="34" charset="-120"/>
              </a:rPr>
              <a:t>まとめ</a:t>
            </a:r>
            <a:endParaRPr lang="en-US" sz="3200" dirty="0"/>
          </a:p>
        </p:txBody>
      </p:sp>
      <p:sp>
        <p:nvSpPr>
          <p:cNvPr id="4" name="Shape 2"/>
          <p:cNvSpPr/>
          <p:nvPr/>
        </p:nvSpPr>
        <p:spPr>
          <a:xfrm>
            <a:off x="502920" y="1389888"/>
            <a:ext cx="182880" cy="182880"/>
          </a:xfrm>
          <a:prstGeom prst="ellipse">
            <a:avLst/>
          </a:prstGeom>
          <a:solidFill>
            <a:srgbClr val="E9C46A"/>
          </a:solidFill>
          <a:ln w="12700">
            <a:solidFill>
              <a:srgbClr val="E9C46A"/>
            </a:solidFill>
            <a:prstDash val="solid"/>
          </a:ln>
        </p:spPr>
      </p:sp>
      <p:sp>
        <p:nvSpPr>
          <p:cNvPr id="5" name="Text 3"/>
          <p:cNvSpPr/>
          <p:nvPr/>
        </p:nvSpPr>
        <p:spPr>
          <a:xfrm>
            <a:off x="914400" y="1298448"/>
            <a:ext cx="7680960" cy="411480"/>
          </a:xfrm>
          <a:prstGeom prst="rect">
            <a:avLst/>
          </a:prstGeom>
          <a:noFill/>
          <a:ln/>
        </p:spPr>
        <p:txBody>
          <a:bodyPr wrap="square" lIns="0" tIns="0" rIns="0" bIns="0" rtlCol="0" anchor="ctr"/>
          <a:lstStyle/>
          <a:p>
            <a:pPr indent="0" marL="0">
              <a:buNone/>
            </a:pPr>
            <a:r>
              <a:rPr lang="en-US" sz="1500" dirty="0">
                <a:solidFill>
                  <a:srgbClr val="FFFFFF"/>
                </a:solidFill>
                <a:latin typeface="Meiryo" pitchFamily="34" charset="0"/>
                <a:ea typeface="Meiryo" pitchFamily="34" charset="-122"/>
                <a:cs typeface="Meiryo" pitchFamily="34" charset="-120"/>
              </a:rPr>
              <a:t>年間360万円・生涯1,800万円まで、運用益に税金がかからない</a:t>
            </a:r>
            <a:endParaRPr lang="en-US" sz="1500" dirty="0"/>
          </a:p>
        </p:txBody>
      </p:sp>
      <p:sp>
        <p:nvSpPr>
          <p:cNvPr id="6" name="Shape 4"/>
          <p:cNvSpPr/>
          <p:nvPr/>
        </p:nvSpPr>
        <p:spPr>
          <a:xfrm>
            <a:off x="502920" y="2048256"/>
            <a:ext cx="182880" cy="182880"/>
          </a:xfrm>
          <a:prstGeom prst="ellipse">
            <a:avLst/>
          </a:prstGeom>
          <a:solidFill>
            <a:srgbClr val="E9C46A"/>
          </a:solidFill>
          <a:ln w="12700">
            <a:solidFill>
              <a:srgbClr val="E9C46A"/>
            </a:solidFill>
            <a:prstDash val="solid"/>
          </a:ln>
        </p:spPr>
      </p:sp>
      <p:sp>
        <p:nvSpPr>
          <p:cNvPr id="7" name="Text 5"/>
          <p:cNvSpPr/>
          <p:nvPr/>
        </p:nvSpPr>
        <p:spPr>
          <a:xfrm>
            <a:off x="914400" y="1956816"/>
            <a:ext cx="7680960" cy="411480"/>
          </a:xfrm>
          <a:prstGeom prst="rect">
            <a:avLst/>
          </a:prstGeom>
          <a:noFill/>
          <a:ln/>
        </p:spPr>
        <p:txBody>
          <a:bodyPr wrap="square" lIns="0" tIns="0" rIns="0" bIns="0" rtlCol="0" anchor="ctr"/>
          <a:lstStyle/>
          <a:p>
            <a:pPr indent="0" marL="0">
              <a:buNone/>
            </a:pPr>
            <a:r>
              <a:rPr lang="en-US" sz="1500" dirty="0">
                <a:solidFill>
                  <a:srgbClr val="FFFFFF"/>
                </a:solidFill>
                <a:latin typeface="Meiryo" pitchFamily="34" charset="0"/>
                <a:ea typeface="Meiryo" pitchFamily="34" charset="-122"/>
                <a:cs typeface="Meiryo" pitchFamily="34" charset="-120"/>
              </a:rPr>
              <a:t>非課税期間は無期限、口座開設期間も恒久化された</a:t>
            </a:r>
            <a:endParaRPr lang="en-US" sz="1500" dirty="0"/>
          </a:p>
        </p:txBody>
      </p:sp>
      <p:sp>
        <p:nvSpPr>
          <p:cNvPr id="8" name="Shape 6"/>
          <p:cNvSpPr/>
          <p:nvPr/>
        </p:nvSpPr>
        <p:spPr>
          <a:xfrm>
            <a:off x="502920" y="2706624"/>
            <a:ext cx="182880" cy="182880"/>
          </a:xfrm>
          <a:prstGeom prst="ellipse">
            <a:avLst/>
          </a:prstGeom>
          <a:solidFill>
            <a:srgbClr val="E9C46A"/>
          </a:solidFill>
          <a:ln w="12700">
            <a:solidFill>
              <a:srgbClr val="E9C46A"/>
            </a:solidFill>
            <a:prstDash val="solid"/>
          </a:ln>
        </p:spPr>
      </p:sp>
      <p:sp>
        <p:nvSpPr>
          <p:cNvPr id="9" name="Text 7"/>
          <p:cNvSpPr/>
          <p:nvPr/>
        </p:nvSpPr>
        <p:spPr>
          <a:xfrm>
            <a:off x="914400" y="2615184"/>
            <a:ext cx="7680960" cy="411480"/>
          </a:xfrm>
          <a:prstGeom prst="rect">
            <a:avLst/>
          </a:prstGeom>
          <a:noFill/>
          <a:ln/>
        </p:spPr>
        <p:txBody>
          <a:bodyPr wrap="square" lIns="0" tIns="0" rIns="0" bIns="0" rtlCol="0" anchor="ctr"/>
          <a:lstStyle/>
          <a:p>
            <a:pPr indent="0" marL="0">
              <a:buNone/>
            </a:pPr>
            <a:r>
              <a:rPr lang="en-US" sz="1500" dirty="0">
                <a:solidFill>
                  <a:srgbClr val="FFFFFF"/>
                </a:solidFill>
                <a:latin typeface="Meiryo" pitchFamily="34" charset="0"/>
                <a:ea typeface="Meiryo" pitchFamily="34" charset="-122"/>
                <a:cs typeface="Meiryo" pitchFamily="34" charset="-120"/>
              </a:rPr>
              <a:t>つみたて投資枠と成長投資枠は併用でき、枠は売却すれば戻る</a:t>
            </a:r>
            <a:endParaRPr lang="en-US" sz="1500" dirty="0"/>
          </a:p>
        </p:txBody>
      </p:sp>
      <p:sp>
        <p:nvSpPr>
          <p:cNvPr id="10" name="Shape 8"/>
          <p:cNvSpPr/>
          <p:nvPr/>
        </p:nvSpPr>
        <p:spPr>
          <a:xfrm>
            <a:off x="502920" y="3364992"/>
            <a:ext cx="182880" cy="182880"/>
          </a:xfrm>
          <a:prstGeom prst="ellipse">
            <a:avLst/>
          </a:prstGeom>
          <a:solidFill>
            <a:srgbClr val="E9C46A"/>
          </a:solidFill>
          <a:ln w="12700">
            <a:solidFill>
              <a:srgbClr val="E9C46A"/>
            </a:solidFill>
            <a:prstDash val="solid"/>
          </a:ln>
        </p:spPr>
      </p:sp>
      <p:sp>
        <p:nvSpPr>
          <p:cNvPr id="11" name="Text 9"/>
          <p:cNvSpPr/>
          <p:nvPr/>
        </p:nvSpPr>
        <p:spPr>
          <a:xfrm>
            <a:off x="914400" y="3273552"/>
            <a:ext cx="7680960" cy="411480"/>
          </a:xfrm>
          <a:prstGeom prst="rect">
            <a:avLst/>
          </a:prstGeom>
          <a:noFill/>
          <a:ln/>
        </p:spPr>
        <p:txBody>
          <a:bodyPr wrap="square" lIns="0" tIns="0" rIns="0" bIns="0" rtlCol="0" anchor="ctr"/>
          <a:lstStyle/>
          <a:p>
            <a:pPr indent="0" marL="0">
              <a:buNone/>
            </a:pPr>
            <a:r>
              <a:rPr lang="en-US" sz="1500" dirty="0">
                <a:solidFill>
                  <a:srgbClr val="FFFFFF"/>
                </a:solidFill>
                <a:latin typeface="Meiryo" pitchFamily="34" charset="0"/>
                <a:ea typeface="Meiryo" pitchFamily="34" charset="-122"/>
                <a:cs typeface="Meiryo" pitchFamily="34" charset="-120"/>
              </a:rPr>
              <a:t>2027年1月からこどもNISAが加わり、枠の復活も当年中に早まる</a:t>
            </a:r>
            <a:endParaRPr lang="en-US" sz="1500" dirty="0"/>
          </a:p>
        </p:txBody>
      </p:sp>
      <p:sp>
        <p:nvSpPr>
          <p:cNvPr id="12" name="Text 10"/>
          <p:cNvSpPr/>
          <p:nvPr/>
        </p:nvSpPr>
        <p:spPr>
          <a:xfrm>
            <a:off x="502920" y="4114800"/>
            <a:ext cx="8138160" cy="365760"/>
          </a:xfrm>
          <a:prstGeom prst="rect">
            <a:avLst/>
          </a:prstGeom>
          <a:noFill/>
          <a:ln/>
        </p:spPr>
        <p:txBody>
          <a:bodyPr wrap="square" lIns="0" tIns="0" rIns="0" bIns="0" rtlCol="0" anchor="ctr"/>
          <a:lstStyle/>
          <a:p>
            <a:pPr indent="0" marL="0">
              <a:buNone/>
            </a:pPr>
            <a:r>
              <a:rPr lang="en-US" sz="1200" i="1" dirty="0">
                <a:solidFill>
                  <a:srgbClr val="E9C46A"/>
                </a:solidFill>
                <a:latin typeface="Meiryo" pitchFamily="34" charset="0"/>
                <a:ea typeface="Meiryo" pitchFamily="34" charset="-122"/>
                <a:cs typeface="Meiryo" pitchFamily="34" charset="-120"/>
              </a:rPr>
              <a:t>制度はあくまで「箱」です。中に何を入れるか、いくらなら続けられるかは別の話。</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92608"/>
            <a:ext cx="8229600" cy="658368"/>
          </a:xfrm>
          <a:prstGeom prst="rect">
            <a:avLst/>
          </a:prstGeom>
          <a:noFill/>
          <a:ln/>
        </p:spPr>
        <p:txBody>
          <a:bodyPr wrap="square" lIns="0" tIns="0" rIns="0" bIns="0" rtlCol="0" anchor="ctr"/>
          <a:lstStyle/>
          <a:p>
            <a:pPr indent="0" marL="0">
              <a:buNone/>
            </a:pPr>
            <a:r>
              <a:rPr lang="en-US" sz="3200" b="1" dirty="0">
                <a:solidFill>
                  <a:srgbClr val="1F2A24"/>
                </a:solidFill>
                <a:latin typeface="Meiryo" pitchFamily="34" charset="0"/>
                <a:ea typeface="Meiryo" pitchFamily="34" charset="-122"/>
                <a:cs typeface="Meiryo" pitchFamily="34" charset="-120"/>
              </a:rPr>
              <a:t>出典</a:t>
            </a:r>
            <a:endParaRPr lang="en-US" sz="3200" dirty="0"/>
          </a:p>
        </p:txBody>
      </p:sp>
      <p:sp>
        <p:nvSpPr>
          <p:cNvPr id="3" name="Shape 1"/>
          <p:cNvSpPr/>
          <p:nvPr/>
        </p:nvSpPr>
        <p:spPr>
          <a:xfrm>
            <a:off x="502920" y="1289304"/>
            <a:ext cx="128016" cy="128016"/>
          </a:xfrm>
          <a:prstGeom prst="ellipse">
            <a:avLst/>
          </a:prstGeom>
          <a:solidFill>
            <a:srgbClr val="E9C46A"/>
          </a:solidFill>
          <a:ln w="12700">
            <a:solidFill>
              <a:srgbClr val="E9C46A"/>
            </a:solidFill>
            <a:prstDash val="solid"/>
          </a:ln>
        </p:spPr>
      </p:sp>
      <p:sp>
        <p:nvSpPr>
          <p:cNvPr id="4" name="Text 2"/>
          <p:cNvSpPr/>
          <p:nvPr/>
        </p:nvSpPr>
        <p:spPr>
          <a:xfrm>
            <a:off x="841248" y="1188720"/>
            <a:ext cx="7772400" cy="347472"/>
          </a:xfrm>
          <a:prstGeom prst="rect">
            <a:avLst/>
          </a:prstGeom>
          <a:noFill/>
          <a:ln/>
        </p:spPr>
        <p:txBody>
          <a:bodyPr wrap="square" lIns="0" tIns="0" rIns="0" bIns="0" rtlCol="0" anchor="ctr"/>
          <a:lstStyle/>
          <a:p>
            <a:pPr indent="0" marL="0">
              <a:buNone/>
            </a:pPr>
            <a:r>
              <a:rPr lang="en-US" sz="1150" dirty="0">
                <a:solidFill>
                  <a:srgbClr val="1F2A24"/>
                </a:solidFill>
                <a:latin typeface="Meiryo" pitchFamily="34" charset="0"/>
                <a:ea typeface="Meiryo" pitchFamily="34" charset="-122"/>
                <a:cs typeface="Meiryo" pitchFamily="34" charset="-120"/>
              </a:rPr>
              <a:t>金融庁「つみたて投資枠対象商品」　fsa.go.jp/policy/nisa2/products/</a:t>
            </a:r>
            <a:endParaRPr lang="en-US" sz="1150" dirty="0"/>
          </a:p>
        </p:txBody>
      </p:sp>
      <p:sp>
        <p:nvSpPr>
          <p:cNvPr id="5" name="Shape 3"/>
          <p:cNvSpPr/>
          <p:nvPr/>
        </p:nvSpPr>
        <p:spPr>
          <a:xfrm>
            <a:off x="502920" y="1691640"/>
            <a:ext cx="128016" cy="128016"/>
          </a:xfrm>
          <a:prstGeom prst="ellipse">
            <a:avLst/>
          </a:prstGeom>
          <a:solidFill>
            <a:srgbClr val="E9C46A"/>
          </a:solidFill>
          <a:ln w="12700">
            <a:solidFill>
              <a:srgbClr val="E9C46A"/>
            </a:solidFill>
            <a:prstDash val="solid"/>
          </a:ln>
        </p:spPr>
      </p:sp>
      <p:sp>
        <p:nvSpPr>
          <p:cNvPr id="6" name="Text 4"/>
          <p:cNvSpPr/>
          <p:nvPr/>
        </p:nvSpPr>
        <p:spPr>
          <a:xfrm>
            <a:off x="841248" y="1591056"/>
            <a:ext cx="7772400" cy="347472"/>
          </a:xfrm>
          <a:prstGeom prst="rect">
            <a:avLst/>
          </a:prstGeom>
          <a:noFill/>
          <a:ln/>
        </p:spPr>
        <p:txBody>
          <a:bodyPr wrap="square" lIns="0" tIns="0" rIns="0" bIns="0" rtlCol="0" anchor="ctr"/>
          <a:lstStyle/>
          <a:p>
            <a:pPr indent="0" marL="0">
              <a:buNone/>
            </a:pPr>
            <a:r>
              <a:rPr lang="en-US" sz="1150" dirty="0">
                <a:solidFill>
                  <a:srgbClr val="1F2A24"/>
                </a:solidFill>
                <a:latin typeface="Meiryo" pitchFamily="34" charset="0"/>
                <a:ea typeface="Meiryo" pitchFamily="34" charset="-122"/>
                <a:cs typeface="Meiryo" pitchFamily="34" charset="-120"/>
              </a:rPr>
              <a:t>金融庁「令和8年度税制改正について」（2025年12月）　fsa.go.jp/news/r7/sonota/20251226-2/01.pdf</a:t>
            </a:r>
            <a:endParaRPr lang="en-US" sz="1150" dirty="0"/>
          </a:p>
        </p:txBody>
      </p:sp>
      <p:sp>
        <p:nvSpPr>
          <p:cNvPr id="7" name="Shape 5"/>
          <p:cNvSpPr/>
          <p:nvPr/>
        </p:nvSpPr>
        <p:spPr>
          <a:xfrm>
            <a:off x="502920" y="2093976"/>
            <a:ext cx="128016" cy="128016"/>
          </a:xfrm>
          <a:prstGeom prst="ellipse">
            <a:avLst/>
          </a:prstGeom>
          <a:solidFill>
            <a:srgbClr val="E9C46A"/>
          </a:solidFill>
          <a:ln w="12700">
            <a:solidFill>
              <a:srgbClr val="E9C46A"/>
            </a:solidFill>
            <a:prstDash val="solid"/>
          </a:ln>
        </p:spPr>
      </p:sp>
      <p:sp>
        <p:nvSpPr>
          <p:cNvPr id="8" name="Text 6"/>
          <p:cNvSpPr/>
          <p:nvPr/>
        </p:nvSpPr>
        <p:spPr>
          <a:xfrm>
            <a:off x="841248" y="1993392"/>
            <a:ext cx="7772400" cy="347472"/>
          </a:xfrm>
          <a:prstGeom prst="rect">
            <a:avLst/>
          </a:prstGeom>
          <a:noFill/>
          <a:ln/>
        </p:spPr>
        <p:txBody>
          <a:bodyPr wrap="square" lIns="0" tIns="0" rIns="0" bIns="0" rtlCol="0" anchor="ctr"/>
          <a:lstStyle/>
          <a:p>
            <a:pPr indent="0" marL="0">
              <a:buNone/>
            </a:pPr>
            <a:r>
              <a:rPr lang="en-US" sz="1150" dirty="0">
                <a:solidFill>
                  <a:srgbClr val="1F2A24"/>
                </a:solidFill>
                <a:latin typeface="Meiryo" pitchFamily="34" charset="0"/>
                <a:ea typeface="Meiryo" pitchFamily="34" charset="-122"/>
                <a:cs typeface="Meiryo" pitchFamily="34" charset="-120"/>
              </a:rPr>
              <a:t>国税庁 タックスアンサー No.1535「NISA制度」　nta.go.jp/taxes/shiraberu/taxanswer/shotoku/1535.htm</a:t>
            </a:r>
            <a:endParaRPr lang="en-US" sz="1150" dirty="0"/>
          </a:p>
        </p:txBody>
      </p:sp>
      <p:sp>
        <p:nvSpPr>
          <p:cNvPr id="9" name="Shape 7"/>
          <p:cNvSpPr/>
          <p:nvPr/>
        </p:nvSpPr>
        <p:spPr>
          <a:xfrm>
            <a:off x="502920" y="2496312"/>
            <a:ext cx="128016" cy="128016"/>
          </a:xfrm>
          <a:prstGeom prst="ellipse">
            <a:avLst/>
          </a:prstGeom>
          <a:solidFill>
            <a:srgbClr val="E9C46A"/>
          </a:solidFill>
          <a:ln w="12700">
            <a:solidFill>
              <a:srgbClr val="E9C46A"/>
            </a:solidFill>
            <a:prstDash val="solid"/>
          </a:ln>
        </p:spPr>
      </p:sp>
      <p:sp>
        <p:nvSpPr>
          <p:cNvPr id="10" name="Text 8"/>
          <p:cNvSpPr/>
          <p:nvPr/>
        </p:nvSpPr>
        <p:spPr>
          <a:xfrm>
            <a:off x="841248" y="2395728"/>
            <a:ext cx="7772400" cy="347472"/>
          </a:xfrm>
          <a:prstGeom prst="rect">
            <a:avLst/>
          </a:prstGeom>
          <a:noFill/>
          <a:ln/>
        </p:spPr>
        <p:txBody>
          <a:bodyPr wrap="square" lIns="0" tIns="0" rIns="0" bIns="0" rtlCol="0" anchor="ctr"/>
          <a:lstStyle/>
          <a:p>
            <a:pPr indent="0" marL="0">
              <a:buNone/>
            </a:pPr>
            <a:r>
              <a:rPr lang="en-US" sz="1150" dirty="0">
                <a:solidFill>
                  <a:srgbClr val="1F2A24"/>
                </a:solidFill>
                <a:latin typeface="Meiryo" pitchFamily="34" charset="0"/>
                <a:ea typeface="Meiryo" pitchFamily="34" charset="-122"/>
                <a:cs typeface="Meiryo" pitchFamily="34" charset="-120"/>
              </a:rPr>
              <a:t>大和総研「2027年1月開始『こどもNISA』の概要」（2026年5月26日）</a:t>
            </a:r>
            <a:endParaRPr lang="en-US" sz="1150" dirty="0"/>
          </a:p>
        </p:txBody>
      </p:sp>
      <p:sp>
        <p:nvSpPr>
          <p:cNvPr id="11" name="Shape 9"/>
          <p:cNvSpPr/>
          <p:nvPr/>
        </p:nvSpPr>
        <p:spPr>
          <a:xfrm>
            <a:off x="502920" y="2898648"/>
            <a:ext cx="128016" cy="128016"/>
          </a:xfrm>
          <a:prstGeom prst="ellipse">
            <a:avLst/>
          </a:prstGeom>
          <a:solidFill>
            <a:srgbClr val="E9C46A"/>
          </a:solidFill>
          <a:ln w="12700">
            <a:solidFill>
              <a:srgbClr val="E9C46A"/>
            </a:solidFill>
            <a:prstDash val="solid"/>
          </a:ln>
        </p:spPr>
      </p:sp>
      <p:sp>
        <p:nvSpPr>
          <p:cNvPr id="12" name="Text 10"/>
          <p:cNvSpPr/>
          <p:nvPr/>
        </p:nvSpPr>
        <p:spPr>
          <a:xfrm>
            <a:off x="841248" y="2798064"/>
            <a:ext cx="7772400" cy="347472"/>
          </a:xfrm>
          <a:prstGeom prst="rect">
            <a:avLst/>
          </a:prstGeom>
          <a:noFill/>
          <a:ln/>
        </p:spPr>
        <p:txBody>
          <a:bodyPr wrap="square" lIns="0" tIns="0" rIns="0" bIns="0" rtlCol="0" anchor="ctr"/>
          <a:lstStyle/>
          <a:p>
            <a:pPr indent="0" marL="0">
              <a:buNone/>
            </a:pPr>
            <a:r>
              <a:rPr lang="en-US" sz="1150" dirty="0">
                <a:solidFill>
                  <a:srgbClr val="1F2A24"/>
                </a:solidFill>
                <a:latin typeface="Meiryo" pitchFamily="34" charset="0"/>
                <a:ea typeface="Meiryo" pitchFamily="34" charset="-122"/>
                <a:cs typeface="Meiryo" pitchFamily="34" charset="-120"/>
              </a:rPr>
              <a:t>日本経済新聞「NISAつみたて枠、18歳未満は600万円上限 12歳で引き出し可能」</a:t>
            </a:r>
            <a:endParaRPr lang="en-US" sz="1150" dirty="0"/>
          </a:p>
        </p:txBody>
      </p:sp>
      <p:sp>
        <p:nvSpPr>
          <p:cNvPr id="13" name="Shape 11"/>
          <p:cNvSpPr/>
          <p:nvPr/>
        </p:nvSpPr>
        <p:spPr>
          <a:xfrm>
            <a:off x="502920" y="3300984"/>
            <a:ext cx="128016" cy="128016"/>
          </a:xfrm>
          <a:prstGeom prst="ellipse">
            <a:avLst/>
          </a:prstGeom>
          <a:solidFill>
            <a:srgbClr val="E9C46A"/>
          </a:solidFill>
          <a:ln w="12700">
            <a:solidFill>
              <a:srgbClr val="E9C46A"/>
            </a:solidFill>
            <a:prstDash val="solid"/>
          </a:ln>
        </p:spPr>
      </p:sp>
      <p:sp>
        <p:nvSpPr>
          <p:cNvPr id="14" name="Text 12"/>
          <p:cNvSpPr/>
          <p:nvPr/>
        </p:nvSpPr>
        <p:spPr>
          <a:xfrm>
            <a:off x="841248" y="3200400"/>
            <a:ext cx="7772400" cy="347472"/>
          </a:xfrm>
          <a:prstGeom prst="rect">
            <a:avLst/>
          </a:prstGeom>
          <a:noFill/>
          <a:ln/>
        </p:spPr>
        <p:txBody>
          <a:bodyPr wrap="square" lIns="0" tIns="0" rIns="0" bIns="0" rtlCol="0" anchor="ctr"/>
          <a:lstStyle/>
          <a:p>
            <a:pPr indent="0" marL="0">
              <a:buNone/>
            </a:pPr>
            <a:r>
              <a:rPr lang="en-US" sz="1150" dirty="0">
                <a:solidFill>
                  <a:srgbClr val="1F2A24"/>
                </a:solidFill>
                <a:latin typeface="Meiryo" pitchFamily="34" charset="0"/>
                <a:ea typeface="Meiryo" pitchFamily="34" charset="-122"/>
                <a:cs typeface="Meiryo" pitchFamily="34" charset="-120"/>
              </a:rPr>
              <a:t>楽天証券・松井証券・SBI証券・野村證券 各NISA解説ページ（2026年7月26日閲覧）</a:t>
            </a:r>
            <a:endParaRPr lang="en-US" sz="1150" dirty="0"/>
          </a:p>
        </p:txBody>
      </p:sp>
      <p:sp>
        <p:nvSpPr>
          <p:cNvPr id="15" name="Shape 13"/>
          <p:cNvSpPr/>
          <p:nvPr/>
        </p:nvSpPr>
        <p:spPr>
          <a:xfrm>
            <a:off x="457200" y="3794760"/>
            <a:ext cx="8229600" cy="914400"/>
          </a:xfrm>
          <a:prstGeom prst="roundRect">
            <a:avLst>
              <a:gd name="adj" fmla="val 6000"/>
            </a:avLst>
          </a:prstGeom>
          <a:solidFill>
            <a:srgbClr val="EDF6F0"/>
          </a:solidFill>
          <a:ln w="12700">
            <a:solidFill>
              <a:srgbClr val="EDF6F0"/>
            </a:solidFill>
            <a:prstDash val="solid"/>
          </a:ln>
          <a:effectLst>
            <a:outerShdw sx="100000" sy="100000" kx="0" ky="0" algn="bl" rotWithShape="0" blurRad="101600" dist="25400" dir="5400000">
              <a:srgbClr val="1B4332">
                <a:alpha val="12000"/>
              </a:srgbClr>
            </a:outerShdw>
          </a:effectLst>
        </p:spPr>
      </p:sp>
      <p:sp>
        <p:nvSpPr>
          <p:cNvPr id="16" name="Text 14"/>
          <p:cNvSpPr/>
          <p:nvPr/>
        </p:nvSpPr>
        <p:spPr>
          <a:xfrm>
            <a:off x="731520" y="3931920"/>
            <a:ext cx="7680960" cy="685800"/>
          </a:xfrm>
          <a:prstGeom prst="rect">
            <a:avLst/>
          </a:prstGeom>
          <a:noFill/>
          <a:ln/>
        </p:spPr>
        <p:txBody>
          <a:bodyPr wrap="square" lIns="0" tIns="0" rIns="0" bIns="0" rtlCol="0" anchor="t"/>
          <a:lstStyle/>
          <a:p>
            <a:pPr indent="0" marL="0">
              <a:lnSpc>
                <a:spcPct val="125000"/>
              </a:lnSpc>
              <a:buNone/>
            </a:pPr>
            <a:r>
              <a:rPr lang="en-US" sz="1100" b="1" dirty="0">
                <a:solidFill>
                  <a:srgbClr val="1B4332"/>
                </a:solidFill>
                <a:latin typeface="Meiryo" pitchFamily="34" charset="0"/>
                <a:ea typeface="Meiryo" pitchFamily="34" charset="-122"/>
                <a:cs typeface="Meiryo" pitchFamily="34" charset="-120"/>
              </a:rPr>
              <a:t>確認方法について　</a:t>
            </a:r>
            <a:pPr indent="0" marL="0">
              <a:lnSpc>
                <a:spcPct val="125000"/>
              </a:lnSpc>
              <a:buNone/>
            </a:pPr>
            <a:r>
              <a:rPr lang="en-US" sz="1100" dirty="0">
                <a:solidFill>
                  <a:srgbClr val="5F7168"/>
                </a:solidFill>
                <a:latin typeface="Meiryo" pitchFamily="34" charset="0"/>
                <a:ea typeface="Meiryo" pitchFamily="34" charset="-122"/>
                <a:cs typeface="Meiryo" pitchFamily="34" charset="-120"/>
              </a:rPr>
              <a:t>本資料の作成環境からは金融庁等の一次資料に直接アクセスできなかったため、一次資料の内容を引用した検索結果と、複数の金融機関・シンクタンクの解説を突き合わせて数値を確認しています。重要な判断に使う場合は、金融庁および国税庁の原典をご確認ください。</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新NISA 制度の全体像と2027年改正</dc:title>
  <dc:subject>PptxGenJS Presentation</dc:subject>
  <dc:creator/>
  <cp:lastModifiedBy/>
  <cp:revision>1</cp:revision>
  <dcterms:created xsi:type="dcterms:W3CDTF">2026-07-26T21:00:58Z</dcterms:created>
  <dcterms:modified xsi:type="dcterms:W3CDTF">2026-07-26T21:00:58Z</dcterms:modified>
</cp:coreProperties>
</file>